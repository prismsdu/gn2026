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4" r:id="rId6"/>
    <p:sldId id="261" r:id="rId7"/>
    <p:sldId id="262" r:id="rId8"/>
  </p:sldIdLst>
  <p:sldSz cx="7559675" cy="10691813"/>
  <p:notesSz cx="6886575"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53F"/>
    <a:srgbClr val="BCAD86"/>
    <a:srgbClr val="7068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237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fr-FR"/>
              <a:t>Modifiez le style du titre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DB73227-9A44-4F97-87C1-5BFA9B43B76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426979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B73227-9A44-4F97-87C1-5BFA9B43B76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228123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fr-FR"/>
              <a:t>Modifiez le style du titre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DB73227-9A44-4F97-87C1-5BFA9B43B76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79850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DB73227-9A44-4F97-87C1-5BFA9B43B76A}" type="datetimeFigureOut">
              <a:rPr lang="fr-FR" smtClean="0"/>
              <a:t>27/01/2026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1408225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fr-FR"/>
              <a:t>Modifiez le style du titre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4" name="Content Placeholder 3"/>
          <p:cNvSpPr>
            <a:spLocks noGrp="1"/>
          </p:cNvSpPr>
          <p:nvPr>
            <p:ph sz="half" idx="2"/>
          </p:nvPr>
        </p:nvSpPr>
        <p:spPr>
          <a:xfrm>
            <a:off x="520713" y="3905482"/>
            <a:ext cx="3198096"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6" name="Content Placeholder 5"/>
          <p:cNvSpPr>
            <a:spLocks noGrp="1"/>
          </p:cNvSpPr>
          <p:nvPr>
            <p:ph sz="quarter" idx="4"/>
          </p:nvPr>
        </p:nvSpPr>
        <p:spPr>
          <a:xfrm>
            <a:off x="3827086" y="3905482"/>
            <a:ext cx="3213847"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DB73227-9A44-4F97-87C1-5BFA9B43B76A}" type="datetimeFigureOut">
              <a:rPr lang="fr-FR" smtClean="0"/>
              <a:t>27/01/2026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2839538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DB73227-9A44-4F97-87C1-5BFA9B43B76A}" type="datetimeFigureOut">
              <a:rPr lang="fr-FR" smtClean="0"/>
              <a:t>27/01/2026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3295807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B73227-9A44-4F97-87C1-5BFA9B43B76A}" type="datetimeFigureOut">
              <a:rPr lang="fr-FR" smtClean="0"/>
              <a:t>27/01/2026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117973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DB73227-9A44-4F97-87C1-5BFA9B43B76A}" type="datetimeFigureOut">
              <a:rPr lang="fr-FR" smtClean="0"/>
              <a:t>27/01/2026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71618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fr-FR"/>
              <a:t>Cliquez sur l'icône pour ajouter une image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DB73227-9A44-4F97-87C1-5BFA9B43B76A}" type="datetimeFigureOut">
              <a:rPr lang="fr-FR" smtClean="0"/>
              <a:t>27/01/2026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423406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B73227-9A44-4F97-87C1-5BFA9B43B76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38777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B73227-9A44-4F97-87C1-5BFA9B43B76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0CE2574-42FF-4DDA-837A-5543DAA25CBC}" type="slidenum">
              <a:rPr lang="fr-FR" smtClean="0"/>
              <a:t>‹N°›</a:t>
            </a:fld>
            <a:endParaRPr lang="fr-FR"/>
          </a:p>
        </p:txBody>
      </p:sp>
    </p:spTree>
    <p:extLst>
      <p:ext uri="{BB962C8B-B14F-4D97-AF65-F5344CB8AC3E}">
        <p14:creationId xmlns:p14="http://schemas.microsoft.com/office/powerpoint/2010/main" val="1040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6DB73227-9A44-4F97-87C1-5BFA9B43B76A}" type="datetimeFigureOut">
              <a:rPr lang="fr-FR" smtClean="0"/>
              <a:t>27/01/2026</a:t>
            </a:fld>
            <a:endParaRPr lang="fr-FR"/>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10CE2574-42FF-4DDA-837A-5543DAA25CBC}" type="slidenum">
              <a:rPr lang="fr-FR" smtClean="0"/>
              <a:t>‹N°›</a:t>
            </a:fld>
            <a:endParaRPr lang="fr-FR"/>
          </a:p>
        </p:txBody>
      </p:sp>
    </p:spTree>
    <p:extLst>
      <p:ext uri="{BB962C8B-B14F-4D97-AF65-F5344CB8AC3E}">
        <p14:creationId xmlns:p14="http://schemas.microsoft.com/office/powerpoint/2010/main" val="2564139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3" Type="http://schemas.microsoft.com/office/2007/relationships/hdphoto" Target="../media/hdphoto1.wdp"/><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2.png"/><Relationship Id="rId10" Type="http://schemas.microsoft.com/office/2007/relationships/hdphoto" Target="../media/hdphoto3.wdp"/><Relationship Id="rId4" Type="http://schemas.openxmlformats.org/officeDocument/2006/relationships/hyperlink" Target="https://www.piqsels.com/ko/public-domain-photo-zkmql" TargetMode="Externa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hdphoto" Target="../media/hdphoto1.wdp"/><Relationship Id="rId7" Type="http://schemas.openxmlformats.org/officeDocument/2006/relationships/image" Target="../media/image7.emf"/><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6.png"/><Relationship Id="rId4" Type="http://schemas.openxmlformats.org/officeDocument/2006/relationships/hyperlink" Target="https://www.piqsels.com/ko/public-domain-photo-zkmql" TargetMode="Externa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5.wdp"/><Relationship Id="rId5" Type="http://schemas.openxmlformats.org/officeDocument/2006/relationships/image" Target="../media/image8.png"/><Relationship Id="rId4" Type="http://schemas.openxmlformats.org/officeDocument/2006/relationships/hyperlink" Target="https://www.piqsels.com/ko/public-domain-photo-zkmql" TargetMode="External"/></Relationships>
</file>

<file path=ppt/slides/_rels/slide4.xml.rels><?xml version="1.0" encoding="UTF-8" standalone="yes"?>
<Relationships xmlns="http://schemas.openxmlformats.org/package/2006/relationships"><Relationship Id="rId8" Type="http://schemas.microsoft.com/office/2007/relationships/hdphoto" Target="../media/hdphoto8.wdp"/><Relationship Id="rId3" Type="http://schemas.microsoft.com/office/2007/relationships/hdphoto" Target="../media/hdphoto6.wdp"/><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7.wdp"/><Relationship Id="rId5" Type="http://schemas.openxmlformats.org/officeDocument/2006/relationships/image" Target="../media/image9.png"/><Relationship Id="rId4" Type="http://schemas.openxmlformats.org/officeDocument/2006/relationships/hyperlink" Target="https://www.piqsels.com/ko/public-domain-photo-zkmql" TargetMode="External"/></Relationships>
</file>

<file path=ppt/slides/_rels/slide5.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1.emf"/><Relationship Id="rId4" Type="http://schemas.openxmlformats.org/officeDocument/2006/relationships/hyperlink" Target="https://www.piqsels.com/ko/public-domain-photo-zkmql" TargetMode="External"/></Relationships>
</file>

<file path=ppt/slides/_rels/slide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mailto:dep101mo@gmail.com" TargetMode="External"/><Relationship Id="rId5" Type="http://schemas.openxmlformats.org/officeDocument/2006/relationships/hyperlink" Target="https://www.helloasso.com/associations/celtiana/evenements/inscription-celtiana-2026-1" TargetMode="External"/><Relationship Id="rId4" Type="http://schemas.openxmlformats.org/officeDocument/2006/relationships/hyperlink" Target="https://www.piqsels.com/ko/public-domain-photo-zkmql" TargetMode="External"/></Relationships>
</file>

<file path=ppt/slides/_rels/slide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piqsels.com/ko/public-domain-photo-zkmq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7620000" sx="100000" sy="100000" flip="none" algn="tl"/>
        </a:blipFill>
        <a:effectLst/>
      </p:bgPr>
    </p:bg>
    <p:spTree>
      <p:nvGrpSpPr>
        <p:cNvPr id="1" name=""/>
        <p:cNvGrpSpPr/>
        <p:nvPr/>
      </p:nvGrpSpPr>
      <p:grpSpPr>
        <a:xfrm>
          <a:off x="0" y="0"/>
          <a:ext cx="0" cy="0"/>
          <a:chOff x="0" y="0"/>
          <a:chExt cx="0" cy="0"/>
        </a:xfrm>
      </p:grpSpPr>
      <p:cxnSp>
        <p:nvCxnSpPr>
          <p:cNvPr id="70" name="Connecteur droit 69">
            <a:extLst>
              <a:ext uri="{FF2B5EF4-FFF2-40B4-BE49-F238E27FC236}">
                <a16:creationId xmlns:a16="http://schemas.microsoft.com/office/drawing/2014/main" id="{CA0AC39A-A003-A009-4479-253B284A9A2A}"/>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71" name="Connecteur droit 70">
            <a:extLst>
              <a:ext uri="{FF2B5EF4-FFF2-40B4-BE49-F238E27FC236}">
                <a16:creationId xmlns:a16="http://schemas.microsoft.com/office/drawing/2014/main" id="{BD79839E-136F-1520-BECA-294B18FB9C84}"/>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86BADE0-19A3-EA36-39FB-505A1951EA9D}"/>
              </a:ext>
            </a:extLst>
          </p:cNvPr>
          <p:cNvSpPr txBox="1"/>
          <p:nvPr/>
        </p:nvSpPr>
        <p:spPr>
          <a:xfrm>
            <a:off x="179837" y="-975"/>
            <a:ext cx="7200000" cy="830997"/>
          </a:xfrm>
          <a:prstGeom prst="rect">
            <a:avLst/>
          </a:prstGeom>
          <a:noFill/>
        </p:spPr>
        <p:txBody>
          <a:bodyPr wrap="square" rtlCol="0">
            <a:spAutoFit/>
          </a:bodyPr>
          <a:lstStyle/>
          <a:p>
            <a:pPr algn="ctr"/>
            <a:r>
              <a:rPr lang="fr-FR" sz="4800" spc="-6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9C6A4EB6-5C5E-F6AD-25FF-C18EA64D375B}"/>
              </a:ext>
            </a:extLst>
          </p:cNvPr>
          <p:cNvSpPr txBox="1"/>
          <p:nvPr/>
        </p:nvSpPr>
        <p:spPr>
          <a:xfrm>
            <a:off x="180181" y="1355386"/>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6" name="ZoneTexte 5">
            <a:extLst>
              <a:ext uri="{FF2B5EF4-FFF2-40B4-BE49-F238E27FC236}">
                <a16:creationId xmlns:a16="http://schemas.microsoft.com/office/drawing/2014/main" id="{51A0F59A-BB4C-5CB1-B266-9BF9672B7A1D}"/>
              </a:ext>
            </a:extLst>
          </p:cNvPr>
          <p:cNvSpPr txBox="1"/>
          <p:nvPr/>
        </p:nvSpPr>
        <p:spPr>
          <a:xfrm>
            <a:off x="1620181" y="1355386"/>
            <a:ext cx="432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rPr>
              <a:t> jour du solstice d’été de l’année 547 du IV</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rPr>
              <a:t> âge de </a:t>
            </a:r>
            <a:r>
              <a:rPr lang="fr-FR" sz="1100" dirty="0" err="1">
                <a:solidFill>
                  <a:srgbClr val="4A453F"/>
                </a:solidFill>
                <a:latin typeface="Baskerville Old Face" panose="02020602080505020303" pitchFamily="18" charset="0"/>
              </a:rPr>
              <a:t>Krondaar</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6FB321D0-9EFA-2D54-A847-73C0799FCA04}"/>
              </a:ext>
            </a:extLst>
          </p:cNvPr>
          <p:cNvSpPr txBox="1"/>
          <p:nvPr/>
        </p:nvSpPr>
        <p:spPr>
          <a:xfrm>
            <a:off x="5939494" y="1355386"/>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1 doublon </a:t>
            </a:r>
            <a:endParaRPr lang="fr-FR" dirty="0">
              <a:solidFill>
                <a:srgbClr val="4A453F"/>
              </a:solidFill>
              <a:latin typeface="Baskerville Old Face" panose="02020602080505020303" pitchFamily="18" charset="0"/>
            </a:endParaRPr>
          </a:p>
        </p:txBody>
      </p:sp>
      <p:sp>
        <p:nvSpPr>
          <p:cNvPr id="9" name="ZoneTexte 8">
            <a:extLst>
              <a:ext uri="{FF2B5EF4-FFF2-40B4-BE49-F238E27FC236}">
                <a16:creationId xmlns:a16="http://schemas.microsoft.com/office/drawing/2014/main" id="{31507F7B-6782-E5F4-4174-DEEB011F5647}"/>
              </a:ext>
            </a:extLst>
          </p:cNvPr>
          <p:cNvSpPr txBox="1"/>
          <p:nvPr/>
        </p:nvSpPr>
        <p:spPr>
          <a:xfrm>
            <a:off x="179837" y="719025"/>
            <a:ext cx="7200000" cy="584775"/>
          </a:xfrm>
          <a:prstGeom prst="rect">
            <a:avLst/>
          </a:prstGeom>
          <a:noFill/>
        </p:spPr>
        <p:txBody>
          <a:bodyPr wrap="square">
            <a:spAutoFit/>
          </a:bodyPr>
          <a:lstStyle/>
          <a:p>
            <a:pPr algn="ctr"/>
            <a:r>
              <a:rPr lang="fr-FR" sz="1600" dirty="0">
                <a:solidFill>
                  <a:srgbClr val="4A453F"/>
                </a:solidFill>
                <a:latin typeface="Baskerville Old Face" panose="02020602080505020303" pitchFamily="18" charset="0"/>
              </a:rPr>
              <a:t>Dernières actualités et nouvelles, et potins, et ragots, et cetera</a:t>
            </a:r>
          </a:p>
          <a:p>
            <a:pPr algn="ctr"/>
            <a:r>
              <a:rPr lang="fr-FR" sz="1600" dirty="0">
                <a:solidFill>
                  <a:srgbClr val="4A453F"/>
                </a:solidFill>
                <a:latin typeface="Baskerville Old Face" panose="02020602080505020303" pitchFamily="18" charset="0"/>
              </a:rPr>
              <a:t>de la Confédération des Cités Libres du Levant</a:t>
            </a:r>
          </a:p>
        </p:txBody>
      </p:sp>
      <p:cxnSp>
        <p:nvCxnSpPr>
          <p:cNvPr id="11" name="Connecteur droit 10">
            <a:extLst>
              <a:ext uri="{FF2B5EF4-FFF2-40B4-BE49-F238E27FC236}">
                <a16:creationId xmlns:a16="http://schemas.microsoft.com/office/drawing/2014/main" id="{A36FFCCF-809F-FC92-59C1-13C0F47BCBF9}"/>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7C559AE7-6EBA-24C3-9ACC-B8229850CF26}"/>
              </a:ext>
            </a:extLst>
          </p:cNvPr>
          <p:cNvCxnSpPr>
            <a:cxnSpLocks/>
          </p:cNvCxnSpPr>
          <p:nvPr/>
        </p:nvCxnSpPr>
        <p:spPr>
          <a:xfrm flipV="1">
            <a:off x="180181" y="13488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A8EEF755-3D71-4BF4-008F-12132331F669}"/>
              </a:ext>
            </a:extLst>
          </p:cNvPr>
          <p:cNvCxnSpPr>
            <a:cxnSpLocks/>
          </p:cNvCxnSpPr>
          <p:nvPr/>
        </p:nvCxnSpPr>
        <p:spPr>
          <a:xfrm flipV="1">
            <a:off x="179837" y="1619025"/>
            <a:ext cx="7200000" cy="0"/>
          </a:xfrm>
          <a:prstGeom prst="line">
            <a:avLst/>
          </a:prstGeom>
          <a:ln w="6350" cmpd="sng">
            <a:solidFill>
              <a:srgbClr val="4A453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9CE999AF-BA79-CEA3-9C1D-E842A92E4E77}"/>
              </a:ext>
            </a:extLst>
          </p:cNvPr>
          <p:cNvSpPr txBox="1"/>
          <p:nvPr/>
        </p:nvSpPr>
        <p:spPr>
          <a:xfrm>
            <a:off x="180000" y="1657125"/>
            <a:ext cx="7200000" cy="754053"/>
          </a:xfrm>
          <a:prstGeom prst="rect">
            <a:avLst/>
          </a:prstGeom>
          <a:noFill/>
        </p:spPr>
        <p:txBody>
          <a:bodyPr wrap="square">
            <a:spAutoFit/>
          </a:bodyPr>
          <a:lstStyle/>
          <a:p>
            <a:pPr algn="ctr"/>
            <a:r>
              <a:rPr lang="fr-FR" sz="3200" dirty="0">
                <a:solidFill>
                  <a:srgbClr val="4A453F"/>
                </a:solidFill>
                <a:latin typeface="Baskerville Old Face" panose="02020602080505020303" pitchFamily="18" charset="0"/>
              </a:rPr>
              <a:t>ULGHART : SIX MORTS</a:t>
            </a:r>
          </a:p>
          <a:p>
            <a:pPr algn="ctr"/>
            <a:r>
              <a:rPr lang="fr-FR" sz="1100" dirty="0">
                <a:solidFill>
                  <a:srgbClr val="4A453F"/>
                </a:solidFill>
                <a:latin typeface="Baskerville Old Face" panose="02020602080505020303" pitchFamily="18" charset="0"/>
              </a:rPr>
              <a:t>de notre envoyé spécial </a:t>
            </a:r>
            <a:r>
              <a:rPr lang="fr-FR" sz="1100" dirty="0" err="1">
                <a:solidFill>
                  <a:srgbClr val="4A453F"/>
                </a:solidFill>
                <a:latin typeface="Baskerville Old Face" panose="02020602080505020303" pitchFamily="18" charset="0"/>
              </a:rPr>
              <a:t>Ptitt</a:t>
            </a:r>
            <a:r>
              <a:rPr lang="fr-FR" sz="1100" dirty="0">
                <a:solidFill>
                  <a:srgbClr val="4A453F"/>
                </a:solidFill>
                <a:latin typeface="Baskerville Old Face" panose="02020602080505020303" pitchFamily="18" charset="0"/>
              </a:rPr>
              <a:t> </a:t>
            </a:r>
            <a:r>
              <a:rPr lang="fr-FR" sz="1100" dirty="0" err="1">
                <a:solidFill>
                  <a:srgbClr val="4A453F"/>
                </a:solidFill>
                <a:latin typeface="Baskerville Old Face" panose="02020602080505020303" pitchFamily="18" charset="0"/>
              </a:rPr>
              <a:t>Shourish</a:t>
            </a:r>
            <a:endParaRPr lang="fr-FR" sz="1100" dirty="0">
              <a:solidFill>
                <a:srgbClr val="4A453F"/>
              </a:solidFill>
              <a:latin typeface="Baskerville Old Face" panose="02020602080505020303" pitchFamily="18" charset="0"/>
            </a:endParaRPr>
          </a:p>
        </p:txBody>
      </p:sp>
      <p:sp>
        <p:nvSpPr>
          <p:cNvPr id="19" name="ZoneTexte 18">
            <a:extLst>
              <a:ext uri="{FF2B5EF4-FFF2-40B4-BE49-F238E27FC236}">
                <a16:creationId xmlns:a16="http://schemas.microsoft.com/office/drawing/2014/main" id="{AB8869FB-2945-2CB5-FDF1-9464042E4165}"/>
              </a:ext>
            </a:extLst>
          </p:cNvPr>
          <p:cNvSpPr txBox="1"/>
          <p:nvPr/>
        </p:nvSpPr>
        <p:spPr>
          <a:xfrm>
            <a:off x="180000" y="2455137"/>
            <a:ext cx="4752000" cy="2459753"/>
          </a:xfrm>
          <a:prstGeom prst="rect">
            <a:avLst/>
          </a:prstGeom>
          <a:noFill/>
          <a:ln>
            <a:solidFill>
              <a:srgbClr val="4A453F"/>
            </a:solidFill>
          </a:ln>
        </p:spPr>
        <p:txBody>
          <a:bodyPr wrap="square" lIns="0" tIns="0" rIns="0" bIns="0" rtlCol="0">
            <a:noAutofit/>
          </a:bodyPr>
          <a:lstStyle/>
          <a:p>
            <a:endParaRPr lang="fr-FR" dirty="0">
              <a:solidFill>
                <a:srgbClr val="4A453F"/>
              </a:solidFill>
            </a:endParaRPr>
          </a:p>
        </p:txBody>
      </p:sp>
      <p:sp>
        <p:nvSpPr>
          <p:cNvPr id="22" name="ZoneTexte 21">
            <a:extLst>
              <a:ext uri="{FF2B5EF4-FFF2-40B4-BE49-F238E27FC236}">
                <a16:creationId xmlns:a16="http://schemas.microsoft.com/office/drawing/2014/main" id="{C5390487-DCB4-55E7-420C-E4922FB8BA88}"/>
              </a:ext>
            </a:extLst>
          </p:cNvPr>
          <p:cNvSpPr txBox="1"/>
          <p:nvPr/>
        </p:nvSpPr>
        <p:spPr>
          <a:xfrm>
            <a:off x="180000" y="5081435"/>
            <a:ext cx="2304000" cy="430887"/>
          </a:xfrm>
          <a:prstGeom prst="rect">
            <a:avLst/>
          </a:prstGeom>
          <a:noFill/>
          <a:ln>
            <a:noFill/>
          </a:ln>
        </p:spPr>
        <p:txBody>
          <a:bodyPr wrap="square" lIns="0" tIns="0" rIns="0" bIns="0" rtlCol="0">
            <a:spAutoFit/>
          </a:bodyPr>
          <a:lstStyle/>
          <a:p>
            <a:pPr algn="ctr"/>
            <a:r>
              <a:rPr lang="fr-FR" sz="1400" dirty="0">
                <a:solidFill>
                  <a:srgbClr val="4A453F"/>
                </a:solidFill>
                <a:latin typeface="Baskerville Old Face" panose="02020602080505020303" pitchFamily="18" charset="0"/>
              </a:rPr>
              <a:t>Six corps mystérieux retrouvés brûlés… et dotés de branchies ! </a:t>
            </a:r>
          </a:p>
        </p:txBody>
      </p:sp>
      <p:sp>
        <p:nvSpPr>
          <p:cNvPr id="23" name="ZoneTexte 22">
            <a:extLst>
              <a:ext uri="{FF2B5EF4-FFF2-40B4-BE49-F238E27FC236}">
                <a16:creationId xmlns:a16="http://schemas.microsoft.com/office/drawing/2014/main" id="{EC13C2BF-914C-D06C-CA74-73E27F2F945A}"/>
              </a:ext>
            </a:extLst>
          </p:cNvPr>
          <p:cNvSpPr txBox="1"/>
          <p:nvPr/>
        </p:nvSpPr>
        <p:spPr>
          <a:xfrm>
            <a:off x="2628000" y="498346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d’Il-</a:t>
            </a:r>
            <a:r>
              <a:rPr lang="fr-FR" sz="1100" dirty="0" err="1">
                <a:solidFill>
                  <a:srgbClr val="4A453F"/>
                </a:solidFill>
                <a:latin typeface="Baskerville Old Face" panose="02020602080505020303" pitchFamily="18" charset="0"/>
              </a:rPr>
              <a:t>Irion</a:t>
            </a:r>
            <a:r>
              <a:rPr lang="fr-FR" sz="1100" dirty="0">
                <a:solidFill>
                  <a:srgbClr val="4A453F"/>
                </a:solidFill>
                <a:latin typeface="Baskerville Old Face" panose="02020602080505020303" pitchFamily="18" charset="0"/>
              </a:rPr>
              <a:t> n’a pas souhaité réagir.  Alors que les autorités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ont sécurisé les lieux, notre reporter, toujours à la pointe de l’information, s’est rendu à l’Auberge du Poulpe Mirifique afin de recueillir les premières réactions des habitués du lieu, souvent plus loquaces que la milice locale. Après quelques bières, les langues se délient : acte terroriste ? Transformation magique ratée ? Pacte interdit avec des créatures abyssales ? Ou encore châtiment divin ? Feu et eau, deux éléments que tout oppose… réunis dans la mort de ces six individus. Un symbole ? </a:t>
            </a:r>
          </a:p>
          <a:p>
            <a:pPr algn="just"/>
            <a:r>
              <a:rPr lang="fr-FR" sz="1100" dirty="0">
                <a:solidFill>
                  <a:srgbClr val="4A453F"/>
                </a:solidFill>
                <a:latin typeface="Baskerville Old Face" panose="02020602080505020303" pitchFamily="18" charset="0"/>
              </a:rPr>
              <a:t>Les prêtres du Temple de l’Équilibre refusent pour l’instant de commenter, tandis que l’Académie </a:t>
            </a:r>
            <a:r>
              <a:rPr lang="fr-FR" sz="1100" dirty="0" err="1">
                <a:solidFill>
                  <a:srgbClr val="4A453F"/>
                </a:solidFill>
                <a:latin typeface="Baskerville Old Face" panose="02020602080505020303" pitchFamily="18" charset="0"/>
              </a:rPr>
              <a:t>Arcanique</a:t>
            </a:r>
            <a:r>
              <a:rPr lang="fr-FR" sz="1100" dirty="0">
                <a:solidFill>
                  <a:srgbClr val="4A453F"/>
                </a:solidFill>
                <a:latin typeface="Baskerville Old Face" panose="02020602080505020303" pitchFamily="18" charset="0"/>
              </a:rPr>
              <a:t> d’Il-</a:t>
            </a:r>
            <a:r>
              <a:rPr lang="fr-FR" sz="1100" dirty="0" err="1">
                <a:solidFill>
                  <a:srgbClr val="4A453F"/>
                </a:solidFill>
                <a:latin typeface="Baskerville Old Face" panose="02020602080505020303" pitchFamily="18" charset="0"/>
              </a:rPr>
              <a:t>Irion</a:t>
            </a:r>
            <a:r>
              <a:rPr lang="fr-FR" sz="1100" dirty="0">
                <a:solidFill>
                  <a:srgbClr val="4A453F"/>
                </a:solidFill>
                <a:latin typeface="Baskerville Old Face" panose="02020602080505020303" pitchFamily="18" charset="0"/>
              </a:rPr>
              <a:t> a fermé ses portes « jusqu’à nouvel ordre ».</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LE PEUPLE VEUT SAVOIR</a:t>
            </a:r>
          </a:p>
          <a:p>
            <a:pPr algn="just"/>
            <a:r>
              <a:rPr lang="fr-FR" sz="1100" dirty="0">
                <a:solidFill>
                  <a:srgbClr val="4A453F"/>
                </a:solidFill>
                <a:latin typeface="Baskerville Old Face" panose="02020602080505020303" pitchFamily="18" charset="0"/>
              </a:rPr>
              <a:t>Entre fascination et terreur, la foule s’amasse déjà près des lieux de la découverte. Les colporteurs murmurent qu’une secte amphibie aurait été vue rôdant près des quais ces dernières semaines. D’autres parlent d’un ancien artefact réveillé des profondeurs.</a:t>
            </a:r>
          </a:p>
          <a:p>
            <a:pPr algn="just"/>
            <a:r>
              <a:rPr lang="fr-FR" sz="1100" dirty="0">
                <a:solidFill>
                  <a:srgbClr val="4A453F"/>
                </a:solidFill>
                <a:latin typeface="Baskerville Old Face" panose="02020602080505020303" pitchFamily="18" charset="0"/>
              </a:rPr>
              <a:t>Une chose est sûre : ce scandale surnaturel n’a pas fini de faire couler de l’encre… et bien plus encore.</a:t>
            </a:r>
          </a:p>
        </p:txBody>
      </p:sp>
      <p:sp>
        <p:nvSpPr>
          <p:cNvPr id="26" name="ZoneTexte 25">
            <a:extLst>
              <a:ext uri="{FF2B5EF4-FFF2-40B4-BE49-F238E27FC236}">
                <a16:creationId xmlns:a16="http://schemas.microsoft.com/office/drawing/2014/main" id="{71910978-DF48-B000-0726-5969B91CBB47}"/>
              </a:ext>
            </a:extLst>
          </p:cNvPr>
          <p:cNvSpPr txBox="1"/>
          <p:nvPr/>
        </p:nvSpPr>
        <p:spPr>
          <a:xfrm>
            <a:off x="180000" y="565080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La Confédération se réveille sous le choc d’une découverte aussi macabre qu’inexplicable. À l’aube d’hier matin, six corps sans vie ont été découverts aux abords du Vieux Port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déclenchant une onde de stupeur parmi les badauds, les autorités… et les chroniqueurs les plus aguerris.</a:t>
            </a:r>
          </a:p>
          <a:p>
            <a:pPr algn="just"/>
            <a:r>
              <a:rPr lang="fr-FR" sz="1100" dirty="0">
                <a:solidFill>
                  <a:srgbClr val="4A453F"/>
                </a:solidFill>
                <a:latin typeface="Baskerville Old Face" panose="02020602080505020303" pitchFamily="18" charset="0"/>
              </a:rPr>
              <a:t>Détail glaçant : les victimes présentaient toutes de graves brûlures, comme si elles avaient été exposées à un feu surnaturel. Mais ce n’est pas tout. Selon plusieurs témoins — et confirmé par le gérant de l’apothicairerie Aux Trois Mortiers — des branchies parfaitement formées étaient visibles de part et d’autre de leur cou. Oui, des branchies.</a:t>
            </a:r>
          </a:p>
          <a:p>
            <a:pPr algn="just"/>
            <a:r>
              <a:rPr lang="fr-FR" sz="1100" dirty="0">
                <a:solidFill>
                  <a:srgbClr val="4A453F"/>
                </a:solidFill>
                <a:latin typeface="Baskerville Old Face" panose="02020602080505020303" pitchFamily="18" charset="0"/>
              </a:rPr>
              <a:t>« J’ai cru à une mauvaise farce de mages ivres », confie un pêcheur encore tremblant. « Mais ces choses… ce n’étaient plus vraiment des hommes. »</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DES CHOSES A CRAINDRE ?</a:t>
            </a:r>
          </a:p>
          <a:p>
            <a:pPr algn="just"/>
            <a:r>
              <a:rPr lang="fr-FR" sz="1100" dirty="0">
                <a:solidFill>
                  <a:srgbClr val="4A453F"/>
                </a:solidFill>
                <a:latin typeface="Baskerville Old Face" panose="02020602080505020303" pitchFamily="18" charset="0"/>
              </a:rPr>
              <a:t>Il se pourrait bien… Les rumeurs vont déjà bon train : deux des défunts seraient des gardiens de la banque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Des clients apeurés et en colère auraient déjà demandé des comptes. L’union Bancaire</a:t>
            </a:r>
          </a:p>
        </p:txBody>
      </p:sp>
      <p:cxnSp>
        <p:nvCxnSpPr>
          <p:cNvPr id="28" name="Connecteur droit 27">
            <a:extLst>
              <a:ext uri="{FF2B5EF4-FFF2-40B4-BE49-F238E27FC236}">
                <a16:creationId xmlns:a16="http://schemas.microsoft.com/office/drawing/2014/main" id="{454FFE20-4BD6-F654-B7F7-B99C1600604B}"/>
              </a:ext>
            </a:extLst>
          </p:cNvPr>
          <p:cNvCxnSpPr/>
          <p:nvPr/>
        </p:nvCxnSpPr>
        <p:spPr>
          <a:xfrm>
            <a:off x="540000" y="5021565"/>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EA157C21-3CCA-3558-9FCD-37D6D3698122}"/>
              </a:ext>
            </a:extLst>
          </p:cNvPr>
          <p:cNvCxnSpPr/>
          <p:nvPr/>
        </p:nvCxnSpPr>
        <p:spPr>
          <a:xfrm>
            <a:off x="540000" y="5585475"/>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23D8F4C3-68E9-FEDE-F449-890925AA4575}"/>
              </a:ext>
            </a:extLst>
          </p:cNvPr>
          <p:cNvSpPr txBox="1"/>
          <p:nvPr/>
        </p:nvSpPr>
        <p:spPr>
          <a:xfrm>
            <a:off x="5075494" y="5016127"/>
            <a:ext cx="2304000" cy="430887"/>
          </a:xfrm>
          <a:prstGeom prst="rect">
            <a:avLst/>
          </a:prstGeom>
          <a:noFill/>
          <a:ln>
            <a:noFill/>
          </a:ln>
        </p:spPr>
        <p:txBody>
          <a:bodyPr wrap="square" lIns="0" tIns="0" rIns="0" bIns="0" rtlCol="0">
            <a:spAutoFit/>
          </a:bodyPr>
          <a:lstStyle/>
          <a:p>
            <a:pPr algn="ctr"/>
            <a:r>
              <a:rPr lang="fr-FR" sz="1400" dirty="0">
                <a:solidFill>
                  <a:srgbClr val="4A453F"/>
                </a:solidFill>
                <a:latin typeface="Baskerville Old Face" panose="02020602080505020303" pitchFamily="18" charset="0"/>
              </a:rPr>
              <a:t>30</a:t>
            </a:r>
            <a:r>
              <a:rPr lang="fr-FR" sz="1400" baseline="30000" dirty="0">
                <a:solidFill>
                  <a:srgbClr val="4A453F"/>
                </a:solidFill>
                <a:latin typeface="Baskerville Old Face" panose="02020602080505020303" pitchFamily="18" charset="0"/>
              </a:rPr>
              <a:t>e</a:t>
            </a:r>
            <a:r>
              <a:rPr lang="fr-FR" sz="1400" dirty="0">
                <a:solidFill>
                  <a:srgbClr val="4A453F"/>
                </a:solidFill>
                <a:latin typeface="Baskerville Old Face" panose="02020602080505020303" pitchFamily="18" charset="0"/>
              </a:rPr>
              <a:t> régate de la Confédération des îles du Levant !</a:t>
            </a:r>
          </a:p>
        </p:txBody>
      </p:sp>
      <p:sp>
        <p:nvSpPr>
          <p:cNvPr id="37" name="ZoneTexte 36">
            <a:extLst>
              <a:ext uri="{FF2B5EF4-FFF2-40B4-BE49-F238E27FC236}">
                <a16:creationId xmlns:a16="http://schemas.microsoft.com/office/drawing/2014/main" id="{40D571BC-D4F1-528D-900C-1CF02E134742}"/>
              </a:ext>
            </a:extLst>
          </p:cNvPr>
          <p:cNvSpPr txBox="1"/>
          <p:nvPr/>
        </p:nvSpPr>
        <p:spPr>
          <a:xfrm>
            <a:off x="5075494" y="5555393"/>
            <a:ext cx="2304000" cy="430308"/>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Ce week-end se tiendra la 30</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rPr>
              <a:t> édition de cette course devenue un symbole de l’union des îles du Levant.</a:t>
            </a:r>
          </a:p>
          <a:p>
            <a:pPr algn="just"/>
            <a:r>
              <a:rPr lang="fr-FR" sz="1100" dirty="0">
                <a:solidFill>
                  <a:srgbClr val="4A453F"/>
                </a:solidFill>
                <a:latin typeface="Baskerville Old Face" panose="02020602080505020303" pitchFamily="18" charset="0"/>
              </a:rPr>
              <a:t>Retrouvez toutes les informations sur cet événement en page 2.</a:t>
            </a:r>
          </a:p>
        </p:txBody>
      </p:sp>
      <p:cxnSp>
        <p:nvCxnSpPr>
          <p:cNvPr id="38" name="Connecteur droit 37">
            <a:extLst>
              <a:ext uri="{FF2B5EF4-FFF2-40B4-BE49-F238E27FC236}">
                <a16:creationId xmlns:a16="http://schemas.microsoft.com/office/drawing/2014/main" id="{B5F98959-6854-D2FC-D379-CD357D3DD2A4}"/>
              </a:ext>
            </a:extLst>
          </p:cNvPr>
          <p:cNvCxnSpPr/>
          <p:nvPr/>
        </p:nvCxnSpPr>
        <p:spPr>
          <a:xfrm>
            <a:off x="5435494" y="4956257"/>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39" name="Connecteur droit 38">
            <a:extLst>
              <a:ext uri="{FF2B5EF4-FFF2-40B4-BE49-F238E27FC236}">
                <a16:creationId xmlns:a16="http://schemas.microsoft.com/office/drawing/2014/main" id="{78FA771F-6956-9EED-1CBE-0FFED4005324}"/>
              </a:ext>
            </a:extLst>
          </p:cNvPr>
          <p:cNvCxnSpPr/>
          <p:nvPr/>
        </p:nvCxnSpPr>
        <p:spPr>
          <a:xfrm>
            <a:off x="5435494" y="5510642"/>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sp>
        <p:nvSpPr>
          <p:cNvPr id="41" name="ZoneTexte 40">
            <a:extLst>
              <a:ext uri="{FF2B5EF4-FFF2-40B4-BE49-F238E27FC236}">
                <a16:creationId xmlns:a16="http://schemas.microsoft.com/office/drawing/2014/main" id="{EFE25B11-AC58-9A49-8EB9-2ACA58F0BB8A}"/>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1</a:t>
            </a:r>
          </a:p>
        </p:txBody>
      </p:sp>
      <p:sp>
        <p:nvSpPr>
          <p:cNvPr id="49" name="ZoneTexte 48">
            <a:extLst>
              <a:ext uri="{FF2B5EF4-FFF2-40B4-BE49-F238E27FC236}">
                <a16:creationId xmlns:a16="http://schemas.microsoft.com/office/drawing/2014/main" id="{F88E330F-1901-6A00-4EBA-5628839F384B}"/>
              </a:ext>
            </a:extLst>
          </p:cNvPr>
          <p:cNvSpPr txBox="1"/>
          <p:nvPr/>
        </p:nvSpPr>
        <p:spPr>
          <a:xfrm>
            <a:off x="5075494" y="245912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a:t>
            </a:r>
            <a:r>
              <a:rPr lang="fr-FR" sz="1100" spc="-100" dirty="0">
                <a:solidFill>
                  <a:srgbClr val="4A453F"/>
                </a:solidFill>
                <a:latin typeface="Baskerville Old Face" panose="02020602080505020303" pitchFamily="18" charset="0"/>
              </a:rPr>
              <a:t>DES BRANCHIES ? J’EN AI EU UNE FOIS… MAIS C’ÉTAIT UN RÊVE.” ?</a:t>
            </a:r>
          </a:p>
          <a:p>
            <a:pPr algn="just"/>
            <a:r>
              <a:rPr lang="fr-FR" sz="1100" dirty="0">
                <a:solidFill>
                  <a:srgbClr val="4A453F"/>
                </a:solidFill>
                <a:latin typeface="Baskerville Old Face" panose="02020602080505020303" pitchFamily="18" charset="0"/>
              </a:rPr>
              <a:t>Alors que le royaume s’agite autour de l’affaire des six corps brûlés et munis de branchies, La Gazette des Murmures a réussi l’exploit d’échanger avec </a:t>
            </a:r>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le ver décavé, druide local, ermite des bois de </a:t>
            </a:r>
            <a:r>
              <a:rPr lang="fr-FR" sz="1100" dirty="0" err="1">
                <a:solidFill>
                  <a:srgbClr val="4A453F"/>
                </a:solidFill>
                <a:latin typeface="Baskerville Old Face" panose="02020602080505020303" pitchFamily="18" charset="0"/>
              </a:rPr>
              <a:t>Chênemort</a:t>
            </a:r>
            <a:r>
              <a:rPr lang="fr-FR" sz="1100" dirty="0">
                <a:solidFill>
                  <a:srgbClr val="4A453F"/>
                </a:solidFill>
                <a:latin typeface="Baskerville Old Face" panose="02020602080505020303" pitchFamily="18" charset="0"/>
              </a:rPr>
              <a:t>, connu autant pour sa sagesse ancienne que pour son amour immodéré de l’hydromel et sa mémoire… disons, sélective. L’entretien s’est déroulé dans une clairière, entre deux tonnelets et un blaireau manifestement agacé. A lire en page 3.</a:t>
            </a:r>
          </a:p>
        </p:txBody>
      </p:sp>
      <p:sp>
        <p:nvSpPr>
          <p:cNvPr id="54" name="ZoneTexte 53">
            <a:extLst>
              <a:ext uri="{FF2B5EF4-FFF2-40B4-BE49-F238E27FC236}">
                <a16:creationId xmlns:a16="http://schemas.microsoft.com/office/drawing/2014/main" id="{ADA8FAAC-DCB9-8D38-04BE-420780EC4D6B}"/>
              </a:ext>
            </a:extLst>
          </p:cNvPr>
          <p:cNvSpPr txBox="1"/>
          <p:nvPr/>
        </p:nvSpPr>
        <p:spPr>
          <a:xfrm>
            <a:off x="5075494" y="6957778"/>
            <a:ext cx="2304000" cy="2412000"/>
          </a:xfrm>
          <a:custGeom>
            <a:avLst/>
            <a:gdLst>
              <a:gd name="csX0" fmla="*/ 0 w 2304000"/>
              <a:gd name="csY0" fmla="*/ 0 h 2412000"/>
              <a:gd name="csX1" fmla="*/ 529920 w 2304000"/>
              <a:gd name="csY1" fmla="*/ 0 h 2412000"/>
              <a:gd name="csX2" fmla="*/ 1152000 w 2304000"/>
              <a:gd name="csY2" fmla="*/ 0 h 2412000"/>
              <a:gd name="csX3" fmla="*/ 1751040 w 2304000"/>
              <a:gd name="csY3" fmla="*/ 0 h 2412000"/>
              <a:gd name="csX4" fmla="*/ 2304000 w 2304000"/>
              <a:gd name="csY4" fmla="*/ 0 h 2412000"/>
              <a:gd name="csX5" fmla="*/ 2304000 w 2304000"/>
              <a:gd name="csY5" fmla="*/ 506520 h 2412000"/>
              <a:gd name="csX6" fmla="*/ 2304000 w 2304000"/>
              <a:gd name="csY6" fmla="*/ 988920 h 2412000"/>
              <a:gd name="csX7" fmla="*/ 2304000 w 2304000"/>
              <a:gd name="csY7" fmla="*/ 1519560 h 2412000"/>
              <a:gd name="csX8" fmla="*/ 2304000 w 2304000"/>
              <a:gd name="csY8" fmla="*/ 1929600 h 2412000"/>
              <a:gd name="csX9" fmla="*/ 2304000 w 2304000"/>
              <a:gd name="csY9" fmla="*/ 2412000 h 2412000"/>
              <a:gd name="csX10" fmla="*/ 1774080 w 2304000"/>
              <a:gd name="csY10" fmla="*/ 2412000 h 2412000"/>
              <a:gd name="csX11" fmla="*/ 1152000 w 2304000"/>
              <a:gd name="csY11" fmla="*/ 2412000 h 2412000"/>
              <a:gd name="csX12" fmla="*/ 529920 w 2304000"/>
              <a:gd name="csY12" fmla="*/ 2412000 h 2412000"/>
              <a:gd name="csX13" fmla="*/ 0 w 2304000"/>
              <a:gd name="csY13" fmla="*/ 2412000 h 2412000"/>
              <a:gd name="csX14" fmla="*/ 0 w 2304000"/>
              <a:gd name="csY14" fmla="*/ 1977840 h 2412000"/>
              <a:gd name="csX15" fmla="*/ 0 w 2304000"/>
              <a:gd name="csY15" fmla="*/ 1495440 h 2412000"/>
              <a:gd name="csX16" fmla="*/ 0 w 2304000"/>
              <a:gd name="csY16" fmla="*/ 1085400 h 2412000"/>
              <a:gd name="csX17" fmla="*/ 0 w 2304000"/>
              <a:gd name="csY17" fmla="*/ 627120 h 2412000"/>
              <a:gd name="csX18" fmla="*/ 0 w 2304000"/>
              <a:gd name="csY18" fmla="*/ 0 h 241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304000" h="2412000" extrusionOk="0">
                <a:moveTo>
                  <a:pt x="0" y="0"/>
                </a:moveTo>
                <a:cubicBezTo>
                  <a:pt x="172526" y="-28338"/>
                  <a:pt x="383514" y="17812"/>
                  <a:pt x="529920" y="0"/>
                </a:cubicBezTo>
                <a:cubicBezTo>
                  <a:pt x="676326" y="-17812"/>
                  <a:pt x="983633" y="18558"/>
                  <a:pt x="1152000" y="0"/>
                </a:cubicBezTo>
                <a:cubicBezTo>
                  <a:pt x="1320367" y="-18558"/>
                  <a:pt x="1582500" y="70419"/>
                  <a:pt x="1751040" y="0"/>
                </a:cubicBezTo>
                <a:cubicBezTo>
                  <a:pt x="1919580" y="-70419"/>
                  <a:pt x="2125662" y="3950"/>
                  <a:pt x="2304000" y="0"/>
                </a:cubicBezTo>
                <a:cubicBezTo>
                  <a:pt x="2307300" y="183063"/>
                  <a:pt x="2282500" y="375509"/>
                  <a:pt x="2304000" y="506520"/>
                </a:cubicBezTo>
                <a:cubicBezTo>
                  <a:pt x="2325500" y="637531"/>
                  <a:pt x="2247044" y="873554"/>
                  <a:pt x="2304000" y="988920"/>
                </a:cubicBezTo>
                <a:cubicBezTo>
                  <a:pt x="2360956" y="1104286"/>
                  <a:pt x="2285299" y="1263790"/>
                  <a:pt x="2304000" y="1519560"/>
                </a:cubicBezTo>
                <a:cubicBezTo>
                  <a:pt x="2322701" y="1775330"/>
                  <a:pt x="2255135" y="1801129"/>
                  <a:pt x="2304000" y="1929600"/>
                </a:cubicBezTo>
                <a:cubicBezTo>
                  <a:pt x="2352865" y="2058071"/>
                  <a:pt x="2255695" y="2291344"/>
                  <a:pt x="2304000" y="2412000"/>
                </a:cubicBezTo>
                <a:cubicBezTo>
                  <a:pt x="2138553" y="2431611"/>
                  <a:pt x="1939855" y="2381883"/>
                  <a:pt x="1774080" y="2412000"/>
                </a:cubicBezTo>
                <a:cubicBezTo>
                  <a:pt x="1608305" y="2442117"/>
                  <a:pt x="1405759" y="2403927"/>
                  <a:pt x="1152000" y="2412000"/>
                </a:cubicBezTo>
                <a:cubicBezTo>
                  <a:pt x="898241" y="2420073"/>
                  <a:pt x="808563" y="2379963"/>
                  <a:pt x="529920" y="2412000"/>
                </a:cubicBezTo>
                <a:cubicBezTo>
                  <a:pt x="251277" y="2444037"/>
                  <a:pt x="107050" y="2406909"/>
                  <a:pt x="0" y="2412000"/>
                </a:cubicBezTo>
                <a:cubicBezTo>
                  <a:pt x="-6863" y="2323164"/>
                  <a:pt x="41879" y="2098063"/>
                  <a:pt x="0" y="1977840"/>
                </a:cubicBezTo>
                <a:cubicBezTo>
                  <a:pt x="-41879" y="1857617"/>
                  <a:pt x="30028" y="1664336"/>
                  <a:pt x="0" y="1495440"/>
                </a:cubicBezTo>
                <a:cubicBezTo>
                  <a:pt x="-30028" y="1326544"/>
                  <a:pt x="46643" y="1262876"/>
                  <a:pt x="0" y="1085400"/>
                </a:cubicBezTo>
                <a:cubicBezTo>
                  <a:pt x="-46643" y="907924"/>
                  <a:pt x="16917" y="820921"/>
                  <a:pt x="0" y="627120"/>
                </a:cubicBezTo>
                <a:cubicBezTo>
                  <a:pt x="-16917" y="433319"/>
                  <a:pt x="40306" y="244096"/>
                  <a:pt x="0" y="0"/>
                </a:cubicBezTo>
                <a:close/>
              </a:path>
            </a:pathLst>
          </a:custGeom>
          <a:noFill/>
          <a:ln w="12700" cmpd="thickThin">
            <a:solidFill>
              <a:srgbClr val="4A453F"/>
            </a:solidFill>
            <a:extLst>
              <a:ext uri="{C807C97D-BFC1-408E-A445-0C87EB9F89A2}">
                <ask:lineSketchStyleProps xmlns:ask="http://schemas.microsoft.com/office/drawing/2018/sketchyshapes" sd="3689820584">
                  <a:prstGeom prst="rect">
                    <a:avLst/>
                  </a:prstGeom>
                  <ask:type>
                    <ask:lineSketchScribble/>
                  </ask:type>
                </ask:lineSketchStyleProps>
              </a:ext>
            </a:extLst>
          </a:ln>
        </p:spPr>
        <p:txBody>
          <a:bodyPr wrap="square" lIns="72000" tIns="0" rIns="72000" bIns="0" rtlCol="0">
            <a:noAutofit/>
          </a:bodyPr>
          <a:lstStyle/>
          <a:p>
            <a:pPr algn="ctr"/>
            <a:endParaRPr lang="fr-FR" sz="4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spcBef>
                <a:spcPts val="1500"/>
              </a:spcBef>
            </a:pPr>
            <a:r>
              <a:rPr lang="fr-FR" sz="1100" dirty="0">
                <a:solidFill>
                  <a:srgbClr val="4A453F"/>
                </a:solidFill>
                <a:latin typeface="Baskerville Old Face" panose="02020602080505020303" pitchFamily="18" charset="0"/>
              </a:rPr>
              <a:t>Apothicairerie de père en fils</a:t>
            </a:r>
          </a:p>
          <a:p>
            <a:pPr algn="ctr"/>
            <a:r>
              <a:rPr lang="fr-FR" sz="1100" dirty="0">
                <a:solidFill>
                  <a:srgbClr val="4A453F"/>
                </a:solidFill>
                <a:latin typeface="Baskerville Old Face" panose="02020602080505020303" pitchFamily="18" charset="0"/>
              </a:rPr>
              <a:t>depuis 200 ans</a:t>
            </a:r>
          </a:p>
          <a:p>
            <a:pPr algn="ctr"/>
            <a:endParaRPr lang="fr-FR" sz="8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rPr>
              <a:t>Potions, breuvages, élixirs, drogues, médecines, herbes, champignons, poils en tout genre, ingrédients rares</a:t>
            </a:r>
          </a:p>
          <a:p>
            <a:pPr algn="ctr"/>
            <a:r>
              <a:rPr lang="fr-FR" sz="900" dirty="0">
                <a:solidFill>
                  <a:srgbClr val="4A453F"/>
                </a:solidFill>
                <a:latin typeface="Baskerville Old Face" panose="02020602080505020303" pitchFamily="18" charset="0"/>
                <a:sym typeface="Wingdings 2" panose="05020102010507070707" pitchFamily="18" charset="2"/>
              </a:rPr>
              <a:t></a:t>
            </a:r>
            <a:endParaRPr lang="fr-FR" sz="900" dirty="0">
              <a:solidFill>
                <a:srgbClr val="4A453F"/>
              </a:solidFill>
              <a:latin typeface="Baskerville Old Face" panose="02020602080505020303" pitchFamily="18" charset="0"/>
            </a:endParaRPr>
          </a:p>
          <a:p>
            <a:pPr algn="ctr"/>
            <a:r>
              <a:rPr lang="fr-FR" sz="900" dirty="0">
                <a:solidFill>
                  <a:srgbClr val="4A453F"/>
                </a:solidFill>
                <a:latin typeface="Baskerville Old Face" panose="02020602080505020303" pitchFamily="18" charset="0"/>
              </a:rPr>
              <a:t>Rue principale d’</a:t>
            </a:r>
            <a:r>
              <a:rPr lang="fr-FR" sz="900" dirty="0" err="1">
                <a:solidFill>
                  <a:srgbClr val="4A453F"/>
                </a:solidFill>
                <a:latin typeface="Baskerville Old Face" panose="02020602080505020303" pitchFamily="18" charset="0"/>
              </a:rPr>
              <a:t>Ulghart</a:t>
            </a:r>
            <a:r>
              <a:rPr lang="fr-FR" sz="900" dirty="0">
                <a:solidFill>
                  <a:srgbClr val="4A453F"/>
                </a:solidFill>
                <a:latin typeface="Baskerville Old Face" panose="02020602080505020303" pitchFamily="18" charset="0"/>
              </a:rPr>
              <a:t> – Il-</a:t>
            </a:r>
            <a:r>
              <a:rPr lang="fr-FR" sz="900" dirty="0" err="1">
                <a:solidFill>
                  <a:srgbClr val="4A453F"/>
                </a:solidFill>
                <a:latin typeface="Baskerville Old Face" panose="02020602080505020303" pitchFamily="18" charset="0"/>
              </a:rPr>
              <a:t>Irion</a:t>
            </a:r>
            <a:endParaRPr lang="fr-FR" sz="9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p:txBody>
      </p:sp>
      <p:sp>
        <p:nvSpPr>
          <p:cNvPr id="55" name="ZoneTexte 54">
            <a:extLst>
              <a:ext uri="{FF2B5EF4-FFF2-40B4-BE49-F238E27FC236}">
                <a16:creationId xmlns:a16="http://schemas.microsoft.com/office/drawing/2014/main" id="{9EEF16F7-7EFE-222B-CE19-7D2AC9406EAE}"/>
              </a:ext>
            </a:extLst>
          </p:cNvPr>
          <p:cNvSpPr txBox="1"/>
          <p:nvPr/>
        </p:nvSpPr>
        <p:spPr>
          <a:xfrm>
            <a:off x="5075494" y="9524361"/>
            <a:ext cx="2304000" cy="846386"/>
          </a:xfrm>
          <a:prstGeom prst="rect">
            <a:avLst/>
          </a:prstGeom>
          <a:noFill/>
          <a:ln>
            <a:noFill/>
          </a:ln>
        </p:spPr>
        <p:txBody>
          <a:bodyPr wrap="square" lIns="0" tIns="0" rIns="0" bIns="0" rtlCol="0">
            <a:spAutoFit/>
          </a:bodyPr>
          <a:lstStyle/>
          <a:p>
            <a:pPr algn="just"/>
            <a:r>
              <a:rPr lang="fr-FR" sz="1100" dirty="0">
                <a:solidFill>
                  <a:srgbClr val="4A453F"/>
                </a:solidFill>
                <a:latin typeface="Baskerville Old Face" panose="02020602080505020303" pitchFamily="18" charset="0"/>
              </a:rPr>
              <a:t>          Restez à l’écoute de La Gazette des   </a:t>
            </a:r>
          </a:p>
          <a:p>
            <a:pPr algn="just"/>
            <a:r>
              <a:rPr lang="fr-FR" sz="1100" dirty="0">
                <a:solidFill>
                  <a:srgbClr val="4A453F"/>
                </a:solidFill>
                <a:latin typeface="Baskerville Old Face" panose="02020602080505020303" pitchFamily="18" charset="0"/>
              </a:rPr>
              <a:t>          Murmures, votre source numéro un pour les secrets, les drames et les révélations les plus brûlantes de la Confédération.</a:t>
            </a:r>
          </a:p>
        </p:txBody>
      </p:sp>
      <p:pic>
        <p:nvPicPr>
          <p:cNvPr id="63" name="Graphique 62" descr="Pique avec un remplissage uni">
            <a:extLst>
              <a:ext uri="{FF2B5EF4-FFF2-40B4-BE49-F238E27FC236}">
                <a16:creationId xmlns:a16="http://schemas.microsoft.com/office/drawing/2014/main" id="{66CAF29C-2944-6BD6-0963-601C4F2D67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7869" y="9524361"/>
            <a:ext cx="371786" cy="371786"/>
          </a:xfrm>
          <a:prstGeom prst="rect">
            <a:avLst/>
          </a:prstGeom>
        </p:spPr>
      </p:pic>
      <p:pic>
        <p:nvPicPr>
          <p:cNvPr id="65" name="Image 64" descr="Une image contenant laiton, bronze, art, or&#10;&#10;Le contenu généré par l’IA peut être incorrect.">
            <a:extLst>
              <a:ext uri="{FF2B5EF4-FFF2-40B4-BE49-F238E27FC236}">
                <a16:creationId xmlns:a16="http://schemas.microsoft.com/office/drawing/2014/main" id="{B82F2D42-29D6-0089-2FA0-DBE065F70CAF}"/>
              </a:ext>
            </a:extLst>
          </p:cNvPr>
          <p:cNvPicPr>
            <a:picLocks noChangeAspect="1"/>
          </p:cNvPicPr>
          <p:nvPr/>
        </p:nvPicPr>
        <p:blipFill>
          <a:blip r:embed="rId7">
            <a:clrChange>
              <a:clrFrom>
                <a:srgbClr val="F6FBFB"/>
              </a:clrFrom>
              <a:clrTo>
                <a:srgbClr val="F6FBFB">
                  <a:alpha val="0"/>
                </a:srgbClr>
              </a:clrTo>
            </a:clrChange>
            <a:extLst>
              <a:ext uri="{BEBA8EAE-BF5A-486C-A8C5-ECC9F3942E4B}">
                <a14:imgProps xmlns:a14="http://schemas.microsoft.com/office/drawing/2010/main">
                  <a14:imgLayer r:embed="rId8">
                    <a14:imgEffect>
                      <a14:colorTemperature colorTemp="53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5356294" y="6376587"/>
            <a:ext cx="1742400" cy="1742400"/>
          </a:xfrm>
          <a:prstGeom prst="rect">
            <a:avLst/>
          </a:prstGeom>
        </p:spPr>
      </p:pic>
      <p:pic>
        <p:nvPicPr>
          <p:cNvPr id="69" name="Image 68" descr="Une image contenant dessin, croquis, peinture, art&#10;&#10;Le contenu généré par l’IA peut être incorrect.">
            <a:extLst>
              <a:ext uri="{FF2B5EF4-FFF2-40B4-BE49-F238E27FC236}">
                <a16:creationId xmlns:a16="http://schemas.microsoft.com/office/drawing/2014/main" id="{5F40EC00-ED14-D41C-2879-0BDD74E2DF81}"/>
              </a:ext>
            </a:extLst>
          </p:cNvPr>
          <p:cNvPicPr>
            <a:picLocks/>
          </p:cNvPicPr>
          <p:nvPr/>
        </p:nvPicPr>
        <p:blipFill>
          <a:blip r:embed="rId9">
            <a:extLst>
              <a:ext uri="{BEBA8EAE-BF5A-486C-A8C5-ECC9F3942E4B}">
                <a14:imgProps xmlns:a14="http://schemas.microsoft.com/office/drawing/2010/main">
                  <a14:imgLayer r:embed="rId10">
                    <a14:imgEffect>
                      <a14:colorTemperature colorTemp="5900"/>
                    </a14:imgEffect>
                    <a14:imgEffect>
                      <a14:saturation sat="66000"/>
                    </a14:imgEffect>
                  </a14:imgLayer>
                </a14:imgProps>
              </a:ext>
              <a:ext uri="{28A0092B-C50C-407E-A947-70E740481C1C}">
                <a14:useLocalDpi xmlns:a14="http://schemas.microsoft.com/office/drawing/2010/main" val="0"/>
              </a:ext>
            </a:extLst>
          </a:blip>
          <a:srcRect t="10298" b="3688"/>
          <a:stretch>
            <a:fillRect/>
          </a:stretch>
        </p:blipFill>
        <p:spPr>
          <a:xfrm>
            <a:off x="211235" y="2479569"/>
            <a:ext cx="4698000" cy="2408092"/>
          </a:xfrm>
          <a:prstGeom prst="rect">
            <a:avLst/>
          </a:prstGeom>
        </p:spPr>
      </p:pic>
    </p:spTree>
    <p:extLst>
      <p:ext uri="{BB962C8B-B14F-4D97-AF65-F5344CB8AC3E}">
        <p14:creationId xmlns:p14="http://schemas.microsoft.com/office/powerpoint/2010/main" val="2492081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381000" sx="100000" sy="100000" flip="none" algn="tl"/>
        </a:blipFill>
        <a:effectLst/>
      </p:bgPr>
    </p:bg>
    <p:spTree>
      <p:nvGrpSpPr>
        <p:cNvPr id="1" name="">
          <a:extLst>
            <a:ext uri="{FF2B5EF4-FFF2-40B4-BE49-F238E27FC236}">
              <a16:creationId xmlns:a16="http://schemas.microsoft.com/office/drawing/2014/main" id="{589DE3C9-F36B-EA09-AD8F-7574527E3AD7}"/>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F1558F4E-E4F7-1F5A-D3D1-341E3B963823}"/>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9EDE1909-3A8B-8266-ED43-53BD08D785A7}"/>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2C2B4A4E-FB40-20CC-B11F-9E9E0C487A4D}"/>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FA1AA997-75F1-308B-6024-6009E97FEE0C}"/>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EA3644E9-1D39-D6F9-866A-F8B957E64D95}"/>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2" name="ZoneTexte 21">
            <a:extLst>
              <a:ext uri="{FF2B5EF4-FFF2-40B4-BE49-F238E27FC236}">
                <a16:creationId xmlns:a16="http://schemas.microsoft.com/office/drawing/2014/main" id="{A21F1802-DB3C-27AC-2A3A-9C6701DD4E17}"/>
              </a:ext>
            </a:extLst>
          </p:cNvPr>
          <p:cNvSpPr txBox="1"/>
          <p:nvPr/>
        </p:nvSpPr>
        <p:spPr>
          <a:xfrm>
            <a:off x="180000" y="1569885"/>
            <a:ext cx="2304000" cy="430887"/>
          </a:xfrm>
          <a:prstGeom prst="rect">
            <a:avLst/>
          </a:prstGeom>
          <a:noFill/>
          <a:ln>
            <a:noFill/>
          </a:ln>
        </p:spPr>
        <p:txBody>
          <a:bodyPr wrap="square" lIns="0" tIns="0" rIns="0" bIns="0" rtlCol="0">
            <a:spAutoFit/>
          </a:bodyPr>
          <a:lstStyle/>
          <a:p>
            <a:pPr algn="ctr"/>
            <a:r>
              <a:rPr lang="fr-FR" sz="1400" dirty="0">
                <a:solidFill>
                  <a:srgbClr val="4A453F"/>
                </a:solidFill>
                <a:latin typeface="Baskerville Old Face" panose="02020602080505020303" pitchFamily="18" charset="0"/>
              </a:rPr>
              <a:t>150 ans d’unité célébrés dans l’anse d’</a:t>
            </a:r>
            <a:r>
              <a:rPr lang="fr-FR" sz="1400" dirty="0" err="1">
                <a:solidFill>
                  <a:srgbClr val="4A453F"/>
                </a:solidFill>
                <a:latin typeface="Baskerville Old Face" panose="02020602080505020303" pitchFamily="18" charset="0"/>
              </a:rPr>
              <a:t>Ulghart</a:t>
            </a:r>
            <a:endParaRPr lang="fr-FR" sz="1400" dirty="0">
              <a:solidFill>
                <a:srgbClr val="4A453F"/>
              </a:solidFill>
              <a:latin typeface="Baskerville Old Face" panose="02020602080505020303" pitchFamily="18" charset="0"/>
            </a:endParaRPr>
          </a:p>
        </p:txBody>
      </p:sp>
      <p:sp>
        <p:nvSpPr>
          <p:cNvPr id="23" name="ZoneTexte 22">
            <a:extLst>
              <a:ext uri="{FF2B5EF4-FFF2-40B4-BE49-F238E27FC236}">
                <a16:creationId xmlns:a16="http://schemas.microsoft.com/office/drawing/2014/main" id="{0745E10E-72BA-D0CE-2E21-B058F14435D8}"/>
              </a:ext>
            </a:extLst>
          </p:cNvPr>
          <p:cNvSpPr txBox="1"/>
          <p:nvPr/>
        </p:nvSpPr>
        <p:spPr>
          <a:xfrm>
            <a:off x="2628000" y="147191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couleurs, figures de proue et traditions qui font la renommée de leurs chantiers navals. Ce moment très attendu est aussi l’occasion pour le public et les dignitaires d’observer les innovations techniques, les choix esthétiques et les équipages emblématiques qui marqueront sans doute cette édition. </a:t>
            </a:r>
          </a:p>
          <a:p>
            <a:pPr algn="just"/>
            <a:r>
              <a:rPr lang="fr-FR" sz="1100" dirty="0">
                <a:solidFill>
                  <a:srgbClr val="4A453F"/>
                </a:solidFill>
                <a:latin typeface="Baskerville Old Face" panose="02020602080505020303" pitchFamily="18" charset="0"/>
              </a:rPr>
              <a:t>Avant même que les premières épreuves ne commencent, la Régate rendra hommage au savoir-faire maritime avec la nomination de la plus belle barque. Coques sculptées, voilures brodées, bois rares et détails symboliques seront scrutés par un jury mêlant maîtres charpentiers, navigateurs et représentants confédérés. Un titre honorifique, mais hautement convoité.</a:t>
            </a:r>
          </a:p>
          <a:p>
            <a:pPr algn="just"/>
            <a:r>
              <a:rPr lang="fr-FR" sz="1100" dirty="0">
                <a:solidFill>
                  <a:srgbClr val="4A453F"/>
                </a:solidFill>
                <a:latin typeface="Baskerville Old Face" panose="02020602080505020303" pitchFamily="18" charset="0"/>
              </a:rPr>
              <a:t>Les épreuves sur l’eau, disputées dans l’anse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et ses abords, mettront à l’épreuve la coordination des équipages, leur lecture des vents changeants et leur capacité à manœuvrer dans un espace aussi majestueux qu’exigeant. Ces courses, parfois spectaculaires, rappellent que la Régate reste avant tout une démonstration de compétence maritime et de discipline collective.</a:t>
            </a:r>
          </a:p>
          <a:p>
            <a:pPr algn="just"/>
            <a:r>
              <a:rPr lang="fr-FR" sz="1100" dirty="0">
                <a:solidFill>
                  <a:srgbClr val="4A453F"/>
                </a:solidFill>
                <a:latin typeface="Baskerville Old Face" panose="02020602080505020303" pitchFamily="18" charset="0"/>
              </a:rPr>
              <a:t>Point d’orgue de cette 30ᵉ édition, la nomination du nouveau Conseil de l’UBI, sponsor principal et unique de la Régate, viendra clore les célébrations. Acteur économique central de la Confédération, l’UBI joue un rôle</a:t>
            </a:r>
          </a:p>
        </p:txBody>
      </p:sp>
      <p:sp>
        <p:nvSpPr>
          <p:cNvPr id="26" name="ZoneTexte 25">
            <a:extLst>
              <a:ext uri="{FF2B5EF4-FFF2-40B4-BE49-F238E27FC236}">
                <a16:creationId xmlns:a16="http://schemas.microsoft.com/office/drawing/2014/main" id="{DE327238-E298-FEA5-D502-83F09794ED75}"/>
              </a:ext>
            </a:extLst>
          </p:cNvPr>
          <p:cNvSpPr txBox="1"/>
          <p:nvPr/>
        </p:nvSpPr>
        <p:spPr>
          <a:xfrm>
            <a:off x="180000" y="213925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Cette année marque un double anniversaire pour la Confédération des Îles du Levant. À l’occasion de ses 150 ans, elle célèbre également la 30ᵉ édition de sa Régate, rendez-vous maritime et politique majeur, organisé fidèlement tous les cinq ans par l’une des cinq îles confédérées. Pour cette édition symbolique, c’est l’île d’Il-</a:t>
            </a:r>
            <a:r>
              <a:rPr lang="fr-FR" sz="1100" dirty="0" err="1">
                <a:solidFill>
                  <a:srgbClr val="4A453F"/>
                </a:solidFill>
                <a:latin typeface="Baskerville Old Face" panose="02020602080505020303" pitchFamily="18" charset="0"/>
              </a:rPr>
              <a:t>Irion</a:t>
            </a:r>
            <a:r>
              <a:rPr lang="fr-FR" sz="1100" dirty="0">
                <a:solidFill>
                  <a:srgbClr val="4A453F"/>
                </a:solidFill>
                <a:latin typeface="Baskerville Old Face" panose="02020602080505020303" pitchFamily="18" charset="0"/>
              </a:rPr>
              <a:t> qui a l’honneur d’accueillir les délégations, dans le cadre spectaculaire et protégé de l’anse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UNE TRADITION QUI DEPASSE LA COMPETITION</a:t>
            </a:r>
          </a:p>
          <a:p>
            <a:pPr algn="just"/>
            <a:r>
              <a:rPr lang="fr-FR" sz="1100" dirty="0">
                <a:solidFill>
                  <a:srgbClr val="4A453F"/>
                </a:solidFill>
                <a:latin typeface="Baskerville Old Face" panose="02020602080505020303" pitchFamily="18" charset="0"/>
              </a:rPr>
              <a:t>Née il y a un siècle et demi pour sceller la coopération entre les îles, la Régate n’est pas qu’une affaire de voiles et de courants. Elle est le reflet vivant de l’équilibre fragile entre rivalités ancestrales, alliances commerciales et identité commune. Chaque édition rappelle que la mer, longtemps frontière et menace, est devenue le lien fondateur de la Confédération.</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DEMANDEZ LE PROGRAMME !</a:t>
            </a:r>
          </a:p>
          <a:p>
            <a:pPr algn="just"/>
            <a:r>
              <a:rPr lang="fr-FR" sz="1100" dirty="0">
                <a:solidFill>
                  <a:srgbClr val="4A453F"/>
                </a:solidFill>
                <a:latin typeface="Baskerville Old Face" panose="02020602080505020303" pitchFamily="18" charset="0"/>
              </a:rPr>
              <a:t>Les festivités s’ouvriront par la présentation officielle des équipages, venus des cinq îles, chacun arborant les</a:t>
            </a:r>
          </a:p>
        </p:txBody>
      </p:sp>
      <p:cxnSp>
        <p:nvCxnSpPr>
          <p:cNvPr id="28" name="Connecteur droit 27">
            <a:extLst>
              <a:ext uri="{FF2B5EF4-FFF2-40B4-BE49-F238E27FC236}">
                <a16:creationId xmlns:a16="http://schemas.microsoft.com/office/drawing/2014/main" id="{766D6D11-B68A-051A-60E9-96DF96796C63}"/>
              </a:ext>
            </a:extLst>
          </p:cNvPr>
          <p:cNvCxnSpPr/>
          <p:nvPr/>
        </p:nvCxnSpPr>
        <p:spPr>
          <a:xfrm>
            <a:off x="540000" y="1510015"/>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7D56CDDD-ED4A-1C55-648F-6C86B676402B}"/>
              </a:ext>
            </a:extLst>
          </p:cNvPr>
          <p:cNvCxnSpPr/>
          <p:nvPr/>
        </p:nvCxnSpPr>
        <p:spPr>
          <a:xfrm>
            <a:off x="540000" y="2073925"/>
            <a:ext cx="158400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sp>
        <p:nvSpPr>
          <p:cNvPr id="2" name="ZoneTexte 1">
            <a:extLst>
              <a:ext uri="{FF2B5EF4-FFF2-40B4-BE49-F238E27FC236}">
                <a16:creationId xmlns:a16="http://schemas.microsoft.com/office/drawing/2014/main" id="{04C9C3D8-F4E0-1300-B79F-CFE8EA2FCFB0}"/>
              </a:ext>
            </a:extLst>
          </p:cNvPr>
          <p:cNvSpPr txBox="1"/>
          <p:nvPr/>
        </p:nvSpPr>
        <p:spPr>
          <a:xfrm>
            <a:off x="188400" y="665252"/>
            <a:ext cx="7200000" cy="754053"/>
          </a:xfrm>
          <a:prstGeom prst="rect">
            <a:avLst/>
          </a:prstGeom>
          <a:noFill/>
        </p:spPr>
        <p:txBody>
          <a:bodyPr wrap="square">
            <a:spAutoFit/>
          </a:bodyPr>
          <a:lstStyle/>
          <a:p>
            <a:pPr algn="ctr"/>
            <a:r>
              <a:rPr lang="fr-FR" sz="3200" dirty="0">
                <a:solidFill>
                  <a:srgbClr val="4A453F"/>
                </a:solidFill>
                <a:latin typeface="Baskerville Old Face" panose="02020602080505020303" pitchFamily="18" charset="0"/>
              </a:rPr>
              <a:t>La Régate fête ses 30 ans !</a:t>
            </a:r>
          </a:p>
          <a:p>
            <a:pPr algn="ctr"/>
            <a:r>
              <a:rPr lang="fr-FR" sz="1100" dirty="0" err="1">
                <a:solidFill>
                  <a:srgbClr val="4A453F"/>
                </a:solidFill>
                <a:latin typeface="Baskerville Old Face" panose="02020602080505020303" pitchFamily="18" charset="0"/>
              </a:rPr>
              <a:t>Pipol</a:t>
            </a:r>
            <a:r>
              <a:rPr lang="fr-FR" sz="1100" dirty="0">
                <a:solidFill>
                  <a:srgbClr val="4A453F"/>
                </a:solidFill>
                <a:latin typeface="Baskerville Old Face" panose="02020602080505020303" pitchFamily="18" charset="0"/>
              </a:rPr>
              <a:t> </a:t>
            </a:r>
            <a:r>
              <a:rPr lang="fr-FR" sz="1100" dirty="0" err="1">
                <a:solidFill>
                  <a:srgbClr val="4A453F"/>
                </a:solidFill>
                <a:latin typeface="Baskerville Old Face" panose="02020602080505020303" pitchFamily="18" charset="0"/>
              </a:rPr>
              <a:t>Mondin</a:t>
            </a:r>
            <a:endParaRPr lang="fr-FR" sz="1100" dirty="0">
              <a:solidFill>
                <a:srgbClr val="4A453F"/>
              </a:solidFill>
              <a:latin typeface="Baskerville Old Face" panose="02020602080505020303" pitchFamily="18" charset="0"/>
            </a:endParaRPr>
          </a:p>
        </p:txBody>
      </p:sp>
      <p:sp>
        <p:nvSpPr>
          <p:cNvPr id="10" name="ZoneTexte 9">
            <a:extLst>
              <a:ext uri="{FF2B5EF4-FFF2-40B4-BE49-F238E27FC236}">
                <a16:creationId xmlns:a16="http://schemas.microsoft.com/office/drawing/2014/main" id="{DD415BB8-CA4B-95A9-636F-B8F186433851}"/>
              </a:ext>
            </a:extLst>
          </p:cNvPr>
          <p:cNvSpPr txBox="1"/>
          <p:nvPr/>
        </p:nvSpPr>
        <p:spPr>
          <a:xfrm>
            <a:off x="5076000" y="1471915"/>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déterminant dans l’équilibre entre commerce, infrastructures et stabilité politique. Cette nomination, annoncée traditionnellement lors de la Régate, confère à l’événement une portée bien au-delà du domaine maritime.</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UNE EDITION DÉJÀ HISTORIQUE</a:t>
            </a:r>
          </a:p>
          <a:p>
            <a:pPr algn="just"/>
            <a:r>
              <a:rPr lang="fr-FR" sz="1100" dirty="0">
                <a:solidFill>
                  <a:srgbClr val="4A453F"/>
                </a:solidFill>
                <a:latin typeface="Baskerville Old Face" panose="02020602080505020303" pitchFamily="18" charset="0"/>
              </a:rPr>
              <a:t>Entre célébration d’un héritage vieux de 150 ans et regards tournés vers l’avenir, la Régate de cette année s’annonce comme l’une des plus marquantes de son histoire. Dans l’anse d’</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voiles et décisions se déploieront de concert, rappelant que, pour les Îles du Levant, naviguer ensemble reste la condition de toute prospérité.</a:t>
            </a:r>
          </a:p>
        </p:txBody>
      </p:sp>
      <p:sp>
        <p:nvSpPr>
          <p:cNvPr id="25" name="ZoneTexte 24">
            <a:extLst>
              <a:ext uri="{FF2B5EF4-FFF2-40B4-BE49-F238E27FC236}">
                <a16:creationId xmlns:a16="http://schemas.microsoft.com/office/drawing/2014/main" id="{065F8ABA-A971-43C3-101B-3D597FFF0CBE}"/>
              </a:ext>
            </a:extLst>
          </p:cNvPr>
          <p:cNvSpPr txBox="1"/>
          <p:nvPr/>
        </p:nvSpPr>
        <p:spPr>
          <a:xfrm>
            <a:off x="179494" y="7250067"/>
            <a:ext cx="7200000" cy="3128371"/>
          </a:xfrm>
          <a:prstGeom prst="rect">
            <a:avLst/>
          </a:prstGeom>
          <a:noFill/>
          <a:ln w="12700">
            <a:solidFill>
              <a:srgbClr val="4A453F"/>
            </a:solidFill>
          </a:ln>
        </p:spPr>
        <p:txBody>
          <a:bodyPr wrap="square" lIns="0" tIns="0" rIns="0" bIns="0" rtlCol="0">
            <a:noAutofit/>
          </a:bodyPr>
          <a:lstStyle/>
          <a:p>
            <a:endParaRPr lang="fr-FR" dirty="0">
              <a:solidFill>
                <a:srgbClr val="4A453F"/>
              </a:solidFill>
            </a:endParaRPr>
          </a:p>
        </p:txBody>
      </p:sp>
      <p:sp>
        <p:nvSpPr>
          <p:cNvPr id="27" name="ZoneTexte 26">
            <a:extLst>
              <a:ext uri="{FF2B5EF4-FFF2-40B4-BE49-F238E27FC236}">
                <a16:creationId xmlns:a16="http://schemas.microsoft.com/office/drawing/2014/main" id="{5C7AC549-3266-E20F-BA57-8E8746F1E863}"/>
              </a:ext>
            </a:extLst>
          </p:cNvPr>
          <p:cNvSpPr txBox="1"/>
          <p:nvPr/>
        </p:nvSpPr>
        <p:spPr>
          <a:xfrm>
            <a:off x="5075494" y="4419216"/>
            <a:ext cx="2304000" cy="2747671"/>
          </a:xfrm>
          <a:prstGeom prst="rect">
            <a:avLst/>
          </a:prstGeom>
          <a:noFill/>
          <a:ln w="28575" cmpd="thinThick">
            <a:solidFill>
              <a:srgbClr val="4A453F"/>
            </a:solidFill>
            <a:extLst>
              <a:ext uri="{C807C97D-BFC1-408E-A445-0C87EB9F89A2}">
                <ask:lineSketchStyleProps xmlns:ask="http://schemas.microsoft.com/office/drawing/2018/sketchyshapes" sd="3689820584">
                  <a:custGeom>
                    <a:avLst/>
                    <a:gdLst>
                      <a:gd name="csX0" fmla="*/ 0 w 2304000"/>
                      <a:gd name="csY0" fmla="*/ 0 h 2633285"/>
                      <a:gd name="csX1" fmla="*/ 529920 w 2304000"/>
                      <a:gd name="csY1" fmla="*/ 0 h 2633285"/>
                      <a:gd name="csX2" fmla="*/ 1152000 w 2304000"/>
                      <a:gd name="csY2" fmla="*/ 0 h 2633285"/>
                      <a:gd name="csX3" fmla="*/ 1751040 w 2304000"/>
                      <a:gd name="csY3" fmla="*/ 0 h 2633285"/>
                      <a:gd name="csX4" fmla="*/ 2304000 w 2304000"/>
                      <a:gd name="csY4" fmla="*/ 0 h 2633285"/>
                      <a:gd name="csX5" fmla="*/ 2304000 w 2304000"/>
                      <a:gd name="csY5" fmla="*/ 552990 h 2633285"/>
                      <a:gd name="csX6" fmla="*/ 2304000 w 2304000"/>
                      <a:gd name="csY6" fmla="*/ 1079647 h 2633285"/>
                      <a:gd name="csX7" fmla="*/ 2304000 w 2304000"/>
                      <a:gd name="csY7" fmla="*/ 1658970 h 2633285"/>
                      <a:gd name="csX8" fmla="*/ 2304000 w 2304000"/>
                      <a:gd name="csY8" fmla="*/ 2106628 h 2633285"/>
                      <a:gd name="csX9" fmla="*/ 2304000 w 2304000"/>
                      <a:gd name="csY9" fmla="*/ 2633285 h 2633285"/>
                      <a:gd name="csX10" fmla="*/ 1774080 w 2304000"/>
                      <a:gd name="csY10" fmla="*/ 2633285 h 2633285"/>
                      <a:gd name="csX11" fmla="*/ 1152000 w 2304000"/>
                      <a:gd name="csY11" fmla="*/ 2633285 h 2633285"/>
                      <a:gd name="csX12" fmla="*/ 529920 w 2304000"/>
                      <a:gd name="csY12" fmla="*/ 2633285 h 2633285"/>
                      <a:gd name="csX13" fmla="*/ 0 w 2304000"/>
                      <a:gd name="csY13" fmla="*/ 2633285 h 2633285"/>
                      <a:gd name="csX14" fmla="*/ 0 w 2304000"/>
                      <a:gd name="csY14" fmla="*/ 2159294 h 2633285"/>
                      <a:gd name="csX15" fmla="*/ 0 w 2304000"/>
                      <a:gd name="csY15" fmla="*/ 1632637 h 2633285"/>
                      <a:gd name="csX16" fmla="*/ 0 w 2304000"/>
                      <a:gd name="csY16" fmla="*/ 1184978 h 2633285"/>
                      <a:gd name="csX17" fmla="*/ 0 w 2304000"/>
                      <a:gd name="csY17" fmla="*/ 684654 h 2633285"/>
                      <a:gd name="csX18" fmla="*/ 0 w 2304000"/>
                      <a:gd name="csY18" fmla="*/ 0 h 26332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304000" h="2633285" extrusionOk="0">
                        <a:moveTo>
                          <a:pt x="0" y="0"/>
                        </a:moveTo>
                        <a:cubicBezTo>
                          <a:pt x="172526" y="-28338"/>
                          <a:pt x="383514" y="17812"/>
                          <a:pt x="529920" y="0"/>
                        </a:cubicBezTo>
                        <a:cubicBezTo>
                          <a:pt x="676326" y="-17812"/>
                          <a:pt x="983633" y="18558"/>
                          <a:pt x="1152000" y="0"/>
                        </a:cubicBezTo>
                        <a:cubicBezTo>
                          <a:pt x="1320367" y="-18558"/>
                          <a:pt x="1582500" y="70419"/>
                          <a:pt x="1751040" y="0"/>
                        </a:cubicBezTo>
                        <a:cubicBezTo>
                          <a:pt x="1919580" y="-70419"/>
                          <a:pt x="2125662" y="3950"/>
                          <a:pt x="2304000" y="0"/>
                        </a:cubicBezTo>
                        <a:cubicBezTo>
                          <a:pt x="2346749" y="188412"/>
                          <a:pt x="2280520" y="309638"/>
                          <a:pt x="2304000" y="552990"/>
                        </a:cubicBezTo>
                        <a:cubicBezTo>
                          <a:pt x="2327480" y="796342"/>
                          <a:pt x="2278852" y="894883"/>
                          <a:pt x="2304000" y="1079647"/>
                        </a:cubicBezTo>
                        <a:cubicBezTo>
                          <a:pt x="2329148" y="1264411"/>
                          <a:pt x="2270727" y="1480630"/>
                          <a:pt x="2304000" y="1658970"/>
                        </a:cubicBezTo>
                        <a:cubicBezTo>
                          <a:pt x="2337273" y="1837310"/>
                          <a:pt x="2280685" y="1887908"/>
                          <a:pt x="2304000" y="2106628"/>
                        </a:cubicBezTo>
                        <a:cubicBezTo>
                          <a:pt x="2327315" y="2325348"/>
                          <a:pt x="2253834" y="2462686"/>
                          <a:pt x="2304000" y="2633285"/>
                        </a:cubicBezTo>
                        <a:cubicBezTo>
                          <a:pt x="2138553" y="2652896"/>
                          <a:pt x="1939855" y="2603168"/>
                          <a:pt x="1774080" y="2633285"/>
                        </a:cubicBezTo>
                        <a:cubicBezTo>
                          <a:pt x="1608305" y="2663402"/>
                          <a:pt x="1405759" y="2625212"/>
                          <a:pt x="1152000" y="2633285"/>
                        </a:cubicBezTo>
                        <a:cubicBezTo>
                          <a:pt x="898241" y="2641358"/>
                          <a:pt x="808563" y="2601248"/>
                          <a:pt x="529920" y="2633285"/>
                        </a:cubicBezTo>
                        <a:cubicBezTo>
                          <a:pt x="251277" y="2665322"/>
                          <a:pt x="107050" y="2628194"/>
                          <a:pt x="0" y="2633285"/>
                        </a:cubicBezTo>
                        <a:cubicBezTo>
                          <a:pt x="-24516" y="2489204"/>
                          <a:pt x="34138" y="2311825"/>
                          <a:pt x="0" y="2159294"/>
                        </a:cubicBezTo>
                        <a:cubicBezTo>
                          <a:pt x="-34138" y="2006763"/>
                          <a:pt x="49937" y="1768549"/>
                          <a:pt x="0" y="1632637"/>
                        </a:cubicBezTo>
                        <a:cubicBezTo>
                          <a:pt x="-49937" y="1496725"/>
                          <a:pt x="31539" y="1280224"/>
                          <a:pt x="0" y="1184978"/>
                        </a:cubicBezTo>
                        <a:cubicBezTo>
                          <a:pt x="-31539" y="1089732"/>
                          <a:pt x="41759" y="900732"/>
                          <a:pt x="0" y="684654"/>
                        </a:cubicBezTo>
                        <a:cubicBezTo>
                          <a:pt x="-41759" y="468576"/>
                          <a:pt x="28446" y="303564"/>
                          <a:pt x="0" y="0"/>
                        </a:cubicBezTo>
                        <a:close/>
                      </a:path>
                    </a:pathLst>
                  </a:custGeom>
                  <ask:type>
                    <ask:lineSketchNone/>
                  </ask:type>
                </ask:lineSketchStyleProps>
              </a:ext>
            </a:extLst>
          </a:ln>
        </p:spPr>
        <p:txBody>
          <a:bodyPr wrap="square" lIns="72000" tIns="0" rIns="72000" bIns="0" rtlCol="0">
            <a:noAutofit/>
          </a:bodyPr>
          <a:lstStyle/>
          <a:p>
            <a:pPr algn="ctr"/>
            <a:endParaRPr lang="fr-FR" sz="5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rPr>
              <a:t>Sponsor officiel de la Régate</a:t>
            </a:r>
            <a:endParaRPr lang="fr-FR" sz="1100" dirty="0">
              <a:solidFill>
                <a:srgbClr val="4A453F"/>
              </a:solidFill>
              <a:latin typeface="Dwarven Stonecraft" pitchFamily="2"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spcBef>
                <a:spcPts val="600"/>
              </a:spcBef>
            </a:pPr>
            <a:r>
              <a:rPr lang="fr-FR" sz="1100" dirty="0">
                <a:solidFill>
                  <a:srgbClr val="4A453F"/>
                </a:solidFill>
                <a:latin typeface="Baskerville Old Face" panose="02020602080505020303" pitchFamily="18" charset="0"/>
              </a:rPr>
              <a:t>Sous la pierre, l’or</a:t>
            </a:r>
          </a:p>
          <a:p>
            <a:pPr algn="ctr"/>
            <a:r>
              <a:rPr lang="fr-FR" sz="1100" dirty="0">
                <a:solidFill>
                  <a:srgbClr val="4A453F"/>
                </a:solidFill>
                <a:latin typeface="Baskerville Old Face" panose="02020602080505020303" pitchFamily="18" charset="0"/>
              </a:rPr>
              <a:t>Dans la parole, le lien</a:t>
            </a:r>
          </a:p>
          <a:p>
            <a:pPr algn="ctr"/>
            <a:r>
              <a:rPr lang="fr-FR" sz="1100" dirty="0">
                <a:solidFill>
                  <a:srgbClr val="4A453F"/>
                </a:solidFill>
                <a:latin typeface="Baskerville Old Face" panose="02020602080505020303" pitchFamily="18" charset="0"/>
              </a:rPr>
              <a:t>Dans le temps, la prospérité</a:t>
            </a:r>
          </a:p>
          <a:p>
            <a:pPr algn="ctr">
              <a:spcBef>
                <a:spcPts val="300"/>
              </a:spcBef>
            </a:pPr>
            <a:r>
              <a:rPr lang="fr-FR" sz="1100" dirty="0">
                <a:solidFill>
                  <a:srgbClr val="4A453F"/>
                </a:solidFill>
                <a:latin typeface="Baskerville Old Face" panose="02020602080505020303" pitchFamily="18" charset="0"/>
                <a:sym typeface="Wingdings 2" panose="05020102010507070707" pitchFamily="18" charset="2"/>
              </a:rPr>
              <a:t></a:t>
            </a:r>
            <a:endParaRPr lang="fr-FR" sz="1100" dirty="0">
              <a:solidFill>
                <a:srgbClr val="4A453F"/>
              </a:solidFill>
              <a:latin typeface="Baskerville Old Face" panose="02020602080505020303" pitchFamily="18" charset="0"/>
            </a:endParaRPr>
          </a:p>
          <a:p>
            <a:pPr algn="ctr">
              <a:spcBef>
                <a:spcPts val="300"/>
              </a:spcBef>
            </a:pPr>
            <a:r>
              <a:rPr lang="fr-FR" sz="900" dirty="0">
                <a:solidFill>
                  <a:srgbClr val="4A453F"/>
                </a:solidFill>
                <a:latin typeface="Baskerville Old Face" panose="02020602080505020303" pitchFamily="18" charset="0"/>
              </a:rPr>
              <a:t>Frais d’ouverture de compte offert pour tout dépôt initial de 500 doublons !</a:t>
            </a:r>
          </a:p>
        </p:txBody>
      </p:sp>
      <p:pic>
        <p:nvPicPr>
          <p:cNvPr id="34" name="Image 33" descr="Une image contenant Emblème, symbole, écusson, badge&#10;&#10;Le contenu généré par l’IA peut être incorrect.">
            <a:extLst>
              <a:ext uri="{FF2B5EF4-FFF2-40B4-BE49-F238E27FC236}">
                <a16:creationId xmlns:a16="http://schemas.microsoft.com/office/drawing/2014/main" id="{C9150241-EA57-27ED-32D8-C1995C4BEB17}"/>
              </a:ext>
            </a:extLst>
          </p:cNvPr>
          <p:cNvPicPr>
            <a:picLocks noChangeAspect="1"/>
          </p:cNvPicPr>
          <p:nvPr/>
        </p:nvPicPr>
        <p:blipFill>
          <a:blip r:embed="rId5">
            <a:clrChange>
              <a:clrFrom>
                <a:srgbClr val="F6FBFB"/>
              </a:clrFrom>
              <a:clrTo>
                <a:srgbClr val="F6FBFB">
                  <a:alpha val="0"/>
                </a:srgbClr>
              </a:clrTo>
            </a:clrChange>
            <a:extLst>
              <a:ext uri="{BEBA8EAE-BF5A-486C-A8C5-ECC9F3942E4B}">
                <a14:imgProps xmlns:a14="http://schemas.microsoft.com/office/drawing/2010/main">
                  <a14:imgLayer r:embed="rId6">
                    <a14:imgEffect>
                      <a14:colorTemperature colorTemp="53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5435494" y="4601192"/>
            <a:ext cx="1584000" cy="1584000"/>
          </a:xfrm>
          <a:prstGeom prst="rect">
            <a:avLst/>
          </a:prstGeom>
        </p:spPr>
      </p:pic>
      <p:pic>
        <p:nvPicPr>
          <p:cNvPr id="47" name="Image 46">
            <a:extLst>
              <a:ext uri="{FF2B5EF4-FFF2-40B4-BE49-F238E27FC236}">
                <a16:creationId xmlns:a16="http://schemas.microsoft.com/office/drawing/2014/main" id="{A85279BF-80D4-7C62-0DA6-56E446D84010}"/>
              </a:ext>
            </a:extLst>
          </p:cNvPr>
          <p:cNvPicPr>
            <a:picLocks/>
          </p:cNvPicPr>
          <p:nvPr/>
        </p:nvPicPr>
        <p:blipFill>
          <a:blip r:embed="rId7">
            <a:duotone>
              <a:prstClr val="black"/>
              <a:srgbClr val="D9C3A5">
                <a:tint val="50000"/>
                <a:satMod val="180000"/>
              </a:srgbClr>
            </a:duotone>
            <a:lum bright="20000" contrast="20000"/>
          </a:blip>
          <a:stretch>
            <a:fillRect/>
          </a:stretch>
        </p:blipFill>
        <p:spPr>
          <a:xfrm>
            <a:off x="207450" y="7284252"/>
            <a:ext cx="7142400" cy="3060000"/>
          </a:xfrm>
          <a:prstGeom prst="rect">
            <a:avLst/>
          </a:prstGeom>
        </p:spPr>
      </p:pic>
      <p:pic>
        <p:nvPicPr>
          <p:cNvPr id="48" name="Graphique 47" descr="Pique avec un remplissage uni">
            <a:extLst>
              <a:ext uri="{FF2B5EF4-FFF2-40B4-BE49-F238E27FC236}">
                <a16:creationId xmlns:a16="http://schemas.microsoft.com/office/drawing/2014/main" id="{C5DDD7A8-2C37-1368-F488-9CABDD321BC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3619" y="1165513"/>
            <a:ext cx="216000" cy="216000"/>
          </a:xfrm>
          <a:prstGeom prst="rect">
            <a:avLst/>
          </a:prstGeom>
        </p:spPr>
      </p:pic>
      <p:cxnSp>
        <p:nvCxnSpPr>
          <p:cNvPr id="49" name="Connecteur droit 48">
            <a:extLst>
              <a:ext uri="{FF2B5EF4-FFF2-40B4-BE49-F238E27FC236}">
                <a16:creationId xmlns:a16="http://schemas.microsoft.com/office/drawing/2014/main" id="{5F65EB49-8F45-7C7E-4A31-D728108F86E8}"/>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50" name="Connecteur droit 49">
            <a:extLst>
              <a:ext uri="{FF2B5EF4-FFF2-40B4-BE49-F238E27FC236}">
                <a16:creationId xmlns:a16="http://schemas.microsoft.com/office/drawing/2014/main" id="{7B1494D6-522C-6B1A-D4EA-7F774EF3F220}"/>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51" name="ZoneTexte 50">
            <a:extLst>
              <a:ext uri="{FF2B5EF4-FFF2-40B4-BE49-F238E27FC236}">
                <a16:creationId xmlns:a16="http://schemas.microsoft.com/office/drawing/2014/main" id="{BA6C8B68-BFC6-2885-A783-CD1483DDF2DD}"/>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2</a:t>
            </a:r>
          </a:p>
        </p:txBody>
      </p:sp>
    </p:spTree>
    <p:extLst>
      <p:ext uri="{BB962C8B-B14F-4D97-AF65-F5344CB8AC3E}">
        <p14:creationId xmlns:p14="http://schemas.microsoft.com/office/powerpoint/2010/main" val="259009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1263650" sx="100000" sy="100000" flip="none" algn="tl"/>
        </a:blipFill>
        <a:effectLst/>
      </p:bgPr>
    </p:bg>
    <p:spTree>
      <p:nvGrpSpPr>
        <p:cNvPr id="1" name="">
          <a:extLst>
            <a:ext uri="{FF2B5EF4-FFF2-40B4-BE49-F238E27FC236}">
              <a16:creationId xmlns:a16="http://schemas.microsoft.com/office/drawing/2014/main" id="{2F54584E-E1FD-37F6-3A68-0462EF64D13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EE584E37-53E3-9A01-0482-ABF1A1305E5E}"/>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7176083A-2B7F-6BC9-6A21-10A725E3DCB0}"/>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1CD8BE8F-C52A-C7D9-E8AA-EBB5E6306AE8}"/>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082FBDCB-C6B1-F89D-C700-B382AA773DF2}"/>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6224DA16-85F3-6E97-679C-A1D01A9B14C6}"/>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 name="ZoneTexte 1">
            <a:extLst>
              <a:ext uri="{FF2B5EF4-FFF2-40B4-BE49-F238E27FC236}">
                <a16:creationId xmlns:a16="http://schemas.microsoft.com/office/drawing/2014/main" id="{DD4D3AD8-6A7E-D793-3B9D-E91F5AE1237B}"/>
              </a:ext>
            </a:extLst>
          </p:cNvPr>
          <p:cNvSpPr txBox="1"/>
          <p:nvPr/>
        </p:nvSpPr>
        <p:spPr>
          <a:xfrm>
            <a:off x="813193" y="607196"/>
            <a:ext cx="5950414" cy="1569660"/>
          </a:xfrm>
          <a:prstGeom prst="rect">
            <a:avLst/>
          </a:prstGeom>
          <a:noFill/>
        </p:spPr>
        <p:txBody>
          <a:bodyPr wrap="square">
            <a:spAutoFit/>
          </a:bodyPr>
          <a:lstStyle/>
          <a:p>
            <a:pPr algn="ctr"/>
            <a:r>
              <a:rPr lang="fr-FR" sz="3200" dirty="0">
                <a:solidFill>
                  <a:srgbClr val="4A453F"/>
                </a:solidFill>
                <a:latin typeface="Baskerville Old Face" panose="02020602080505020303" pitchFamily="18" charset="0"/>
              </a:rPr>
              <a:t>Exclusif !</a:t>
            </a:r>
          </a:p>
          <a:p>
            <a:pPr algn="ctr"/>
            <a:r>
              <a:rPr lang="fr-FR" sz="2400" dirty="0">
                <a:solidFill>
                  <a:srgbClr val="4A453F"/>
                </a:solidFill>
                <a:latin typeface="Baskerville Old Face" panose="02020602080505020303" pitchFamily="18" charset="0"/>
              </a:rPr>
              <a:t>Entretien avec le druide le plus imprévisible des îles du Levant</a:t>
            </a:r>
          </a:p>
          <a:p>
            <a:pPr algn="ctr">
              <a:spcBef>
                <a:spcPts val="300"/>
              </a:spcBef>
            </a:pPr>
            <a:r>
              <a:rPr lang="fr-FR" sz="1100" dirty="0">
                <a:solidFill>
                  <a:srgbClr val="4A453F"/>
                </a:solidFill>
                <a:latin typeface="Baskerville Old Face" panose="02020602080505020303" pitchFamily="18" charset="0"/>
              </a:rPr>
              <a:t>Article réalisé au risque de sa santé mentale par notre fossoyeur de ragots </a:t>
            </a:r>
            <a:r>
              <a:rPr lang="fr-FR" sz="1100" dirty="0" err="1">
                <a:solidFill>
                  <a:srgbClr val="4A453F"/>
                </a:solidFill>
                <a:latin typeface="Baskerville Old Face" panose="02020602080505020303" pitchFamily="18" charset="0"/>
              </a:rPr>
              <a:t>Pass</a:t>
            </a:r>
            <a:r>
              <a:rPr lang="fr-FR" sz="1100" dirty="0">
                <a:solidFill>
                  <a:srgbClr val="4A453F"/>
                </a:solidFill>
                <a:latin typeface="Baskerville Old Face" panose="02020602080505020303" pitchFamily="18" charset="0"/>
              </a:rPr>
              <a:t> </a:t>
            </a:r>
            <a:r>
              <a:rPr lang="fr-FR" sz="1100" dirty="0" err="1">
                <a:solidFill>
                  <a:srgbClr val="4A453F"/>
                </a:solidFill>
                <a:latin typeface="Baskerville Old Face" panose="02020602080505020303" pitchFamily="18" charset="0"/>
              </a:rPr>
              <a:t>Kalpro</a:t>
            </a:r>
            <a:r>
              <a:rPr lang="fr-FR" sz="1100" dirty="0">
                <a:solidFill>
                  <a:srgbClr val="4A453F"/>
                </a:solidFill>
                <a:latin typeface="Baskerville Old Face" panose="02020602080505020303" pitchFamily="18" charset="0"/>
              </a:rPr>
              <a:t> </a:t>
            </a:r>
          </a:p>
        </p:txBody>
      </p:sp>
      <p:sp>
        <p:nvSpPr>
          <p:cNvPr id="17" name="ZoneTexte 16">
            <a:extLst>
              <a:ext uri="{FF2B5EF4-FFF2-40B4-BE49-F238E27FC236}">
                <a16:creationId xmlns:a16="http://schemas.microsoft.com/office/drawing/2014/main" id="{F55DD8A0-44CC-DF1C-EF9D-68A1585C128B}"/>
              </a:ext>
            </a:extLst>
          </p:cNvPr>
          <p:cNvSpPr txBox="1"/>
          <p:nvPr/>
        </p:nvSpPr>
        <p:spPr>
          <a:xfrm>
            <a:off x="179494" y="2414288"/>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Tout le monde le connaît à </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surtout à l’Auberge du Poulpe Mirifique, mais bien peu ont réussi à s’entretenir avec lui.  Pourtant d’aucuns disent que sa parole est d’or. Préférant fuir les mondanités et autres futilités </a:t>
            </a:r>
            <a:r>
              <a:rPr lang="fr-FR" sz="1100" dirty="0" err="1">
                <a:solidFill>
                  <a:srgbClr val="4A453F"/>
                </a:solidFill>
                <a:latin typeface="Baskerville Old Face" panose="02020602080505020303" pitchFamily="18" charset="0"/>
              </a:rPr>
              <a:t>noblionnes</a:t>
            </a:r>
            <a:r>
              <a:rPr lang="fr-FR" sz="1100" dirty="0">
                <a:solidFill>
                  <a:srgbClr val="4A453F"/>
                </a:solidFill>
                <a:latin typeface="Baskerville Old Face" panose="02020602080505020303" pitchFamily="18" charset="0"/>
              </a:rPr>
              <a:t>, celui que l’on surnomme Le ver décavé habite une masure dans une clairière, à l’orée des bois de </a:t>
            </a:r>
            <a:r>
              <a:rPr lang="fr-FR" sz="1100" dirty="0" err="1">
                <a:solidFill>
                  <a:srgbClr val="4A453F"/>
                </a:solidFill>
                <a:latin typeface="Baskerville Old Face" panose="02020602080505020303" pitchFamily="18" charset="0"/>
              </a:rPr>
              <a:t>Chênemort</a:t>
            </a:r>
            <a:r>
              <a:rPr lang="fr-FR" sz="1100" dirty="0">
                <a:solidFill>
                  <a:srgbClr val="4A453F"/>
                </a:solidFill>
                <a:latin typeface="Baskerville Old Face" panose="02020602080505020303" pitchFamily="18" charset="0"/>
              </a:rPr>
              <a:t>. C’est ici que rendez-vous fut pris avec votre serviteur pour un entretien qui allait se révéler haut en couleurs, sous le regard inquisiteur et méfiant d’un blaireau épileptique.</a:t>
            </a:r>
          </a:p>
          <a:p>
            <a:pPr algn="just"/>
            <a:endParaRPr lang="fr-FR" sz="11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sym typeface="Wingdings 2" panose="05020102010507070707" pitchFamily="18" charset="2"/>
              </a:rPr>
              <a:t></a:t>
            </a:r>
          </a:p>
          <a:p>
            <a:pPr algn="ctr"/>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Gazette : Bonjour </a:t>
            </a:r>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 Avant tout, merci de nous recevoir dans votre humble clairière, à cette heure aussi matinale </a:t>
            </a:r>
            <a:r>
              <a:rPr lang="fr-FR" sz="1100" i="1" dirty="0">
                <a:solidFill>
                  <a:srgbClr val="4A453F"/>
                </a:solidFill>
                <a:latin typeface="Baskerville Old Face" panose="02020602080505020303" pitchFamily="18" charset="0"/>
              </a:rPr>
              <a:t>(ndlr : il devait être midi)</a:t>
            </a:r>
            <a:r>
              <a:rPr lang="fr-FR" sz="1100" dirty="0">
                <a:solidFill>
                  <a:srgbClr val="4A453F"/>
                </a:solidFill>
                <a:latin typeface="Baskerville Old Face" panose="02020602080505020303" pitchFamily="18" charset="0"/>
              </a:rPr>
              <a:t>.</a:t>
            </a:r>
          </a:p>
          <a:p>
            <a:pPr algn="just"/>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 Vous avez amené l’hydromel ? Une seule outre ?? Ah ces radins de scribouillards… Euh oui, bonjour à vous aussi.</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Gazette : </a:t>
            </a:r>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que pouvez-vous nous dire sur ces six morts retrouvés brûlés avec des branchies ?</a:t>
            </a:r>
          </a:p>
          <a:p>
            <a:pPr algn="just"/>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 Ah. Oui. Les morts. Enfin… ils étaient morts quand je les ai vus. Les branchies, en revanche, ça me parle. </a:t>
            </a:r>
            <a:r>
              <a:rPr lang="fr-FR" sz="1100" i="1" dirty="0">
                <a:solidFill>
                  <a:srgbClr val="4A453F"/>
                </a:solidFill>
                <a:latin typeface="Baskerville Old Face" panose="02020602080505020303" pitchFamily="18" charset="0"/>
              </a:rPr>
              <a:t>(Il cligne des yeux)</a:t>
            </a:r>
            <a:r>
              <a:rPr lang="fr-FR" sz="1100" dirty="0">
                <a:solidFill>
                  <a:srgbClr val="4A453F"/>
                </a:solidFill>
                <a:latin typeface="Baskerville Old Face" panose="02020602080505020303" pitchFamily="18" charset="0"/>
              </a:rPr>
              <a:t> Ou alors c’était des moustaches. Non. Des branchies. Ça gratte, les branchies. Mauvais signe.</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G : Pensez-vous qu’il s’agisse d’un phénomène naturel ?</a:t>
            </a:r>
          </a:p>
          <a:p>
            <a:pPr algn="just"/>
            <a:r>
              <a:rPr lang="fr-FR" sz="1100" dirty="0">
                <a:solidFill>
                  <a:srgbClr val="4A453F"/>
                </a:solidFill>
                <a:latin typeface="Baskerville Old Face" panose="02020602080505020303" pitchFamily="18" charset="0"/>
              </a:rPr>
              <a:t>R : Naturel ? Bien sûr que non ! Rien n’est naturel après le troisième verre. Mais plus sérieusement — hic — la nature, quand elle mélange le feu et l’eau, c’est qu’elle est très fâchée. Ou très ivre. Comme moi, hier. Enfin j’dis ça, j’dis rien. Peu de gens peuvent comprendre ces choses. Même moi, je n’y comprends pas toujours grand-chose… </a:t>
            </a:r>
          </a:p>
        </p:txBody>
      </p:sp>
      <p:sp>
        <p:nvSpPr>
          <p:cNvPr id="3" name="ZoneTexte 2">
            <a:extLst>
              <a:ext uri="{FF2B5EF4-FFF2-40B4-BE49-F238E27FC236}">
                <a16:creationId xmlns:a16="http://schemas.microsoft.com/office/drawing/2014/main" id="{E20851D6-CA6A-9AD1-9C8B-CC1DA8B44825}"/>
              </a:ext>
            </a:extLst>
          </p:cNvPr>
          <p:cNvSpPr txBox="1"/>
          <p:nvPr/>
        </p:nvSpPr>
        <p:spPr>
          <a:xfrm>
            <a:off x="2628000" y="2414287"/>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G : Certains parlent d’un rituel druidique interdit. Qu’en dites-vous ?</a:t>
            </a:r>
          </a:p>
          <a:p>
            <a:pPr algn="just"/>
            <a:r>
              <a:rPr lang="fr-FR" sz="1100" dirty="0">
                <a:solidFill>
                  <a:srgbClr val="4A453F"/>
                </a:solidFill>
                <a:latin typeface="Baskerville Old Face" panose="02020602080505020303" pitchFamily="18" charset="0"/>
              </a:rPr>
              <a:t>R </a:t>
            </a:r>
            <a:r>
              <a:rPr lang="fr-FR" sz="1100" i="1" dirty="0">
                <a:solidFill>
                  <a:srgbClr val="4A453F"/>
                </a:solidFill>
                <a:latin typeface="Baskerville Old Face" panose="02020602080505020303" pitchFamily="18" charset="0"/>
              </a:rPr>
              <a:t>(outré)</a:t>
            </a:r>
            <a:r>
              <a:rPr lang="fr-FR" sz="1100" dirty="0">
                <a:solidFill>
                  <a:srgbClr val="4A453F"/>
                </a:solidFill>
                <a:latin typeface="Baskerville Old Face" panose="02020602080505020303" pitchFamily="18" charset="0"/>
              </a:rPr>
              <a:t> : Oh non </a:t>
            </a:r>
            <a:r>
              <a:rPr lang="fr-FR" sz="1100" dirty="0" err="1">
                <a:solidFill>
                  <a:srgbClr val="4A453F"/>
                </a:solidFill>
                <a:latin typeface="Baskerville Old Face" panose="02020602080505020303" pitchFamily="18" charset="0"/>
              </a:rPr>
              <a:t>non</a:t>
            </a:r>
            <a:r>
              <a:rPr lang="fr-FR" sz="1100" dirty="0">
                <a:solidFill>
                  <a:srgbClr val="4A453F"/>
                </a:solidFill>
                <a:latin typeface="Baskerville Old Face" panose="02020602080505020303" pitchFamily="18" charset="0"/>
              </a:rPr>
              <a:t> </a:t>
            </a:r>
            <a:r>
              <a:rPr lang="fr-FR" sz="1100" dirty="0" err="1">
                <a:solidFill>
                  <a:srgbClr val="4A453F"/>
                </a:solidFill>
                <a:latin typeface="Baskerville Old Face" panose="02020602080505020303" pitchFamily="18" charset="0"/>
              </a:rPr>
              <a:t>non</a:t>
            </a:r>
            <a:r>
              <a:rPr lang="fr-FR" sz="1100" dirty="0">
                <a:solidFill>
                  <a:srgbClr val="4A453F"/>
                </a:solidFill>
                <a:latin typeface="Baskerville Old Face" panose="02020602080505020303" pitchFamily="18" charset="0"/>
              </a:rPr>
              <a:t> ! Les druides responsables, ils font pousser des champignons fluorescents ou transforment les nobles en chèvres. Des branchies brûlées, ça, c’est soit de la magie ratée, soit un pari stupide. J’ai perdu un cousin comme ça.</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G : Vous avez été vu près du port la nuit précédente…</a:t>
            </a:r>
          </a:p>
          <a:p>
            <a:pPr algn="just"/>
            <a:r>
              <a:rPr lang="fr-FR" sz="1100" dirty="0">
                <a:solidFill>
                  <a:srgbClr val="4A453F"/>
                </a:solidFill>
                <a:latin typeface="Baskerville Old Face" panose="02020602080505020303" pitchFamily="18" charset="0"/>
              </a:rPr>
              <a:t>R : Calomnie ! J’étais dans la forêt. Bon… la forêt près de l’eau. Bon… d’accord, dans l’eau. Mais pas en feu ! Ça, je m’en souviendrais. Enfin, je crois.</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G : Craignez-vous un danger pour la population ?</a:t>
            </a:r>
          </a:p>
          <a:p>
            <a:pPr algn="just"/>
            <a:r>
              <a:rPr lang="fr-FR" sz="1100" dirty="0">
                <a:solidFill>
                  <a:srgbClr val="4A453F"/>
                </a:solidFill>
                <a:latin typeface="Baskerville Old Face" panose="02020602080505020303" pitchFamily="18" charset="0"/>
              </a:rPr>
              <a:t>R </a:t>
            </a:r>
            <a:r>
              <a:rPr lang="fr-FR" sz="1100" i="1" dirty="0">
                <a:solidFill>
                  <a:srgbClr val="4A453F"/>
                </a:solidFill>
                <a:latin typeface="Baskerville Old Face" panose="02020602080505020303" pitchFamily="18" charset="0"/>
              </a:rPr>
              <a:t>(chuchotant soudain)</a:t>
            </a:r>
            <a:r>
              <a:rPr lang="fr-FR" sz="1100" dirty="0">
                <a:solidFill>
                  <a:srgbClr val="4A453F"/>
                </a:solidFill>
                <a:latin typeface="Baskerville Old Face" panose="02020602080505020303" pitchFamily="18" charset="0"/>
              </a:rPr>
              <a:t> : Écoutez-moi bien. Si vous voyez quelqu’un transpirer de la fumée et respirer sous l’eau… ne l’invitez pas à dîner. C’est toujours comme ça que ça commence.</a:t>
            </a:r>
          </a:p>
        </p:txBody>
      </p:sp>
      <p:sp>
        <p:nvSpPr>
          <p:cNvPr id="6" name="ZoneTexte 5">
            <a:extLst>
              <a:ext uri="{FF2B5EF4-FFF2-40B4-BE49-F238E27FC236}">
                <a16:creationId xmlns:a16="http://schemas.microsoft.com/office/drawing/2014/main" id="{691F64DC-D56A-65EC-9133-CBA4675D85BE}"/>
              </a:ext>
            </a:extLst>
          </p:cNvPr>
          <p:cNvSpPr txBox="1"/>
          <p:nvPr/>
        </p:nvSpPr>
        <p:spPr>
          <a:xfrm>
            <a:off x="5076000" y="2414286"/>
            <a:ext cx="2304000" cy="276999"/>
          </a:xfrm>
          <a:prstGeom prst="rect">
            <a:avLst/>
          </a:prstGeom>
          <a:noFill/>
          <a:ln>
            <a:noFill/>
          </a:ln>
        </p:spPr>
        <p:txBody>
          <a:bodyPr wrap="square" lIns="0" tIns="0" rIns="0" bIns="0" rtlCol="0">
            <a:noAutofit/>
          </a:bodyPr>
          <a:lstStyle/>
          <a:p>
            <a:pPr algn="just"/>
            <a:r>
              <a:rPr lang="fr-FR" sz="1100" dirty="0">
                <a:solidFill>
                  <a:srgbClr val="4A453F"/>
                </a:solidFill>
                <a:latin typeface="Baskerville Old Face" panose="02020602080505020303" pitchFamily="18" charset="0"/>
              </a:rPr>
              <a:t>G: Un dernier message pour nos fidèles lecteurs ?</a:t>
            </a:r>
          </a:p>
          <a:p>
            <a:pPr algn="just"/>
            <a:r>
              <a:rPr lang="fr-FR" sz="1100" dirty="0">
                <a:solidFill>
                  <a:srgbClr val="4A453F"/>
                </a:solidFill>
                <a:latin typeface="Baskerville Old Face" panose="02020602080505020303" pitchFamily="18" charset="0"/>
              </a:rPr>
              <a:t>R : Oui. Respectez la nature. Et si la nature vous propose des branchies en échange de votre âme… négociez.</a:t>
            </a:r>
          </a:p>
          <a:p>
            <a:pPr algn="just"/>
            <a:r>
              <a:rPr lang="fr-FR" sz="1100" i="1" dirty="0">
                <a:solidFill>
                  <a:srgbClr val="4A453F"/>
                </a:solidFill>
                <a:latin typeface="Baskerville Old Face" panose="02020602080505020303" pitchFamily="18" charset="0"/>
              </a:rPr>
              <a:t>(Il lève son gobelet)</a:t>
            </a:r>
          </a:p>
          <a:p>
            <a:pPr algn="just"/>
            <a:r>
              <a:rPr lang="fr-FR" sz="1100" dirty="0">
                <a:solidFill>
                  <a:srgbClr val="4A453F"/>
                </a:solidFill>
                <a:latin typeface="Baskerville Old Face" panose="02020602080505020303" pitchFamily="18" charset="0"/>
              </a:rPr>
              <a:t>Et apportez de l’hydromel.</a:t>
            </a:r>
          </a:p>
          <a:p>
            <a:pPr algn="just"/>
            <a:endParaRPr lang="fr-FR" sz="11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sym typeface="Wingdings 2" panose="05020102010507070707" pitchFamily="18" charset="2"/>
              </a:rPr>
              <a:t></a:t>
            </a:r>
          </a:p>
          <a:p>
            <a:pPr algn="just"/>
            <a:endParaRPr lang="fr-FR" sz="1100" dirty="0">
              <a:solidFill>
                <a:srgbClr val="4A453F"/>
              </a:solidFill>
              <a:latin typeface="Baskerville Old Face" panose="02020602080505020303" pitchFamily="18" charset="0"/>
            </a:endParaRPr>
          </a:p>
          <a:p>
            <a:pPr algn="just"/>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n’a peut-être pas toute sa tête, mais dans ses paroles embuées d’alcool se cache parfois une vérité dérangeante. Accident </a:t>
            </a:r>
            <a:r>
              <a:rPr lang="fr-FR" sz="1100" dirty="0" err="1">
                <a:solidFill>
                  <a:srgbClr val="4A453F"/>
                </a:solidFill>
                <a:latin typeface="Baskerville Old Face" panose="02020602080505020303" pitchFamily="18" charset="0"/>
              </a:rPr>
              <a:t>arcanique</a:t>
            </a:r>
            <a:r>
              <a:rPr lang="fr-FR" sz="1100" dirty="0">
                <a:solidFill>
                  <a:srgbClr val="4A453F"/>
                </a:solidFill>
                <a:latin typeface="Baskerville Old Face" panose="02020602080505020303" pitchFamily="18" charset="0"/>
              </a:rPr>
              <a:t>, pacte abyssal ou simple soirée qui a très mal tourné ? Une chose est sûre : le druide sait… même s’il a oublié quoi.</a:t>
            </a:r>
          </a:p>
          <a:p>
            <a:pPr algn="just"/>
            <a:endParaRPr lang="fr-FR" sz="11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sym typeface="Wingdings 2" panose="05020102010507070707" pitchFamily="18" charset="2"/>
              </a:rPr>
              <a:t></a:t>
            </a:r>
          </a:p>
          <a:p>
            <a:pPr algn="just"/>
            <a:endParaRPr lang="fr-FR" sz="1100" dirty="0">
              <a:solidFill>
                <a:srgbClr val="4A453F"/>
              </a:solidFill>
              <a:latin typeface="Baskerville Old Face" panose="02020602080505020303" pitchFamily="18" charset="0"/>
            </a:endParaRPr>
          </a:p>
          <a:p>
            <a:pPr algn="just"/>
            <a:r>
              <a:rPr lang="fr-FR" sz="1100" dirty="0">
                <a:solidFill>
                  <a:srgbClr val="4A453F"/>
                </a:solidFill>
                <a:latin typeface="Baskerville Old Face" panose="02020602080505020303" pitchFamily="18" charset="0"/>
              </a:rPr>
              <a:t>À suivre dans notre prochaine édition : “Le blaireau de </a:t>
            </a:r>
            <a:r>
              <a:rPr lang="fr-FR" sz="1100" dirty="0" err="1">
                <a:solidFill>
                  <a:srgbClr val="4A453F"/>
                </a:solidFill>
                <a:latin typeface="Baskerville Old Face" panose="02020602080505020303" pitchFamily="18" charset="0"/>
              </a:rPr>
              <a:t>Radagst</a:t>
            </a:r>
            <a:r>
              <a:rPr lang="fr-FR" sz="1100" dirty="0">
                <a:solidFill>
                  <a:srgbClr val="4A453F"/>
                </a:solidFill>
                <a:latin typeface="Baskerville Old Face" panose="02020602080505020303" pitchFamily="18" charset="0"/>
              </a:rPr>
              <a:t> est-il un familier démoniaque ?”</a:t>
            </a:r>
          </a:p>
          <a:p>
            <a:pPr algn="just"/>
            <a:endParaRPr lang="fr-FR" sz="1100" dirty="0">
              <a:solidFill>
                <a:srgbClr val="4A453F"/>
              </a:solidFill>
              <a:latin typeface="Baskerville Old Face" panose="02020602080505020303" pitchFamily="18" charset="0"/>
            </a:endParaRPr>
          </a:p>
        </p:txBody>
      </p:sp>
      <p:cxnSp>
        <p:nvCxnSpPr>
          <p:cNvPr id="18" name="Connecteur droit 17">
            <a:extLst>
              <a:ext uri="{FF2B5EF4-FFF2-40B4-BE49-F238E27FC236}">
                <a16:creationId xmlns:a16="http://schemas.microsoft.com/office/drawing/2014/main" id="{C6CD31ED-475D-A633-BE66-9156D06FD774}"/>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6151D2D6-18B3-2DAD-B6B0-AA7C79B66044}"/>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1034C061-CB76-1874-557C-29CB79F33970}"/>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3</a:t>
            </a:r>
          </a:p>
        </p:txBody>
      </p:sp>
      <p:grpSp>
        <p:nvGrpSpPr>
          <p:cNvPr id="9" name="Groupe 8">
            <a:extLst>
              <a:ext uri="{FF2B5EF4-FFF2-40B4-BE49-F238E27FC236}">
                <a16:creationId xmlns:a16="http://schemas.microsoft.com/office/drawing/2014/main" id="{F20EAE1C-D6FD-F4D0-1201-73E30750CB95}"/>
              </a:ext>
            </a:extLst>
          </p:cNvPr>
          <p:cNvGrpSpPr/>
          <p:nvPr/>
        </p:nvGrpSpPr>
        <p:grpSpPr>
          <a:xfrm>
            <a:off x="3052985" y="6486392"/>
            <a:ext cx="3902400" cy="3902400"/>
            <a:chOff x="3052985" y="6460992"/>
            <a:chExt cx="3902400" cy="3902400"/>
          </a:xfrm>
        </p:grpSpPr>
        <p:pic>
          <p:nvPicPr>
            <p:cNvPr id="16" name="Image 15" descr="Une image contenant peinture, dessin, art, croquis&#10;&#10;Le contenu généré par l’IA peut être incorrect.">
              <a:extLst>
                <a:ext uri="{FF2B5EF4-FFF2-40B4-BE49-F238E27FC236}">
                  <a16:creationId xmlns:a16="http://schemas.microsoft.com/office/drawing/2014/main" id="{4B66D775-1865-44AF-1386-4F71A84EC280}"/>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3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76800" y="6484808"/>
              <a:ext cx="3852000" cy="3852000"/>
            </a:xfrm>
            <a:prstGeom prst="rect">
              <a:avLst/>
            </a:prstGeom>
          </p:spPr>
        </p:pic>
        <p:sp>
          <p:nvSpPr>
            <p:cNvPr id="8" name="Rectangle 7">
              <a:extLst>
                <a:ext uri="{FF2B5EF4-FFF2-40B4-BE49-F238E27FC236}">
                  <a16:creationId xmlns:a16="http://schemas.microsoft.com/office/drawing/2014/main" id="{FC71C275-C814-984A-AD9B-03090A32C676}"/>
                </a:ext>
              </a:extLst>
            </p:cNvPr>
            <p:cNvSpPr/>
            <p:nvPr/>
          </p:nvSpPr>
          <p:spPr>
            <a:xfrm>
              <a:off x="3052985" y="6460992"/>
              <a:ext cx="3902400" cy="3902400"/>
            </a:xfrm>
            <a:prstGeom prst="rect">
              <a:avLst/>
            </a:prstGeom>
            <a:noFill/>
            <a:ln>
              <a:solidFill>
                <a:srgbClr val="4A4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1" name="Groupe 20">
            <a:extLst>
              <a:ext uri="{FF2B5EF4-FFF2-40B4-BE49-F238E27FC236}">
                <a16:creationId xmlns:a16="http://schemas.microsoft.com/office/drawing/2014/main" id="{A5FFF51B-D63B-5485-110B-445B6FB05AEC}"/>
              </a:ext>
            </a:extLst>
          </p:cNvPr>
          <p:cNvGrpSpPr/>
          <p:nvPr/>
        </p:nvGrpSpPr>
        <p:grpSpPr>
          <a:xfrm>
            <a:off x="2736575" y="2126056"/>
            <a:ext cx="2086525" cy="276999"/>
            <a:chOff x="2483494" y="2126056"/>
            <a:chExt cx="2086525" cy="276999"/>
          </a:xfrm>
        </p:grpSpPr>
        <p:cxnSp>
          <p:nvCxnSpPr>
            <p:cNvPr id="13" name="Connecteur droit 12">
              <a:extLst>
                <a:ext uri="{FF2B5EF4-FFF2-40B4-BE49-F238E27FC236}">
                  <a16:creationId xmlns:a16="http://schemas.microsoft.com/office/drawing/2014/main" id="{5DD5B4FE-9BED-E3D5-D2CA-74CD1A5E3698}"/>
                </a:ext>
              </a:extLst>
            </p:cNvPr>
            <p:cNvCxnSpPr>
              <a:cxnSpLocks/>
            </p:cNvCxnSpPr>
            <p:nvPr/>
          </p:nvCxnSpPr>
          <p:spPr>
            <a:xfrm>
              <a:off x="2483494" y="2259406"/>
              <a:ext cx="86105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4E2FBED7-3E3A-F22B-A8C0-CE26670CE70C}"/>
                </a:ext>
              </a:extLst>
            </p:cNvPr>
            <p:cNvCxnSpPr>
              <a:cxnSpLocks/>
            </p:cNvCxnSpPr>
            <p:nvPr/>
          </p:nvCxnSpPr>
          <p:spPr>
            <a:xfrm>
              <a:off x="3708969" y="2259406"/>
              <a:ext cx="861050" cy="0"/>
            </a:xfrm>
            <a:prstGeom prst="line">
              <a:avLst/>
            </a:prstGeom>
            <a:ln>
              <a:solidFill>
                <a:srgbClr val="4A453F"/>
              </a:solidFill>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4F33CD5F-4256-2F7B-2270-87F70EC580D8}"/>
                </a:ext>
              </a:extLst>
            </p:cNvPr>
            <p:cNvSpPr txBox="1"/>
            <p:nvPr/>
          </p:nvSpPr>
          <p:spPr>
            <a:xfrm>
              <a:off x="3357244" y="2126056"/>
              <a:ext cx="363856" cy="276999"/>
            </a:xfrm>
            <a:prstGeom prst="rect">
              <a:avLst/>
            </a:prstGeom>
            <a:noFill/>
          </p:spPr>
          <p:txBody>
            <a:bodyPr wrap="square" lIns="0" tIns="0" rIns="0" bIns="0" rtlCol="0" anchor="ctr">
              <a:spAutoFit/>
            </a:bodyPr>
            <a:lstStyle/>
            <a:p>
              <a:pPr algn="ctr"/>
              <a:r>
                <a:rPr lang="fr-FR" dirty="0">
                  <a:sym typeface="Wingdings 2" panose="05020102010507070707" pitchFamily="18" charset="2"/>
                </a:rPr>
                <a:t></a:t>
              </a:r>
              <a:endParaRPr lang="fr-FR" dirty="0"/>
            </a:p>
          </p:txBody>
        </p:sp>
      </p:grpSp>
    </p:spTree>
    <p:extLst>
      <p:ext uri="{BB962C8B-B14F-4D97-AF65-F5344CB8AC3E}">
        <p14:creationId xmlns:p14="http://schemas.microsoft.com/office/powerpoint/2010/main" val="24560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0" sx="100000" sy="100000" flip="none" algn="tl"/>
        </a:blipFill>
        <a:effectLst/>
      </p:bgPr>
    </p:bg>
    <p:spTree>
      <p:nvGrpSpPr>
        <p:cNvPr id="1" name="">
          <a:extLst>
            <a:ext uri="{FF2B5EF4-FFF2-40B4-BE49-F238E27FC236}">
              <a16:creationId xmlns:a16="http://schemas.microsoft.com/office/drawing/2014/main" id="{9762F33F-C8B3-7F5B-CA5D-902C28C9763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8B3BA933-E7CC-DA6C-15B7-95D0993C8FAC}"/>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EAACFCDF-45AB-C465-5675-5CB5847C32D3}"/>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6763BEE2-B934-3DA2-44B1-70B0219B4843}"/>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1A8AC008-4DB3-07A0-06D1-C80B889D4C29}"/>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DB5F68A7-5158-60A8-8ED4-75A3258AE071}"/>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9A605B30-9027-D741-7BB2-C52B21A0932B}"/>
              </a:ext>
            </a:extLst>
          </p:cNvPr>
          <p:cNvSpPr txBox="1"/>
          <p:nvPr/>
        </p:nvSpPr>
        <p:spPr>
          <a:xfrm>
            <a:off x="179494" y="771997"/>
            <a:ext cx="2304000" cy="276999"/>
          </a:xfrm>
          <a:prstGeom prst="rect">
            <a:avLst/>
          </a:prstGeom>
          <a:noFill/>
          <a:ln>
            <a:noFill/>
          </a:ln>
        </p:spPr>
        <p:txBody>
          <a:bodyPr wrap="square" lIns="0" tIns="0" rIns="0" bIns="0" rtlCol="0">
            <a:noAutofit/>
          </a:bodyPr>
          <a:lstStyle/>
          <a:p>
            <a:pPr algn="ctr"/>
            <a:r>
              <a:rPr lang="fr-FR" dirty="0">
                <a:solidFill>
                  <a:srgbClr val="4A453F"/>
                </a:solidFill>
                <a:latin typeface="Baskerville Old Face" panose="02020602080505020303" pitchFamily="18" charset="0"/>
              </a:rPr>
              <a:t>Chroniques politiques</a:t>
            </a:r>
          </a:p>
          <a:p>
            <a:endParaRPr lang="fr-FR" sz="1400" dirty="0">
              <a:solidFill>
                <a:srgbClr val="4A453F"/>
              </a:solidFill>
              <a:latin typeface="Baskerville Old Face" panose="02020602080505020303" pitchFamily="18" charset="0"/>
            </a:endParaRPr>
          </a:p>
          <a:p>
            <a:r>
              <a:rPr lang="fr-FR" sz="1400" dirty="0">
                <a:solidFill>
                  <a:srgbClr val="4A453F"/>
                </a:solidFill>
                <a:latin typeface="Baskerville Old Face" panose="02020602080505020303" pitchFamily="18" charset="0"/>
              </a:rPr>
              <a:t>La mer gronde !</a:t>
            </a:r>
          </a:p>
          <a:p>
            <a:pPr algn="just">
              <a:spcBef>
                <a:spcPts val="600"/>
              </a:spcBef>
            </a:pPr>
            <a:r>
              <a:rPr lang="fr-FR" sz="1100" dirty="0">
                <a:solidFill>
                  <a:srgbClr val="4A453F"/>
                </a:solidFill>
                <a:latin typeface="Baskerville Old Face" panose="02020602080505020303" pitchFamily="18" charset="0"/>
              </a:rPr>
              <a:t>Les vents salés portent de sombres rumeurs entre les îles du Levant et les rivages de l’Empire </a:t>
            </a:r>
            <a:r>
              <a:rPr lang="fr-FR" sz="1100" dirty="0" err="1">
                <a:solidFill>
                  <a:srgbClr val="4A453F"/>
                </a:solidFill>
                <a:latin typeface="Baskerville Old Face" panose="02020602080505020303" pitchFamily="18" charset="0"/>
              </a:rPr>
              <a:t>Tchélène</a:t>
            </a:r>
            <a:r>
              <a:rPr lang="fr-FR" sz="1100" dirty="0">
                <a:solidFill>
                  <a:srgbClr val="4A453F"/>
                </a:solidFill>
                <a:latin typeface="Baskerville Old Face" panose="02020602080505020303" pitchFamily="18" charset="0"/>
              </a:rPr>
              <a:t>. Depuis des lunes, les routes maritimes sont troublées par des escarmouches et des taxes imposées de force. La Confédération, farouchement attachée à son autonomie, voit dans ces gestes une volonté d’assujettissement. Les druides parlent de présages funestes, tandis que les chefs de clans arment leurs nefs. Face à eux, l’Empire </a:t>
            </a:r>
            <a:r>
              <a:rPr lang="fr-FR" sz="1100" dirty="0" err="1">
                <a:solidFill>
                  <a:srgbClr val="4A453F"/>
                </a:solidFill>
                <a:latin typeface="Baskerville Old Face" panose="02020602080505020303" pitchFamily="18" charset="0"/>
              </a:rPr>
              <a:t>Tchélène</a:t>
            </a:r>
            <a:r>
              <a:rPr lang="fr-FR" sz="1100" dirty="0">
                <a:solidFill>
                  <a:srgbClr val="4A453F"/>
                </a:solidFill>
                <a:latin typeface="Baskerville Old Face" panose="02020602080505020303" pitchFamily="18" charset="0"/>
              </a:rPr>
              <a:t> étend ses étendards, invoquant l’ordre et la loi des terres continentales. Mais sous le vernis de la paix imposée, gronde une soif de domination ancienne. Les ports fortifiés se ferment, les marchés murmurent, et la peur circule plus vite que l’or. Des messagers disparaissent en mer, laissant place aux soupçons et aux serments brisés. Chaque marée rapproche un peu plus les deux puissances du point de rupture. Et nul ne sait si l’aube prochaine verra la guerre ou un fragile accord scellé dans le sang et le sel.</a:t>
            </a:r>
          </a:p>
          <a:p>
            <a:pPr algn="just">
              <a:spcBef>
                <a:spcPts val="600"/>
              </a:spcBef>
            </a:pPr>
            <a:endParaRPr lang="fr-FR" sz="11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sym typeface="Wingdings 2" panose="05020102010507070707" pitchFamily="18" charset="2"/>
              </a:rPr>
              <a:t></a:t>
            </a:r>
          </a:p>
          <a:p>
            <a:pPr algn="ctr"/>
            <a:endParaRPr lang="fr-FR" sz="1100" dirty="0">
              <a:solidFill>
                <a:srgbClr val="4A453F"/>
              </a:solidFill>
              <a:latin typeface="Baskerville Old Face" panose="02020602080505020303" pitchFamily="18" charset="0"/>
              <a:sym typeface="Wingdings 2" panose="05020102010507070707" pitchFamily="18" charset="2"/>
            </a:endParaRPr>
          </a:p>
          <a:p>
            <a:r>
              <a:rPr lang="fr-FR" sz="1400" dirty="0">
                <a:solidFill>
                  <a:srgbClr val="4A453F"/>
                </a:solidFill>
                <a:latin typeface="Baskerville Old Face" panose="02020602080505020303" pitchFamily="18" charset="0"/>
              </a:rPr>
              <a:t>L’or s’arrête aux portes de la </a:t>
            </a:r>
            <a:r>
              <a:rPr lang="fr-FR" sz="1400" dirty="0" err="1">
                <a:solidFill>
                  <a:srgbClr val="4A453F"/>
                </a:solidFill>
                <a:latin typeface="Baskerville Old Face" panose="02020602080505020303" pitchFamily="18" charset="0"/>
              </a:rPr>
              <a:t>Styrgie</a:t>
            </a:r>
            <a:endParaRPr lang="fr-FR" sz="1400" dirty="0">
              <a:solidFill>
                <a:srgbClr val="4A453F"/>
              </a:solidFill>
              <a:latin typeface="Baskerville Old Face" panose="02020602080505020303" pitchFamily="18" charset="0"/>
            </a:endParaRPr>
          </a:p>
          <a:p>
            <a:pPr algn="just">
              <a:spcBef>
                <a:spcPts val="600"/>
              </a:spcBef>
            </a:pPr>
            <a:r>
              <a:rPr lang="fr-FR" sz="1100" dirty="0">
                <a:solidFill>
                  <a:srgbClr val="4A453F"/>
                </a:solidFill>
                <a:latin typeface="Baskerville Old Face" panose="02020602080505020303" pitchFamily="18" charset="0"/>
              </a:rPr>
              <a:t>Les caravanes venues du Nord du </a:t>
            </a:r>
            <a:r>
              <a:rPr lang="fr-FR" sz="1100" dirty="0" err="1">
                <a:solidFill>
                  <a:srgbClr val="4A453F"/>
                </a:solidFill>
                <a:latin typeface="Baskerville Old Face" panose="02020602080505020303" pitchFamily="18" charset="0"/>
              </a:rPr>
              <a:t>Krondaar</a:t>
            </a:r>
            <a:r>
              <a:rPr lang="fr-FR" sz="1100" dirty="0">
                <a:solidFill>
                  <a:srgbClr val="4A453F"/>
                </a:solidFill>
                <a:latin typeface="Baskerville Old Face" panose="02020602080505020303" pitchFamily="18" charset="0"/>
              </a:rPr>
              <a:t> se heurtent désormais aux droits de péage exorbitants imposés par la </a:t>
            </a:r>
            <a:r>
              <a:rPr lang="fr-FR" sz="1100" dirty="0" err="1">
                <a:solidFill>
                  <a:srgbClr val="4A453F"/>
                </a:solidFill>
                <a:latin typeface="Baskerville Old Face" panose="02020602080505020303" pitchFamily="18" charset="0"/>
              </a:rPr>
              <a:t>Styrgie</a:t>
            </a:r>
            <a:r>
              <a:rPr lang="fr-FR" sz="1100" dirty="0">
                <a:solidFill>
                  <a:srgbClr val="4A453F"/>
                </a:solidFill>
                <a:latin typeface="Baskerville Old Face" panose="02020602080505020303" pitchFamily="18" charset="0"/>
              </a:rPr>
              <a:t>. Aux cols et aux routes pavées, les collecteurs réclament des sommes qui étranglent le commerce avant même la mer. Étoffes, ambre, minerais et céréales s’entassent dans les chariots immobilisés.</a:t>
            </a:r>
          </a:p>
          <a:p>
            <a:pPr algn="just"/>
            <a:r>
              <a:rPr lang="fr-FR" sz="1100" dirty="0">
                <a:solidFill>
                  <a:srgbClr val="4A453F"/>
                </a:solidFill>
                <a:latin typeface="Baskerville Old Face" panose="02020602080505020303" pitchFamily="18" charset="0"/>
              </a:rPr>
              <a:t>À </a:t>
            </a:r>
            <a:r>
              <a:rPr lang="fr-FR" sz="1100" dirty="0" err="1">
                <a:solidFill>
                  <a:srgbClr val="4A453F"/>
                </a:solidFill>
                <a:latin typeface="Baskerville Old Face" panose="02020602080505020303" pitchFamily="18" charset="0"/>
              </a:rPr>
              <a:t>Ther-Felis</a:t>
            </a:r>
            <a:r>
              <a:rPr lang="fr-FR" sz="1100" dirty="0">
                <a:solidFill>
                  <a:srgbClr val="4A453F"/>
                </a:solidFill>
                <a:latin typeface="Baskerville Old Face" panose="02020602080505020303" pitchFamily="18" charset="0"/>
              </a:rPr>
              <a:t>, les quais demeurent anormalement silencieux, les navires retenus à l’ancre faute de cargaisons. Les capitaines fulminent, comptant les jours perdus et l’or qui s’évapore. Les marchands dénoncent une manœuvre destinée à détourner les flux vers des ports concurrents. L’oblat de la cité, impuissant, voit fondre les offrandes et gronder le mécontentement populaire.</a:t>
            </a:r>
          </a:p>
          <a:p>
            <a:pPr algn="just"/>
            <a:r>
              <a:rPr lang="fr-FR" sz="1100" dirty="0">
                <a:solidFill>
                  <a:srgbClr val="4A453F"/>
                </a:solidFill>
                <a:latin typeface="Baskerville Old Face" panose="02020602080505020303" pitchFamily="18" charset="0"/>
              </a:rPr>
              <a:t>Si la </a:t>
            </a:r>
            <a:r>
              <a:rPr lang="fr-FR" sz="1100" dirty="0" err="1">
                <a:solidFill>
                  <a:srgbClr val="4A453F"/>
                </a:solidFill>
                <a:latin typeface="Baskerville Old Face" panose="02020602080505020303" pitchFamily="18" charset="0"/>
              </a:rPr>
              <a:t>Styrgie</a:t>
            </a:r>
            <a:r>
              <a:rPr lang="fr-FR" sz="1100" dirty="0">
                <a:solidFill>
                  <a:srgbClr val="4A453F"/>
                </a:solidFill>
                <a:latin typeface="Baskerville Old Face" panose="02020602080505020303" pitchFamily="18" charset="0"/>
              </a:rPr>
              <a:t> persiste, c’est toute la route du Sud qui risque de se rompre.</a:t>
            </a:r>
          </a:p>
          <a:p>
            <a:endParaRPr lang="fr-FR" sz="11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p:txBody>
      </p:sp>
      <p:cxnSp>
        <p:nvCxnSpPr>
          <p:cNvPr id="18" name="Connecteur droit 17">
            <a:extLst>
              <a:ext uri="{FF2B5EF4-FFF2-40B4-BE49-F238E27FC236}">
                <a16:creationId xmlns:a16="http://schemas.microsoft.com/office/drawing/2014/main" id="{87D96561-9CE2-33F1-CDF4-82B8121000D9}"/>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40276C61-A084-627E-C961-9581CDEC832F}"/>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CA5544D5-C5A8-BB3E-758A-4E9349DE2FEA}"/>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4</a:t>
            </a:r>
          </a:p>
        </p:txBody>
      </p:sp>
      <p:cxnSp>
        <p:nvCxnSpPr>
          <p:cNvPr id="13" name="Connecteur droit 12">
            <a:extLst>
              <a:ext uri="{FF2B5EF4-FFF2-40B4-BE49-F238E27FC236}">
                <a16:creationId xmlns:a16="http://schemas.microsoft.com/office/drawing/2014/main" id="{72F6074A-9AFA-C828-6BDC-BF38704E209F}"/>
              </a:ext>
            </a:extLst>
          </p:cNvPr>
          <p:cNvCxnSpPr>
            <a:cxnSpLocks/>
          </p:cNvCxnSpPr>
          <p:nvPr/>
        </p:nvCxnSpPr>
        <p:spPr>
          <a:xfrm rot="5400000">
            <a:off x="-1602000" y="5410326"/>
            <a:ext cx="8316000" cy="0"/>
          </a:xfrm>
          <a:prstGeom prst="line">
            <a:avLst/>
          </a:prstGeom>
          <a:ln w="9525">
            <a:solidFill>
              <a:srgbClr val="4A453F"/>
            </a:solidFill>
          </a:ln>
        </p:spPr>
        <p:style>
          <a:lnRef idx="2">
            <a:schemeClr val="accent1"/>
          </a:lnRef>
          <a:fillRef idx="0">
            <a:schemeClr val="accent1"/>
          </a:fillRef>
          <a:effectRef idx="1">
            <a:schemeClr val="accent1"/>
          </a:effectRef>
          <a:fontRef idx="minor">
            <a:schemeClr val="tx1"/>
          </a:fontRef>
        </p:style>
      </p:cxnSp>
      <p:sp>
        <p:nvSpPr>
          <p:cNvPr id="26" name="ZoneTexte 25">
            <a:extLst>
              <a:ext uri="{FF2B5EF4-FFF2-40B4-BE49-F238E27FC236}">
                <a16:creationId xmlns:a16="http://schemas.microsoft.com/office/drawing/2014/main" id="{6CA61644-FEC6-5779-A38D-E15D5ED343C1}"/>
              </a:ext>
            </a:extLst>
          </p:cNvPr>
          <p:cNvSpPr txBox="1"/>
          <p:nvPr/>
        </p:nvSpPr>
        <p:spPr>
          <a:xfrm>
            <a:off x="2628000" y="771997"/>
            <a:ext cx="2304000" cy="276999"/>
          </a:xfrm>
          <a:prstGeom prst="rect">
            <a:avLst/>
          </a:prstGeom>
          <a:noFill/>
          <a:ln>
            <a:noFill/>
          </a:ln>
        </p:spPr>
        <p:txBody>
          <a:bodyPr wrap="square" lIns="0" tIns="0" rIns="0" bIns="0" rtlCol="0">
            <a:noAutofit/>
          </a:bodyPr>
          <a:lstStyle/>
          <a:p>
            <a:pPr algn="ctr"/>
            <a:r>
              <a:rPr lang="fr-FR" dirty="0">
                <a:solidFill>
                  <a:srgbClr val="4A453F"/>
                </a:solidFill>
                <a:latin typeface="Baskerville Old Face" panose="02020602080505020303" pitchFamily="18" charset="0"/>
              </a:rPr>
              <a:t>Aux portes d’Il-</a:t>
            </a:r>
            <a:r>
              <a:rPr lang="fr-FR" dirty="0" err="1">
                <a:solidFill>
                  <a:srgbClr val="4A453F"/>
                </a:solidFill>
                <a:latin typeface="Baskerville Old Face" panose="02020602080505020303" pitchFamily="18" charset="0"/>
              </a:rPr>
              <a:t>Irion</a:t>
            </a:r>
            <a:endParaRPr lang="fr-FR" dirty="0">
              <a:solidFill>
                <a:srgbClr val="4A453F"/>
              </a:solidFill>
              <a:latin typeface="Baskerville Old Face" panose="02020602080505020303" pitchFamily="18" charset="0"/>
            </a:endParaRPr>
          </a:p>
          <a:p>
            <a:endParaRPr lang="fr-FR" sz="1400" dirty="0">
              <a:solidFill>
                <a:srgbClr val="4A453F"/>
              </a:solidFill>
              <a:latin typeface="Baskerville Old Face" panose="02020602080505020303" pitchFamily="18" charset="0"/>
            </a:endParaRPr>
          </a:p>
          <a:p>
            <a:r>
              <a:rPr lang="fr-FR" sz="1400" dirty="0">
                <a:solidFill>
                  <a:srgbClr val="4A453F"/>
                </a:solidFill>
                <a:latin typeface="Baskerville Old Face" panose="02020602080505020303" pitchFamily="18" charset="0"/>
              </a:rPr>
              <a:t>L’ombre gagne les chemins</a:t>
            </a:r>
          </a:p>
          <a:p>
            <a:pPr algn="just">
              <a:spcBef>
                <a:spcPts val="600"/>
              </a:spcBef>
            </a:pPr>
            <a:r>
              <a:rPr lang="fr-FR" sz="1100" dirty="0">
                <a:solidFill>
                  <a:srgbClr val="4A453F"/>
                </a:solidFill>
                <a:latin typeface="Baskerville Old Face" panose="02020602080505020303" pitchFamily="18" charset="0"/>
              </a:rPr>
              <a:t>Les routes d’Il-</a:t>
            </a:r>
            <a:r>
              <a:rPr lang="fr-FR" sz="1100" dirty="0" err="1">
                <a:solidFill>
                  <a:srgbClr val="4A453F"/>
                </a:solidFill>
                <a:latin typeface="Baskerville Old Face" panose="02020602080505020303" pitchFamily="18" charset="0"/>
              </a:rPr>
              <a:t>Irion</a:t>
            </a:r>
            <a:r>
              <a:rPr lang="fr-FR" sz="1100" dirty="0">
                <a:solidFill>
                  <a:srgbClr val="4A453F"/>
                </a:solidFill>
                <a:latin typeface="Baskerville Old Face" panose="02020602080505020303" pitchFamily="18" charset="0"/>
              </a:rPr>
              <a:t>, jadis réputées sûres, inspirent désormais la crainte aux voyageurs. </a:t>
            </a:r>
          </a:p>
          <a:p>
            <a:pPr algn="just"/>
            <a:r>
              <a:rPr lang="fr-FR" sz="1100" dirty="0">
                <a:solidFill>
                  <a:srgbClr val="4A453F"/>
                </a:solidFill>
                <a:latin typeface="Baskerville Old Face" panose="02020602080505020303" pitchFamily="18" charset="0"/>
              </a:rPr>
              <a:t>Ces dernières semaines, artisans, commerçants et même saltimbanques ont été pris pour cibles. Les bourgmestres de l’île ont reçu de multiples signalements évoquant vols et violences. La dernière attaque en date a été rapportée hier, sur la route nord menant à </a:t>
            </a:r>
            <a:r>
              <a:rPr lang="fr-FR" sz="1100" dirty="0" err="1">
                <a:solidFill>
                  <a:srgbClr val="4A453F"/>
                </a:solidFill>
                <a:latin typeface="Baskerville Old Face" panose="02020602080505020303" pitchFamily="18" charset="0"/>
              </a:rPr>
              <a:t>Ulghart</a:t>
            </a:r>
            <a:r>
              <a:rPr lang="fr-FR" sz="1100" dirty="0">
                <a:solidFill>
                  <a:srgbClr val="4A453F"/>
                </a:solidFill>
                <a:latin typeface="Baskerville Old Face" panose="02020602080505020303" pitchFamily="18" charset="0"/>
              </a:rPr>
              <a:t>. Une caravane en provenance d’Il-</a:t>
            </a:r>
            <a:r>
              <a:rPr lang="fr-FR" sz="1100" dirty="0" err="1">
                <a:solidFill>
                  <a:srgbClr val="4A453F"/>
                </a:solidFill>
                <a:latin typeface="Baskerville Old Face" panose="02020602080505020303" pitchFamily="18" charset="0"/>
              </a:rPr>
              <a:t>Irion</a:t>
            </a:r>
            <a:r>
              <a:rPr lang="fr-FR" sz="1100" dirty="0">
                <a:solidFill>
                  <a:srgbClr val="4A453F"/>
                </a:solidFill>
                <a:latin typeface="Baskerville Old Face" panose="02020602080505020303" pitchFamily="18" charset="0"/>
              </a:rPr>
              <a:t> est tombée dans une embuscade au cœur des bois de </a:t>
            </a:r>
            <a:r>
              <a:rPr lang="fr-FR" sz="1100" dirty="0" err="1">
                <a:solidFill>
                  <a:srgbClr val="4A453F"/>
                </a:solidFill>
                <a:latin typeface="Baskerville Old Face" panose="02020602080505020303" pitchFamily="18" charset="0"/>
              </a:rPr>
              <a:t>Chênemort</a:t>
            </a:r>
            <a:r>
              <a:rPr lang="fr-FR" sz="1100" dirty="0">
                <a:solidFill>
                  <a:srgbClr val="4A453F"/>
                </a:solidFill>
                <a:latin typeface="Baskerville Old Face" panose="02020602080505020303" pitchFamily="18" charset="0"/>
              </a:rPr>
              <a:t>. Les assaillants ont frappé vite, profitant de la pénombre et de la densité des futaies. Toute la cargaison a été dérobée, sans laisser de trace exploitable. </a:t>
            </a:r>
          </a:p>
          <a:p>
            <a:pPr algn="just"/>
            <a:r>
              <a:rPr lang="fr-FR" sz="1100" dirty="0">
                <a:solidFill>
                  <a:srgbClr val="4A453F"/>
                </a:solidFill>
                <a:latin typeface="Baskerville Old Face" panose="02020602080505020303" pitchFamily="18" charset="0"/>
              </a:rPr>
              <a:t>Face à cette insécurité croissante, les voyageurs se pressent de réclamer escorte et justice.</a:t>
            </a:r>
          </a:p>
          <a:p>
            <a:pPr algn="just"/>
            <a:endParaRPr lang="fr-FR" sz="1100" dirty="0">
              <a:solidFill>
                <a:srgbClr val="4A453F"/>
              </a:solidFill>
              <a:latin typeface="Baskerville Old Face" panose="02020602080505020303" pitchFamily="18" charset="0"/>
            </a:endParaRPr>
          </a:p>
          <a:p>
            <a:pPr algn="ctr">
              <a:spcBef>
                <a:spcPts val="600"/>
              </a:spcBef>
            </a:pPr>
            <a:r>
              <a:rPr lang="fr-FR" sz="1100" dirty="0">
                <a:solidFill>
                  <a:srgbClr val="4A453F"/>
                </a:solidFill>
                <a:latin typeface="Baskerville Old Face" panose="02020602080505020303" pitchFamily="18" charset="0"/>
                <a:sym typeface="Wingdings 2" panose="05020102010507070707" pitchFamily="18" charset="2"/>
              </a:rPr>
              <a:t></a:t>
            </a:r>
          </a:p>
          <a:p>
            <a:pPr algn="ctr">
              <a:spcBef>
                <a:spcPts val="600"/>
              </a:spcBef>
            </a:pPr>
            <a:endParaRPr lang="fr-FR" sz="1100" dirty="0">
              <a:solidFill>
                <a:srgbClr val="4A453F"/>
              </a:solidFill>
              <a:latin typeface="Baskerville Old Face" panose="02020602080505020303" pitchFamily="18" charset="0"/>
              <a:sym typeface="Wingdings 2" panose="05020102010507070707" pitchFamily="18" charset="2"/>
            </a:endParaRPr>
          </a:p>
          <a:p>
            <a:r>
              <a:rPr lang="fr-FR" sz="1400" dirty="0">
                <a:solidFill>
                  <a:srgbClr val="4A453F"/>
                </a:solidFill>
                <a:latin typeface="Baskerville Old Face" panose="02020602080505020303" pitchFamily="18" charset="0"/>
              </a:rPr>
              <a:t>La Geste de la tribu de Iana</a:t>
            </a:r>
          </a:p>
          <a:p>
            <a:pPr algn="just">
              <a:spcBef>
                <a:spcPts val="600"/>
              </a:spcBef>
            </a:pPr>
            <a:r>
              <a:rPr lang="fr-FR" sz="1100" dirty="0">
                <a:solidFill>
                  <a:srgbClr val="4A453F"/>
                </a:solidFill>
                <a:latin typeface="Baskerville Old Face" panose="02020602080505020303" pitchFamily="18" charset="0"/>
              </a:rPr>
              <a:t>Chaque année, le premier week-end après le solstice d’été, la tribu de Iana tient sa Geste ancestrale. </a:t>
            </a:r>
          </a:p>
          <a:p>
            <a:pPr algn="just"/>
            <a:r>
              <a:rPr lang="fr-FR" sz="1100" dirty="0">
                <a:solidFill>
                  <a:srgbClr val="4A453F"/>
                </a:solidFill>
                <a:latin typeface="Baskerville Old Face" panose="02020602080505020303" pitchFamily="18" charset="0"/>
              </a:rPr>
              <a:t>Près d’une centaine d’habitués convergent alors depuis les quatre coins du pays. On y joue, on y festoie et l’on bavarde longuement, drapés d’habits traditionnels richement ornés. Les feux crépitent tandis que la cervoise coule à flot. Certains simulent de farouches combats contre des monstres surgis des plus vieilles traditions celtes. Épées de bois et cris rituels résonnent jusque dans les collines et parfois tard dans la nuit. D’autres préfèrent s’asseoir des heures durant pour palabrer, refaire le monde et les légendes.</a:t>
            </a:r>
          </a:p>
          <a:p>
            <a:pPr algn="just"/>
            <a:r>
              <a:rPr lang="fr-FR" sz="1100" dirty="0">
                <a:solidFill>
                  <a:srgbClr val="4A453F"/>
                </a:solidFill>
                <a:latin typeface="Baskerville Old Face" panose="02020602080505020303" pitchFamily="18" charset="0"/>
              </a:rPr>
              <a:t>Ainsi se perpétue, dans la joie et la parole, l’âme vivante de la tribu celte de Iana.</a:t>
            </a:r>
          </a:p>
          <a:p>
            <a:endParaRPr lang="fr-FR" sz="1100" dirty="0">
              <a:solidFill>
                <a:srgbClr val="4A453F"/>
              </a:solidFill>
              <a:latin typeface="Baskerville Old Face" panose="02020602080505020303" pitchFamily="18" charset="0"/>
            </a:endParaRPr>
          </a:p>
          <a:p>
            <a:pPr algn="ctr"/>
            <a:r>
              <a:rPr lang="fr-FR" sz="1100" dirty="0">
                <a:solidFill>
                  <a:srgbClr val="4A453F"/>
                </a:solidFill>
                <a:latin typeface="Baskerville Old Face" panose="02020602080505020303" pitchFamily="18" charset="0"/>
                <a:sym typeface="Wingdings 2" panose="05020102010507070707" pitchFamily="18" charset="2"/>
              </a:rPr>
              <a:t></a:t>
            </a:r>
            <a:r>
              <a:rPr lang="fr-FR" sz="1100" dirty="0">
                <a:solidFill>
                  <a:srgbClr val="4A453F"/>
                </a:solidFill>
                <a:latin typeface="Baskerville Old Face" panose="02020602080505020303" pitchFamily="18" charset="0"/>
              </a:rPr>
              <a:t> </a:t>
            </a:r>
          </a:p>
          <a:p>
            <a:pPr algn="ctr"/>
            <a:endParaRPr lang="fr-FR" sz="1100" dirty="0">
              <a:solidFill>
                <a:srgbClr val="4A453F"/>
              </a:solidFill>
              <a:latin typeface="Baskerville Old Face" panose="02020602080505020303" pitchFamily="18" charset="0"/>
            </a:endParaRPr>
          </a:p>
        </p:txBody>
      </p:sp>
      <p:grpSp>
        <p:nvGrpSpPr>
          <p:cNvPr id="8" name="Groupe 7">
            <a:extLst>
              <a:ext uri="{FF2B5EF4-FFF2-40B4-BE49-F238E27FC236}">
                <a16:creationId xmlns:a16="http://schemas.microsoft.com/office/drawing/2014/main" id="{76F2B4FC-FDC5-3A69-1BD0-BD5E44BED03D}"/>
              </a:ext>
            </a:extLst>
          </p:cNvPr>
          <p:cNvGrpSpPr/>
          <p:nvPr/>
        </p:nvGrpSpPr>
        <p:grpSpPr>
          <a:xfrm>
            <a:off x="5075494" y="5567906"/>
            <a:ext cx="2304000" cy="4795293"/>
            <a:chOff x="5075494" y="5567906"/>
            <a:chExt cx="2304000" cy="4795293"/>
          </a:xfrm>
        </p:grpSpPr>
        <p:sp>
          <p:nvSpPr>
            <p:cNvPr id="34" name="ZoneTexte 33">
              <a:extLst>
                <a:ext uri="{FF2B5EF4-FFF2-40B4-BE49-F238E27FC236}">
                  <a16:creationId xmlns:a16="http://schemas.microsoft.com/office/drawing/2014/main" id="{E1D3CD83-9085-8B89-00D1-1FF303537B0B}"/>
                </a:ext>
              </a:extLst>
            </p:cNvPr>
            <p:cNvSpPr txBox="1"/>
            <p:nvPr/>
          </p:nvSpPr>
          <p:spPr>
            <a:xfrm>
              <a:off x="5075494" y="6324600"/>
              <a:ext cx="2304000" cy="4038599"/>
            </a:xfrm>
            <a:prstGeom prst="rect">
              <a:avLst/>
            </a:prstGeom>
            <a:noFill/>
            <a:ln w="44450" cmpd="thinThick">
              <a:solidFill>
                <a:srgbClr val="4A453F"/>
              </a:solidFill>
              <a:bevel/>
              <a:extLst>
                <a:ext uri="{C807C97D-BFC1-408E-A445-0C87EB9F89A2}">
                  <ask:lineSketchStyleProps xmlns:ask="http://schemas.microsoft.com/office/drawing/2018/sketchyshapes" sd="3689820584">
                    <a:custGeom>
                      <a:avLst/>
                      <a:gdLst>
                        <a:gd name="csX0" fmla="*/ 0 w 2304000"/>
                        <a:gd name="csY0" fmla="*/ 0 h 4191384"/>
                        <a:gd name="csX1" fmla="*/ 529920 w 2304000"/>
                        <a:gd name="csY1" fmla="*/ 0 h 4191384"/>
                        <a:gd name="csX2" fmla="*/ 1152000 w 2304000"/>
                        <a:gd name="csY2" fmla="*/ 0 h 4191384"/>
                        <a:gd name="csX3" fmla="*/ 1751040 w 2304000"/>
                        <a:gd name="csY3" fmla="*/ 0 h 4191384"/>
                        <a:gd name="csX4" fmla="*/ 2304000 w 2304000"/>
                        <a:gd name="csY4" fmla="*/ 0 h 4191384"/>
                        <a:gd name="csX5" fmla="*/ 2304000 w 2304000"/>
                        <a:gd name="csY5" fmla="*/ 640683 h 4191384"/>
                        <a:gd name="csX6" fmla="*/ 2304000 w 2304000"/>
                        <a:gd name="csY6" fmla="*/ 1239452 h 4191384"/>
                        <a:gd name="csX7" fmla="*/ 2304000 w 2304000"/>
                        <a:gd name="csY7" fmla="*/ 1922049 h 4191384"/>
                        <a:gd name="csX8" fmla="*/ 2304000 w 2304000"/>
                        <a:gd name="csY8" fmla="*/ 2395077 h 4191384"/>
                        <a:gd name="csX9" fmla="*/ 2304000 w 2304000"/>
                        <a:gd name="csY9" fmla="*/ 2951932 h 4191384"/>
                        <a:gd name="csX10" fmla="*/ 2304000 w 2304000"/>
                        <a:gd name="csY10" fmla="*/ 3466873 h 4191384"/>
                        <a:gd name="csX11" fmla="*/ 2304000 w 2304000"/>
                        <a:gd name="csY11" fmla="*/ 4191384 h 4191384"/>
                        <a:gd name="csX12" fmla="*/ 1797120 w 2304000"/>
                        <a:gd name="csY12" fmla="*/ 4191384 h 4191384"/>
                        <a:gd name="csX13" fmla="*/ 1244160 w 2304000"/>
                        <a:gd name="csY13" fmla="*/ 4191384 h 4191384"/>
                        <a:gd name="csX14" fmla="*/ 714240 w 2304000"/>
                        <a:gd name="csY14" fmla="*/ 4191384 h 4191384"/>
                        <a:gd name="csX15" fmla="*/ 0 w 2304000"/>
                        <a:gd name="csY15" fmla="*/ 4191384 h 4191384"/>
                        <a:gd name="csX16" fmla="*/ 0 w 2304000"/>
                        <a:gd name="csY16" fmla="*/ 3592615 h 4191384"/>
                        <a:gd name="csX17" fmla="*/ 0 w 2304000"/>
                        <a:gd name="csY17" fmla="*/ 3035760 h 4191384"/>
                        <a:gd name="csX18" fmla="*/ 0 w 2304000"/>
                        <a:gd name="csY18" fmla="*/ 2436990 h 4191384"/>
                        <a:gd name="csX19" fmla="*/ 0 w 2304000"/>
                        <a:gd name="csY19" fmla="*/ 1754394 h 4191384"/>
                        <a:gd name="csX20" fmla="*/ 0 w 2304000"/>
                        <a:gd name="csY20" fmla="*/ 1113711 h 4191384"/>
                        <a:gd name="csX21" fmla="*/ 0 w 2304000"/>
                        <a:gd name="csY21" fmla="*/ 598769 h 4191384"/>
                        <a:gd name="csX22" fmla="*/ 0 w 2304000"/>
                        <a:gd name="csY22" fmla="*/ 0 h 4191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304000" h="4191384" extrusionOk="0">
                          <a:moveTo>
                            <a:pt x="0" y="0"/>
                          </a:moveTo>
                          <a:cubicBezTo>
                            <a:pt x="172526" y="-28338"/>
                            <a:pt x="383514" y="17812"/>
                            <a:pt x="529920" y="0"/>
                          </a:cubicBezTo>
                          <a:cubicBezTo>
                            <a:pt x="676326" y="-17812"/>
                            <a:pt x="983633" y="18558"/>
                            <a:pt x="1152000" y="0"/>
                          </a:cubicBezTo>
                          <a:cubicBezTo>
                            <a:pt x="1320367" y="-18558"/>
                            <a:pt x="1582500" y="70419"/>
                            <a:pt x="1751040" y="0"/>
                          </a:cubicBezTo>
                          <a:cubicBezTo>
                            <a:pt x="1919580" y="-70419"/>
                            <a:pt x="2125662" y="3950"/>
                            <a:pt x="2304000" y="0"/>
                          </a:cubicBezTo>
                          <a:cubicBezTo>
                            <a:pt x="2321896" y="134695"/>
                            <a:pt x="2302209" y="454856"/>
                            <a:pt x="2304000" y="640683"/>
                          </a:cubicBezTo>
                          <a:cubicBezTo>
                            <a:pt x="2305791" y="826510"/>
                            <a:pt x="2285375" y="973790"/>
                            <a:pt x="2304000" y="1239452"/>
                          </a:cubicBezTo>
                          <a:cubicBezTo>
                            <a:pt x="2322625" y="1505114"/>
                            <a:pt x="2232074" y="1601736"/>
                            <a:pt x="2304000" y="1922049"/>
                          </a:cubicBezTo>
                          <a:cubicBezTo>
                            <a:pt x="2375926" y="2242362"/>
                            <a:pt x="2278785" y="2225616"/>
                            <a:pt x="2304000" y="2395077"/>
                          </a:cubicBezTo>
                          <a:cubicBezTo>
                            <a:pt x="2329215" y="2564538"/>
                            <a:pt x="2292362" y="2812037"/>
                            <a:pt x="2304000" y="2951932"/>
                          </a:cubicBezTo>
                          <a:cubicBezTo>
                            <a:pt x="2315638" y="3091828"/>
                            <a:pt x="2282790" y="3315642"/>
                            <a:pt x="2304000" y="3466873"/>
                          </a:cubicBezTo>
                          <a:cubicBezTo>
                            <a:pt x="2325210" y="3618104"/>
                            <a:pt x="2251869" y="3925345"/>
                            <a:pt x="2304000" y="4191384"/>
                          </a:cubicBezTo>
                          <a:cubicBezTo>
                            <a:pt x="2083609" y="4225946"/>
                            <a:pt x="2028663" y="4167641"/>
                            <a:pt x="1797120" y="4191384"/>
                          </a:cubicBezTo>
                          <a:cubicBezTo>
                            <a:pt x="1565577" y="4215127"/>
                            <a:pt x="1431422" y="4125467"/>
                            <a:pt x="1244160" y="4191384"/>
                          </a:cubicBezTo>
                          <a:cubicBezTo>
                            <a:pt x="1056898" y="4257301"/>
                            <a:pt x="894463" y="4183645"/>
                            <a:pt x="714240" y="4191384"/>
                          </a:cubicBezTo>
                          <a:cubicBezTo>
                            <a:pt x="534017" y="4199123"/>
                            <a:pt x="201549" y="4188893"/>
                            <a:pt x="0" y="4191384"/>
                          </a:cubicBezTo>
                          <a:cubicBezTo>
                            <a:pt x="-70893" y="4015039"/>
                            <a:pt x="47989" y="3877736"/>
                            <a:pt x="0" y="3592615"/>
                          </a:cubicBezTo>
                          <a:cubicBezTo>
                            <a:pt x="-47989" y="3307494"/>
                            <a:pt x="47197" y="3217859"/>
                            <a:pt x="0" y="3035760"/>
                          </a:cubicBezTo>
                          <a:cubicBezTo>
                            <a:pt x="-47197" y="2853662"/>
                            <a:pt x="29927" y="2577010"/>
                            <a:pt x="0" y="2436990"/>
                          </a:cubicBezTo>
                          <a:cubicBezTo>
                            <a:pt x="-29927" y="2296970"/>
                            <a:pt x="46938" y="2013346"/>
                            <a:pt x="0" y="1754394"/>
                          </a:cubicBezTo>
                          <a:cubicBezTo>
                            <a:pt x="-46938" y="1495442"/>
                            <a:pt x="39071" y="1245574"/>
                            <a:pt x="0" y="1113711"/>
                          </a:cubicBezTo>
                          <a:cubicBezTo>
                            <a:pt x="-39071" y="981848"/>
                            <a:pt x="44704" y="853057"/>
                            <a:pt x="0" y="598769"/>
                          </a:cubicBezTo>
                          <a:cubicBezTo>
                            <a:pt x="-44704" y="344481"/>
                            <a:pt x="7706" y="239201"/>
                            <a:pt x="0" y="0"/>
                          </a:cubicBezTo>
                          <a:close/>
                        </a:path>
                      </a:pathLst>
                    </a:custGeom>
                    <ask:type>
                      <ask:lineSketchNone/>
                    </ask:type>
                  </ask:lineSketchStyleProps>
                </a:ext>
              </a:extLst>
            </a:ln>
          </p:spPr>
          <p:txBody>
            <a:bodyPr wrap="square" lIns="72000" tIns="0" rIns="72000" bIns="0" rtlCol="0">
              <a:noAutofit/>
            </a:bodyPr>
            <a:lstStyle/>
            <a:p>
              <a:pPr algn="ctr"/>
              <a:endParaRPr lang="fr-FR" sz="5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spcBef>
                  <a:spcPts val="600"/>
                </a:spcBef>
              </a:pPr>
              <a:endParaRPr lang="fr-FR" sz="1100" dirty="0">
                <a:solidFill>
                  <a:srgbClr val="4A453F"/>
                </a:solidFill>
                <a:latin typeface="Baskerville Old Face" panose="02020602080505020303" pitchFamily="18" charset="0"/>
              </a:endParaRPr>
            </a:p>
            <a:p>
              <a:pPr algn="ctr">
                <a:spcBef>
                  <a:spcPts val="600"/>
                </a:spcBef>
              </a:pPr>
              <a:endParaRPr lang="fr-FR" sz="1100" dirty="0">
                <a:solidFill>
                  <a:srgbClr val="4A453F"/>
                </a:solidFill>
                <a:latin typeface="Baskerville Old Face" panose="02020602080505020303" pitchFamily="18" charset="0"/>
              </a:endParaRPr>
            </a:p>
            <a:p>
              <a:pPr algn="ctr">
                <a:spcBef>
                  <a:spcPts val="600"/>
                </a:spcBef>
              </a:pPr>
              <a:endParaRPr lang="fr-FR" sz="1100" dirty="0">
                <a:solidFill>
                  <a:srgbClr val="4A453F"/>
                </a:solidFill>
                <a:latin typeface="Baskerville Old Face" panose="02020602080505020303" pitchFamily="18" charset="0"/>
              </a:endParaRPr>
            </a:p>
            <a:p>
              <a:pPr algn="ctr">
                <a:spcBef>
                  <a:spcPts val="600"/>
                </a:spcBef>
              </a:pPr>
              <a:endParaRPr lang="fr-FR" sz="1100" dirty="0">
                <a:solidFill>
                  <a:srgbClr val="4A453F"/>
                </a:solidFill>
                <a:latin typeface="Baskerville Old Face" panose="02020602080505020303" pitchFamily="18" charset="0"/>
              </a:endParaRPr>
            </a:p>
            <a:p>
              <a:pPr algn="ctr">
                <a:spcBef>
                  <a:spcPts val="1800"/>
                </a:spcBef>
              </a:pPr>
              <a:r>
                <a:rPr lang="fr-FR" sz="1100" dirty="0">
                  <a:solidFill>
                    <a:srgbClr val="4A453F"/>
                  </a:solidFill>
                  <a:latin typeface="Baskerville Old Face" panose="02020602080505020303" pitchFamily="18" charset="0"/>
                </a:rPr>
                <a:t>Estaminet – Auberge - Quincaillerie</a:t>
              </a:r>
            </a:p>
            <a:p>
              <a:pPr algn="ctr">
                <a:spcBef>
                  <a:spcPts val="600"/>
                </a:spcBef>
              </a:pPr>
              <a:r>
                <a:rPr lang="fr-FR" sz="1100" dirty="0">
                  <a:solidFill>
                    <a:srgbClr val="4A453F"/>
                  </a:solidFill>
                  <a:latin typeface="Baskerville Old Face" panose="02020602080505020303" pitchFamily="18" charset="0"/>
                  <a:sym typeface="Wingdings 2" panose="05020102010507070707" pitchFamily="18" charset="2"/>
                </a:rPr>
                <a:t></a:t>
              </a:r>
              <a:endParaRPr lang="fr-FR" sz="1100" dirty="0">
                <a:solidFill>
                  <a:srgbClr val="4A453F"/>
                </a:solidFill>
                <a:latin typeface="Baskerville Old Face" panose="02020602080505020303" pitchFamily="18" charset="0"/>
              </a:endParaRPr>
            </a:p>
            <a:p>
              <a:pPr algn="ctr">
                <a:spcBef>
                  <a:spcPts val="600"/>
                </a:spcBef>
              </a:pPr>
              <a:r>
                <a:rPr lang="fr-FR" sz="1100" dirty="0"/>
                <a:t>« </a:t>
              </a:r>
              <a:r>
                <a:rPr lang="fr-FR" sz="1100" dirty="0">
                  <a:solidFill>
                    <a:srgbClr val="4A453F"/>
                  </a:solidFill>
                  <a:latin typeface="Baskerville Old Face" panose="02020602080505020303" pitchFamily="18" charset="0"/>
                </a:rPr>
                <a:t>Ici, on nourrit les ventres… et les ragots. Entrez de votre plein gré. Sortez quand vous tenez encore sur vos pieds. »</a:t>
              </a:r>
            </a:p>
            <a:p>
              <a:pPr algn="ctr">
                <a:spcBef>
                  <a:spcPts val="600"/>
                </a:spcBef>
              </a:pPr>
              <a:r>
                <a:rPr lang="fr-FR" sz="900" dirty="0">
                  <a:solidFill>
                    <a:srgbClr val="4A453F"/>
                  </a:solidFill>
                  <a:latin typeface="Baskerville Old Face" panose="02020602080505020303" pitchFamily="18" charset="0"/>
                  <a:sym typeface="Wingdings 2" panose="05020102010507070707" pitchFamily="18" charset="2"/>
                </a:rPr>
                <a:t></a:t>
              </a:r>
              <a:endParaRPr lang="fr-FR" sz="900" dirty="0">
                <a:solidFill>
                  <a:srgbClr val="4A453F"/>
                </a:solidFill>
                <a:latin typeface="Baskerville Old Face" panose="02020602080505020303" pitchFamily="18" charset="0"/>
              </a:endParaRPr>
            </a:p>
            <a:p>
              <a:pPr algn="ctr">
                <a:spcBef>
                  <a:spcPts val="600"/>
                </a:spcBef>
              </a:pPr>
              <a:r>
                <a:rPr lang="fr-FR" sz="900" dirty="0">
                  <a:solidFill>
                    <a:srgbClr val="4A453F"/>
                  </a:solidFill>
                  <a:latin typeface="Baskerville Old Face" panose="02020602080505020303" pitchFamily="18" charset="0"/>
                </a:rPr>
                <a:t>Rue principale d’</a:t>
              </a:r>
              <a:r>
                <a:rPr lang="fr-FR" sz="900" dirty="0" err="1">
                  <a:solidFill>
                    <a:srgbClr val="4A453F"/>
                  </a:solidFill>
                  <a:latin typeface="Baskerville Old Face" panose="02020602080505020303" pitchFamily="18" charset="0"/>
                </a:rPr>
                <a:t>Ulghart</a:t>
              </a:r>
              <a:r>
                <a:rPr lang="fr-FR" sz="900" dirty="0">
                  <a:solidFill>
                    <a:srgbClr val="4A453F"/>
                  </a:solidFill>
                  <a:latin typeface="Baskerville Old Face" panose="02020602080505020303" pitchFamily="18" charset="0"/>
                </a:rPr>
                <a:t> – Il-</a:t>
              </a:r>
              <a:r>
                <a:rPr lang="fr-FR" sz="900" dirty="0" err="1">
                  <a:solidFill>
                    <a:srgbClr val="4A453F"/>
                  </a:solidFill>
                  <a:latin typeface="Baskerville Old Face" panose="02020602080505020303" pitchFamily="18" charset="0"/>
                </a:rPr>
                <a:t>Irion</a:t>
              </a:r>
              <a:endParaRPr lang="fr-FR" sz="900" dirty="0">
                <a:solidFill>
                  <a:srgbClr val="4A453F"/>
                </a:solidFill>
                <a:latin typeface="Baskerville Old Face" panose="02020602080505020303" pitchFamily="18" charset="0"/>
              </a:endParaRPr>
            </a:p>
          </p:txBody>
        </p:sp>
        <p:pic>
          <p:nvPicPr>
            <p:cNvPr id="36" name="Image 35" descr="Une image contenant texte, écusson, Emblème, art&#10;&#10;Le contenu généré par l’IA peut être incorrect.">
              <a:extLst>
                <a:ext uri="{FF2B5EF4-FFF2-40B4-BE49-F238E27FC236}">
                  <a16:creationId xmlns:a16="http://schemas.microsoft.com/office/drawing/2014/main" id="{6CC08A53-2BFF-5A7B-7EFC-1CC639DFF5AC}"/>
                </a:ext>
              </a:extLst>
            </p:cNvPr>
            <p:cNvPicPr>
              <a:picLocks noChangeAspect="1"/>
            </p:cNvPicPr>
            <p:nvPr/>
          </p:nvPicPr>
          <p:blipFill>
            <a:blip r:embed="rId5">
              <a:clrChange>
                <a:clrFrom>
                  <a:srgbClr val="F6FBFB"/>
                </a:clrFrom>
                <a:clrTo>
                  <a:srgbClr val="F6FBFB">
                    <a:alpha val="0"/>
                  </a:srgbClr>
                </a:clrTo>
              </a:clrChange>
              <a:extLst>
                <a:ext uri="{BEBA8EAE-BF5A-486C-A8C5-ECC9F3942E4B}">
                  <a14:imgProps xmlns:a14="http://schemas.microsoft.com/office/drawing/2010/main">
                    <a14:imgLayer r:embed="rId6">
                      <a14:imgEffect>
                        <a14:colorTemperature colorTemp="53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5147494" y="5567906"/>
              <a:ext cx="2160000" cy="3240000"/>
            </a:xfrm>
            <a:prstGeom prst="rect">
              <a:avLst/>
            </a:prstGeom>
          </p:spPr>
        </p:pic>
      </p:grpSp>
      <p:sp>
        <p:nvSpPr>
          <p:cNvPr id="2" name="Rectangle 1">
            <a:extLst>
              <a:ext uri="{FF2B5EF4-FFF2-40B4-BE49-F238E27FC236}">
                <a16:creationId xmlns:a16="http://schemas.microsoft.com/office/drawing/2014/main" id="{ABD094B3-AC5E-A6E0-50FA-5C5CBA2D51DA}"/>
              </a:ext>
            </a:extLst>
          </p:cNvPr>
          <p:cNvSpPr/>
          <p:nvPr/>
        </p:nvSpPr>
        <p:spPr>
          <a:xfrm>
            <a:off x="2556000" y="9635488"/>
            <a:ext cx="2461233" cy="743116"/>
          </a:xfrm>
          <a:prstGeom prst="rect">
            <a:avLst/>
          </a:prstGeom>
          <a:noFill/>
          <a:ln w="9525">
            <a:solidFill>
              <a:srgbClr val="4A4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sz="1050" dirty="0">
                <a:solidFill>
                  <a:srgbClr val="4A453F"/>
                </a:solidFill>
                <a:latin typeface="Baskerville Old Face" panose="02020602080505020303" pitchFamily="18" charset="0"/>
              </a:rPr>
              <a:t>Le Dé du </a:t>
            </a:r>
            <a:r>
              <a:rPr lang="fr-FR" sz="1050" dirty="0" err="1">
                <a:solidFill>
                  <a:srgbClr val="4A453F"/>
                </a:solidFill>
                <a:latin typeface="Baskerville Old Face" panose="02020602080505020303" pitchFamily="18" charset="0"/>
              </a:rPr>
              <a:t>Triskel</a:t>
            </a:r>
            <a:r>
              <a:rPr lang="fr-FR" sz="1050" dirty="0">
                <a:solidFill>
                  <a:srgbClr val="4A453F"/>
                </a:solidFill>
                <a:latin typeface="Baskerville Old Face" panose="02020602080505020303" pitchFamily="18" charset="0"/>
              </a:rPr>
              <a:t> rachète or ancien, bijoux ternis, gemmes oubliées.</a:t>
            </a:r>
          </a:p>
          <a:p>
            <a:pPr algn="just"/>
            <a:r>
              <a:rPr lang="fr-FR" sz="1050" dirty="0">
                <a:solidFill>
                  <a:srgbClr val="4A453F"/>
                </a:solidFill>
                <a:latin typeface="Baskerville Old Face" panose="02020602080505020303" pitchFamily="18" charset="0"/>
              </a:rPr>
              <a:t>Paiement honnête, discrétion assurée, balances bénies par les druides.</a:t>
            </a:r>
            <a:endParaRPr lang="fr-FR" sz="1050" dirty="0"/>
          </a:p>
        </p:txBody>
      </p:sp>
      <p:sp>
        <p:nvSpPr>
          <p:cNvPr id="3" name="ZoneTexte 2">
            <a:extLst>
              <a:ext uri="{FF2B5EF4-FFF2-40B4-BE49-F238E27FC236}">
                <a16:creationId xmlns:a16="http://schemas.microsoft.com/office/drawing/2014/main" id="{6C46B2A1-7B15-7081-307D-5C86973F7E7C}"/>
              </a:ext>
            </a:extLst>
          </p:cNvPr>
          <p:cNvSpPr txBox="1"/>
          <p:nvPr/>
        </p:nvSpPr>
        <p:spPr>
          <a:xfrm>
            <a:off x="5075494" y="2176444"/>
            <a:ext cx="2304000" cy="3240000"/>
          </a:xfrm>
          <a:prstGeom prst="rect">
            <a:avLst/>
          </a:prstGeom>
          <a:noFill/>
          <a:ln w="44450" cmpd="thinThick">
            <a:solidFill>
              <a:srgbClr val="4A453F"/>
            </a:solidFill>
            <a:bevel/>
            <a:extLst>
              <a:ext uri="{C807C97D-BFC1-408E-A445-0C87EB9F89A2}">
                <ask:lineSketchStyleProps xmlns:ask="http://schemas.microsoft.com/office/drawing/2018/sketchyshapes" sd="3689820584">
                  <a:custGeom>
                    <a:avLst/>
                    <a:gdLst>
                      <a:gd name="csX0" fmla="*/ 0 w 2304000"/>
                      <a:gd name="csY0" fmla="*/ 0 h 4191384"/>
                      <a:gd name="csX1" fmla="*/ 529920 w 2304000"/>
                      <a:gd name="csY1" fmla="*/ 0 h 4191384"/>
                      <a:gd name="csX2" fmla="*/ 1152000 w 2304000"/>
                      <a:gd name="csY2" fmla="*/ 0 h 4191384"/>
                      <a:gd name="csX3" fmla="*/ 1751040 w 2304000"/>
                      <a:gd name="csY3" fmla="*/ 0 h 4191384"/>
                      <a:gd name="csX4" fmla="*/ 2304000 w 2304000"/>
                      <a:gd name="csY4" fmla="*/ 0 h 4191384"/>
                      <a:gd name="csX5" fmla="*/ 2304000 w 2304000"/>
                      <a:gd name="csY5" fmla="*/ 640683 h 4191384"/>
                      <a:gd name="csX6" fmla="*/ 2304000 w 2304000"/>
                      <a:gd name="csY6" fmla="*/ 1239452 h 4191384"/>
                      <a:gd name="csX7" fmla="*/ 2304000 w 2304000"/>
                      <a:gd name="csY7" fmla="*/ 1922049 h 4191384"/>
                      <a:gd name="csX8" fmla="*/ 2304000 w 2304000"/>
                      <a:gd name="csY8" fmla="*/ 2395077 h 4191384"/>
                      <a:gd name="csX9" fmla="*/ 2304000 w 2304000"/>
                      <a:gd name="csY9" fmla="*/ 2951932 h 4191384"/>
                      <a:gd name="csX10" fmla="*/ 2304000 w 2304000"/>
                      <a:gd name="csY10" fmla="*/ 3466873 h 4191384"/>
                      <a:gd name="csX11" fmla="*/ 2304000 w 2304000"/>
                      <a:gd name="csY11" fmla="*/ 4191384 h 4191384"/>
                      <a:gd name="csX12" fmla="*/ 1797120 w 2304000"/>
                      <a:gd name="csY12" fmla="*/ 4191384 h 4191384"/>
                      <a:gd name="csX13" fmla="*/ 1244160 w 2304000"/>
                      <a:gd name="csY13" fmla="*/ 4191384 h 4191384"/>
                      <a:gd name="csX14" fmla="*/ 714240 w 2304000"/>
                      <a:gd name="csY14" fmla="*/ 4191384 h 4191384"/>
                      <a:gd name="csX15" fmla="*/ 0 w 2304000"/>
                      <a:gd name="csY15" fmla="*/ 4191384 h 4191384"/>
                      <a:gd name="csX16" fmla="*/ 0 w 2304000"/>
                      <a:gd name="csY16" fmla="*/ 3592615 h 4191384"/>
                      <a:gd name="csX17" fmla="*/ 0 w 2304000"/>
                      <a:gd name="csY17" fmla="*/ 3035760 h 4191384"/>
                      <a:gd name="csX18" fmla="*/ 0 w 2304000"/>
                      <a:gd name="csY18" fmla="*/ 2436990 h 4191384"/>
                      <a:gd name="csX19" fmla="*/ 0 w 2304000"/>
                      <a:gd name="csY19" fmla="*/ 1754394 h 4191384"/>
                      <a:gd name="csX20" fmla="*/ 0 w 2304000"/>
                      <a:gd name="csY20" fmla="*/ 1113711 h 4191384"/>
                      <a:gd name="csX21" fmla="*/ 0 w 2304000"/>
                      <a:gd name="csY21" fmla="*/ 598769 h 4191384"/>
                      <a:gd name="csX22" fmla="*/ 0 w 2304000"/>
                      <a:gd name="csY22" fmla="*/ 0 h 4191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304000" h="4191384" extrusionOk="0">
                        <a:moveTo>
                          <a:pt x="0" y="0"/>
                        </a:moveTo>
                        <a:cubicBezTo>
                          <a:pt x="172526" y="-28338"/>
                          <a:pt x="383514" y="17812"/>
                          <a:pt x="529920" y="0"/>
                        </a:cubicBezTo>
                        <a:cubicBezTo>
                          <a:pt x="676326" y="-17812"/>
                          <a:pt x="983633" y="18558"/>
                          <a:pt x="1152000" y="0"/>
                        </a:cubicBezTo>
                        <a:cubicBezTo>
                          <a:pt x="1320367" y="-18558"/>
                          <a:pt x="1582500" y="70419"/>
                          <a:pt x="1751040" y="0"/>
                        </a:cubicBezTo>
                        <a:cubicBezTo>
                          <a:pt x="1919580" y="-70419"/>
                          <a:pt x="2125662" y="3950"/>
                          <a:pt x="2304000" y="0"/>
                        </a:cubicBezTo>
                        <a:cubicBezTo>
                          <a:pt x="2321896" y="134695"/>
                          <a:pt x="2302209" y="454856"/>
                          <a:pt x="2304000" y="640683"/>
                        </a:cubicBezTo>
                        <a:cubicBezTo>
                          <a:pt x="2305791" y="826510"/>
                          <a:pt x="2285375" y="973790"/>
                          <a:pt x="2304000" y="1239452"/>
                        </a:cubicBezTo>
                        <a:cubicBezTo>
                          <a:pt x="2322625" y="1505114"/>
                          <a:pt x="2232074" y="1601736"/>
                          <a:pt x="2304000" y="1922049"/>
                        </a:cubicBezTo>
                        <a:cubicBezTo>
                          <a:pt x="2375926" y="2242362"/>
                          <a:pt x="2278785" y="2225616"/>
                          <a:pt x="2304000" y="2395077"/>
                        </a:cubicBezTo>
                        <a:cubicBezTo>
                          <a:pt x="2329215" y="2564538"/>
                          <a:pt x="2292362" y="2812037"/>
                          <a:pt x="2304000" y="2951932"/>
                        </a:cubicBezTo>
                        <a:cubicBezTo>
                          <a:pt x="2315638" y="3091828"/>
                          <a:pt x="2282790" y="3315642"/>
                          <a:pt x="2304000" y="3466873"/>
                        </a:cubicBezTo>
                        <a:cubicBezTo>
                          <a:pt x="2325210" y="3618104"/>
                          <a:pt x="2251869" y="3925345"/>
                          <a:pt x="2304000" y="4191384"/>
                        </a:cubicBezTo>
                        <a:cubicBezTo>
                          <a:pt x="2083609" y="4225946"/>
                          <a:pt x="2028663" y="4167641"/>
                          <a:pt x="1797120" y="4191384"/>
                        </a:cubicBezTo>
                        <a:cubicBezTo>
                          <a:pt x="1565577" y="4215127"/>
                          <a:pt x="1431422" y="4125467"/>
                          <a:pt x="1244160" y="4191384"/>
                        </a:cubicBezTo>
                        <a:cubicBezTo>
                          <a:pt x="1056898" y="4257301"/>
                          <a:pt x="894463" y="4183645"/>
                          <a:pt x="714240" y="4191384"/>
                        </a:cubicBezTo>
                        <a:cubicBezTo>
                          <a:pt x="534017" y="4199123"/>
                          <a:pt x="201549" y="4188893"/>
                          <a:pt x="0" y="4191384"/>
                        </a:cubicBezTo>
                        <a:cubicBezTo>
                          <a:pt x="-70893" y="4015039"/>
                          <a:pt x="47989" y="3877736"/>
                          <a:pt x="0" y="3592615"/>
                        </a:cubicBezTo>
                        <a:cubicBezTo>
                          <a:pt x="-47989" y="3307494"/>
                          <a:pt x="47197" y="3217859"/>
                          <a:pt x="0" y="3035760"/>
                        </a:cubicBezTo>
                        <a:cubicBezTo>
                          <a:pt x="-47197" y="2853662"/>
                          <a:pt x="29927" y="2577010"/>
                          <a:pt x="0" y="2436990"/>
                        </a:cubicBezTo>
                        <a:cubicBezTo>
                          <a:pt x="-29927" y="2296970"/>
                          <a:pt x="46938" y="2013346"/>
                          <a:pt x="0" y="1754394"/>
                        </a:cubicBezTo>
                        <a:cubicBezTo>
                          <a:pt x="-46938" y="1495442"/>
                          <a:pt x="39071" y="1245574"/>
                          <a:pt x="0" y="1113711"/>
                        </a:cubicBezTo>
                        <a:cubicBezTo>
                          <a:pt x="-39071" y="981848"/>
                          <a:pt x="44704" y="853057"/>
                          <a:pt x="0" y="598769"/>
                        </a:cubicBezTo>
                        <a:cubicBezTo>
                          <a:pt x="-44704" y="344481"/>
                          <a:pt x="7706" y="239201"/>
                          <a:pt x="0" y="0"/>
                        </a:cubicBezTo>
                        <a:close/>
                      </a:path>
                    </a:pathLst>
                  </a:custGeom>
                  <ask:type>
                    <ask:lineSketchNone/>
                  </ask:type>
                </ask:lineSketchStyleProps>
              </a:ext>
            </a:extLst>
          </a:ln>
        </p:spPr>
        <p:txBody>
          <a:bodyPr wrap="square" lIns="72000" tIns="0" rIns="72000" bIns="0" rtlCol="0">
            <a:noAutofit/>
          </a:bodyPr>
          <a:lstStyle/>
          <a:p>
            <a:pPr algn="ctr"/>
            <a:endParaRPr lang="fr-FR" sz="500" dirty="0">
              <a:solidFill>
                <a:srgbClr val="4A453F"/>
              </a:solidFill>
              <a:latin typeface="Baskerville Old Face" panose="02020602080505020303" pitchFamily="18" charset="0"/>
            </a:endParaRPr>
          </a:p>
          <a:p>
            <a:pPr algn="ctr"/>
            <a:endParaRPr lang="fr-FR" sz="11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endParaRPr lang="fr-FR" sz="800" dirty="0">
              <a:solidFill>
                <a:srgbClr val="4A453F"/>
              </a:solidFill>
              <a:latin typeface="Baskerville Old Face" panose="02020602080505020303" pitchFamily="18" charset="0"/>
            </a:endParaRPr>
          </a:p>
          <a:p>
            <a:pPr algn="ctr">
              <a:spcBef>
                <a:spcPts val="600"/>
              </a:spcBef>
            </a:pPr>
            <a:r>
              <a:rPr lang="fr-FR" sz="1100" dirty="0">
                <a:solidFill>
                  <a:srgbClr val="4A453F"/>
                </a:solidFill>
                <a:latin typeface="Baskerville Old Face" panose="02020602080505020303" pitchFamily="18" charset="0"/>
              </a:rPr>
              <a:t>« La chance aime les audacieux… et les imprudents. »</a:t>
            </a:r>
          </a:p>
          <a:p>
            <a:pPr algn="ctr">
              <a:spcBef>
                <a:spcPts val="600"/>
              </a:spcBef>
            </a:pPr>
            <a:r>
              <a:rPr lang="fr-FR" sz="1100" dirty="0">
                <a:solidFill>
                  <a:srgbClr val="4A453F"/>
                </a:solidFill>
                <a:latin typeface="Baskerville Old Face" panose="02020602080505020303" pitchFamily="18" charset="0"/>
              </a:rPr>
              <a:t>Tripot indépendant et intègre</a:t>
            </a:r>
            <a:endParaRPr lang="fr-FR" sz="900" dirty="0">
              <a:solidFill>
                <a:srgbClr val="4A453F"/>
              </a:solidFill>
              <a:latin typeface="Baskerville Old Face" panose="02020602080505020303" pitchFamily="18" charset="0"/>
            </a:endParaRPr>
          </a:p>
          <a:p>
            <a:pPr algn="ctr">
              <a:spcBef>
                <a:spcPts val="600"/>
              </a:spcBef>
            </a:pPr>
            <a:r>
              <a:rPr lang="fr-FR" sz="1400" dirty="0">
                <a:solidFill>
                  <a:srgbClr val="4A453F"/>
                </a:solidFill>
                <a:latin typeface="Baskerville Old Face" panose="02020602080505020303" pitchFamily="18" charset="0"/>
                <a:sym typeface="Wingdings" panose="05000000000000000000" pitchFamily="2" charset="2"/>
              </a:rPr>
              <a:t></a:t>
            </a:r>
            <a:endParaRPr lang="fr-FR" sz="1400" dirty="0">
              <a:solidFill>
                <a:srgbClr val="4A453F"/>
              </a:solidFill>
              <a:latin typeface="Baskerville Old Face" panose="02020602080505020303" pitchFamily="18" charset="0"/>
            </a:endParaRPr>
          </a:p>
          <a:p>
            <a:pPr algn="ctr">
              <a:spcBef>
                <a:spcPts val="600"/>
              </a:spcBef>
            </a:pPr>
            <a:r>
              <a:rPr lang="fr-FR" sz="1100" dirty="0">
                <a:solidFill>
                  <a:srgbClr val="4A453F"/>
                </a:solidFill>
                <a:latin typeface="Baskerville Old Face" panose="02020602080505020303" pitchFamily="18" charset="0"/>
              </a:rPr>
              <a:t>Annonce – Paris sur la Régate </a:t>
            </a:r>
          </a:p>
          <a:p>
            <a:pPr algn="ctr">
              <a:spcBef>
                <a:spcPts val="600"/>
              </a:spcBef>
            </a:pPr>
            <a:r>
              <a:rPr lang="fr-FR" sz="1100" dirty="0">
                <a:solidFill>
                  <a:srgbClr val="4A453F"/>
                </a:solidFill>
                <a:latin typeface="Baskerville Old Face" panose="02020602080505020303" pitchFamily="18" charset="0"/>
              </a:rPr>
              <a:t>Paris ouverts dès le vendredi soir après la présentation des équipages.</a:t>
            </a:r>
          </a:p>
          <a:p>
            <a:pPr algn="ctr">
              <a:spcBef>
                <a:spcPts val="600"/>
              </a:spcBef>
            </a:pPr>
            <a:r>
              <a:rPr lang="fr-FR" sz="1100" dirty="0">
                <a:solidFill>
                  <a:srgbClr val="4A453F"/>
                </a:solidFill>
                <a:latin typeface="Baskerville Old Face" panose="02020602080505020303" pitchFamily="18" charset="0"/>
              </a:rPr>
              <a:t>« Mieux vaut parier que ramer. »</a:t>
            </a:r>
          </a:p>
          <a:p>
            <a:pPr algn="ctr">
              <a:spcBef>
                <a:spcPts val="600"/>
              </a:spcBef>
            </a:pPr>
            <a:r>
              <a:rPr lang="fr-FR" sz="1400" dirty="0">
                <a:solidFill>
                  <a:srgbClr val="4A453F"/>
                </a:solidFill>
                <a:latin typeface="Baskerville Old Face" panose="02020602080505020303" pitchFamily="18" charset="0"/>
                <a:sym typeface="Wingdings" panose="05000000000000000000" pitchFamily="2" charset="2"/>
              </a:rPr>
              <a:t></a:t>
            </a:r>
            <a:endParaRPr lang="fr-FR" sz="1400" dirty="0">
              <a:solidFill>
                <a:srgbClr val="4A453F"/>
              </a:solidFill>
              <a:latin typeface="Baskerville Old Face" panose="02020602080505020303" pitchFamily="18" charset="0"/>
            </a:endParaRPr>
          </a:p>
          <a:p>
            <a:pPr algn="ctr">
              <a:spcBef>
                <a:spcPts val="600"/>
              </a:spcBef>
            </a:pPr>
            <a:r>
              <a:rPr lang="fr-FR" sz="900" dirty="0">
                <a:solidFill>
                  <a:srgbClr val="4A453F"/>
                </a:solidFill>
                <a:latin typeface="Baskerville Old Face" panose="02020602080505020303" pitchFamily="18" charset="0"/>
              </a:rPr>
              <a:t>Rue principale d’</a:t>
            </a:r>
            <a:r>
              <a:rPr lang="fr-FR" sz="900" dirty="0" err="1">
                <a:solidFill>
                  <a:srgbClr val="4A453F"/>
                </a:solidFill>
                <a:latin typeface="Baskerville Old Face" panose="02020602080505020303" pitchFamily="18" charset="0"/>
              </a:rPr>
              <a:t>Ulghart</a:t>
            </a:r>
            <a:r>
              <a:rPr lang="fr-FR" sz="900" dirty="0">
                <a:solidFill>
                  <a:srgbClr val="4A453F"/>
                </a:solidFill>
                <a:latin typeface="Baskerville Old Face" panose="02020602080505020303" pitchFamily="18" charset="0"/>
              </a:rPr>
              <a:t> – Il-</a:t>
            </a:r>
            <a:r>
              <a:rPr lang="fr-FR" sz="900" dirty="0" err="1">
                <a:solidFill>
                  <a:srgbClr val="4A453F"/>
                </a:solidFill>
                <a:latin typeface="Baskerville Old Face" panose="02020602080505020303" pitchFamily="18" charset="0"/>
              </a:rPr>
              <a:t>Irion</a:t>
            </a:r>
            <a:endParaRPr lang="fr-FR" sz="900" dirty="0">
              <a:solidFill>
                <a:srgbClr val="4A453F"/>
              </a:solidFill>
              <a:latin typeface="Baskerville Old Face" panose="02020602080505020303" pitchFamily="18" charset="0"/>
            </a:endParaRPr>
          </a:p>
        </p:txBody>
      </p:sp>
      <p:pic>
        <p:nvPicPr>
          <p:cNvPr id="6" name="Image 5">
            <a:extLst>
              <a:ext uri="{FF2B5EF4-FFF2-40B4-BE49-F238E27FC236}">
                <a16:creationId xmlns:a16="http://schemas.microsoft.com/office/drawing/2014/main" id="{709C151F-CF43-F1CF-CF7C-E6827BB76B9E}"/>
              </a:ext>
            </a:extLst>
          </p:cNvPr>
          <p:cNvPicPr>
            <a:picLocks noChangeAspect="1"/>
          </p:cNvPicPr>
          <p:nvPr/>
        </p:nvPicPr>
        <p:blipFill>
          <a:blip r:embed="rId7">
            <a:clrChange>
              <a:clrFrom>
                <a:srgbClr val="F6FBFB"/>
              </a:clrFrom>
              <a:clrTo>
                <a:srgbClr val="F6FBFB">
                  <a:alpha val="0"/>
                </a:srgbClr>
              </a:clrTo>
            </a:clrChange>
            <a:extLst>
              <a:ext uri="{BEBA8EAE-BF5A-486C-A8C5-ECC9F3942E4B}">
                <a14:imgProps xmlns:a14="http://schemas.microsoft.com/office/drawing/2010/main">
                  <a14:imgLayer r:embed="rId8">
                    <a14:imgEffect>
                      <a14:colorTemperature colorTemp="5300"/>
                    </a14:imgEffect>
                    <a14:imgEffect>
                      <a14:saturation sat="33000"/>
                    </a14:imgEffect>
                  </a14:imgLayer>
                </a14:imgProps>
              </a:ext>
              <a:ext uri="{28A0092B-C50C-407E-A947-70E740481C1C}">
                <a14:useLocalDpi xmlns:a14="http://schemas.microsoft.com/office/drawing/2010/main" val="0"/>
              </a:ext>
            </a:extLst>
          </a:blip>
          <a:srcRect/>
          <a:stretch/>
        </p:blipFill>
        <p:spPr>
          <a:xfrm>
            <a:off x="5147494" y="810631"/>
            <a:ext cx="2160000" cy="2160000"/>
          </a:xfrm>
          <a:prstGeom prst="rect">
            <a:avLst/>
          </a:prstGeom>
        </p:spPr>
      </p:pic>
    </p:spTree>
    <p:extLst>
      <p:ext uri="{BB962C8B-B14F-4D97-AF65-F5344CB8AC3E}">
        <p14:creationId xmlns:p14="http://schemas.microsoft.com/office/powerpoint/2010/main" val="246870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2540000" sx="100000" sy="100000" flip="none" algn="tl"/>
        </a:blipFill>
        <a:effectLst/>
      </p:bgPr>
    </p:bg>
    <p:spTree>
      <p:nvGrpSpPr>
        <p:cNvPr id="1" name="">
          <a:extLst>
            <a:ext uri="{FF2B5EF4-FFF2-40B4-BE49-F238E27FC236}">
              <a16:creationId xmlns:a16="http://schemas.microsoft.com/office/drawing/2014/main" id="{20D04A94-24CA-1E32-EC0A-2364BA5B424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8D9B0846-00B1-67F2-31D5-0F1D6E2CC66D}"/>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AC366302-1DA8-9C43-9519-31D37C97D8BA}"/>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B7F931F5-B0B3-9A91-4993-8077AF64F3C3}"/>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5A1065F3-B728-89B5-3246-88B85D2BF3C3}"/>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984FD03E-389E-4E8E-F80A-98FE10C8FDE0}"/>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2B4AECF2-815B-28C8-1CD8-5B261D222E3D}"/>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37A86B17-D554-4FF4-302A-B1E86485A113}"/>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413F58C6-9FC5-DB8A-8C9B-02BDAA456C47}"/>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5</a:t>
            </a:r>
          </a:p>
        </p:txBody>
      </p:sp>
      <p:sp>
        <p:nvSpPr>
          <p:cNvPr id="15" name="ZoneTexte 14">
            <a:extLst>
              <a:ext uri="{FF2B5EF4-FFF2-40B4-BE49-F238E27FC236}">
                <a16:creationId xmlns:a16="http://schemas.microsoft.com/office/drawing/2014/main" id="{62CFA915-D41D-D5B2-E23D-8A2DBA0C9578}"/>
              </a:ext>
            </a:extLst>
          </p:cNvPr>
          <p:cNvSpPr txBox="1"/>
          <p:nvPr/>
        </p:nvSpPr>
        <p:spPr>
          <a:xfrm>
            <a:off x="186819" y="1489891"/>
            <a:ext cx="7206097" cy="8556188"/>
          </a:xfrm>
          <a:prstGeom prst="rect">
            <a:avLst/>
          </a:prstGeom>
          <a:noFill/>
        </p:spPr>
        <p:txBody>
          <a:bodyPr wrap="square" rtlCol="0">
            <a:spAutoFit/>
          </a:bodyPr>
          <a:lstStyle/>
          <a:p>
            <a:pPr algn="ctr"/>
            <a:r>
              <a:rPr lang="fr-FR" sz="2000" b="1" dirty="0">
                <a:solidFill>
                  <a:srgbClr val="4A453F"/>
                </a:solidFill>
                <a:latin typeface="Baskerville Old Face" panose="02020602080505020303" pitchFamily="18" charset="0"/>
              </a:rPr>
              <a:t>présente un nouvel épisode de sa geste Grandeur Nature dans l’univers du </a:t>
            </a:r>
            <a:r>
              <a:rPr lang="fr-FR" sz="2000" b="1" dirty="0" err="1">
                <a:solidFill>
                  <a:srgbClr val="4A453F"/>
                </a:solidFill>
                <a:latin typeface="Baskerville Old Face" panose="02020602080505020303" pitchFamily="18" charset="0"/>
              </a:rPr>
              <a:t>Krondaar</a:t>
            </a: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r>
              <a:rPr lang="fr-FR" sz="3200" b="1" dirty="0">
                <a:solidFill>
                  <a:srgbClr val="4A453F"/>
                </a:solidFill>
                <a:latin typeface="Dwarven Stonecraft" pitchFamily="2" charset="0"/>
              </a:rPr>
              <a:t>ULGHART : SIX MORTS</a:t>
            </a:r>
          </a:p>
          <a:p>
            <a:pPr algn="ctr"/>
            <a:endParaRPr lang="fr-FR" sz="2000" b="1" dirty="0">
              <a:solidFill>
                <a:srgbClr val="4A453F"/>
              </a:solidFill>
              <a:latin typeface="Baskerville Old Face" panose="02020602080505020303" pitchFamily="18" charset="0"/>
            </a:endParaRPr>
          </a:p>
          <a:p>
            <a:pPr algn="ctr"/>
            <a:r>
              <a:rPr lang="fr-FR" sz="1400" dirty="0">
                <a:solidFill>
                  <a:srgbClr val="4A453F"/>
                </a:solidFill>
                <a:latin typeface="Baskerville Old Face" panose="02020602080505020303" pitchFamily="18" charset="0"/>
              </a:rPr>
              <a:t>(Activité non ouverte aux personnes mineures)</a:t>
            </a: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endParaRPr lang="fr-FR" sz="2000" b="1" dirty="0">
              <a:solidFill>
                <a:srgbClr val="4A453F"/>
              </a:solidFill>
              <a:latin typeface="Baskerville Old Face" panose="02020602080505020303" pitchFamily="18" charset="0"/>
            </a:endParaRPr>
          </a:p>
          <a:p>
            <a:pPr algn="ctr"/>
            <a:r>
              <a:rPr lang="fr-FR" sz="2000" b="1" dirty="0">
                <a:solidFill>
                  <a:srgbClr val="4A453F"/>
                </a:solidFill>
                <a:latin typeface="Baskerville Old Face" panose="02020602080505020303" pitchFamily="18" charset="0"/>
              </a:rPr>
              <a:t>Les vendredi 26, samedi 27 et dimanche 28 juin 2026</a:t>
            </a:r>
          </a:p>
          <a:p>
            <a:pPr algn="ctr"/>
            <a:r>
              <a:rPr lang="fr-FR" sz="2000" b="1" dirty="0">
                <a:solidFill>
                  <a:srgbClr val="4A453F"/>
                </a:solidFill>
                <a:latin typeface="Baskerville Old Face" panose="02020602080505020303" pitchFamily="18" charset="0"/>
              </a:rPr>
              <a:t>au fort de </a:t>
            </a:r>
            <a:r>
              <a:rPr lang="fr-FR" sz="2000" b="1" dirty="0" err="1">
                <a:solidFill>
                  <a:srgbClr val="4A453F"/>
                </a:solidFill>
                <a:latin typeface="Baskerville Old Face" panose="02020602080505020303" pitchFamily="18" charset="0"/>
              </a:rPr>
              <a:t>Cognelot</a:t>
            </a:r>
            <a:r>
              <a:rPr lang="fr-FR" sz="2000" b="1" dirty="0">
                <a:solidFill>
                  <a:srgbClr val="4A453F"/>
                </a:solidFill>
                <a:latin typeface="Baskerville Old Face" panose="02020602080505020303" pitchFamily="18" charset="0"/>
              </a:rPr>
              <a:t> </a:t>
            </a:r>
            <a:r>
              <a:rPr lang="fr-FR" sz="1600" dirty="0">
                <a:solidFill>
                  <a:srgbClr val="4A453F"/>
                </a:solidFill>
                <a:latin typeface="Baskerville Old Face" panose="02020602080505020303" pitchFamily="18" charset="0"/>
              </a:rPr>
              <a:t>(52600 Chalindrey)</a:t>
            </a:r>
            <a:r>
              <a:rPr lang="fr-FR" sz="2000" dirty="0">
                <a:solidFill>
                  <a:srgbClr val="4A453F"/>
                </a:solidFill>
                <a:latin typeface="Baskerville Old Face" panose="02020602080505020303" pitchFamily="18" charset="0"/>
              </a:rPr>
              <a:t>.</a:t>
            </a:r>
          </a:p>
          <a:p>
            <a:pPr algn="ctr"/>
            <a:endParaRPr lang="fr-FR" sz="2000" dirty="0">
              <a:solidFill>
                <a:srgbClr val="4A453F"/>
              </a:solidFill>
              <a:latin typeface="Baskerville Old Face" panose="02020602080505020303" pitchFamily="18" charset="0"/>
            </a:endParaRPr>
          </a:p>
          <a:p>
            <a:pPr algn="ctr"/>
            <a:r>
              <a:rPr lang="fr-FR" sz="1600" dirty="0">
                <a:solidFill>
                  <a:srgbClr val="4A453F"/>
                </a:solidFill>
                <a:latin typeface="Baskerville Old Face" panose="02020602080505020303" pitchFamily="18" charset="0"/>
              </a:rPr>
              <a:t>Un jeu de rôle grandeur nature celtique basé sur l’intrigue, la diplomatie, le combat, la roublardise et des discussions interminables des druides pour décider de la survie ou non de nous, </a:t>
            </a:r>
            <a:r>
              <a:rPr lang="fr-FR" sz="1600" dirty="0" err="1">
                <a:solidFill>
                  <a:srgbClr val="4A453F"/>
                </a:solidFill>
                <a:latin typeface="Baskerville Old Face" panose="02020602080505020303" pitchFamily="18" charset="0"/>
              </a:rPr>
              <a:t>pôvres</a:t>
            </a:r>
            <a:r>
              <a:rPr lang="fr-FR" sz="1600" dirty="0">
                <a:solidFill>
                  <a:srgbClr val="4A453F"/>
                </a:solidFill>
                <a:latin typeface="Baskerville Old Face" panose="02020602080505020303" pitchFamily="18" charset="0"/>
              </a:rPr>
              <a:t> humains.</a:t>
            </a:r>
          </a:p>
          <a:p>
            <a:pPr algn="ctr"/>
            <a:endParaRPr lang="fr-FR" sz="1600" dirty="0">
              <a:solidFill>
                <a:srgbClr val="4A453F"/>
              </a:solidFill>
              <a:latin typeface="Baskerville Old Face" panose="02020602080505020303" pitchFamily="18" charset="0"/>
            </a:endParaRPr>
          </a:p>
        </p:txBody>
      </p:sp>
      <p:pic>
        <p:nvPicPr>
          <p:cNvPr id="2" name="Image 1">
            <a:extLst>
              <a:ext uri="{FF2B5EF4-FFF2-40B4-BE49-F238E27FC236}">
                <a16:creationId xmlns:a16="http://schemas.microsoft.com/office/drawing/2014/main" id="{BD78DF18-9672-5F07-2A6F-50DC20D06F22}"/>
              </a:ext>
            </a:extLst>
          </p:cNvPr>
          <p:cNvPicPr>
            <a:picLocks noChangeAspect="1"/>
          </p:cNvPicPr>
          <p:nvPr/>
        </p:nvPicPr>
        <p:blipFill>
          <a:blip r:embed="rId5">
            <a:clrChange>
              <a:clrFrom>
                <a:srgbClr val="FFFFFF"/>
              </a:clrFrom>
              <a:clrTo>
                <a:srgbClr val="FFFFFF">
                  <a:alpha val="0"/>
                </a:srgbClr>
              </a:clrTo>
            </a:clrChange>
          </a:blip>
          <a:srcRect r="24900"/>
          <a:stretch>
            <a:fillRect/>
          </a:stretch>
        </p:blipFill>
        <p:spPr>
          <a:xfrm>
            <a:off x="2481515" y="726159"/>
            <a:ext cx="2596645" cy="614363"/>
          </a:xfrm>
          <a:prstGeom prst="rect">
            <a:avLst/>
          </a:prstGeom>
        </p:spPr>
      </p:pic>
      <p:pic>
        <p:nvPicPr>
          <p:cNvPr id="8" name="Image 7" descr="Une image contenant dessin, croquis, peinture, art&#10;&#10;Le contenu généré par l’IA peut être incorrect.">
            <a:extLst>
              <a:ext uri="{FF2B5EF4-FFF2-40B4-BE49-F238E27FC236}">
                <a16:creationId xmlns:a16="http://schemas.microsoft.com/office/drawing/2014/main" id="{1AA6C3BA-B9DE-953B-3171-C090B75E8308}"/>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59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683837" y="3719618"/>
            <a:ext cx="6192000" cy="4128000"/>
          </a:xfrm>
          <a:prstGeom prst="rect">
            <a:avLst/>
          </a:prstGeom>
          <a:effectLst>
            <a:softEdge rad="317500"/>
          </a:effectLst>
        </p:spPr>
      </p:pic>
    </p:spTree>
    <p:extLst>
      <p:ext uri="{BB962C8B-B14F-4D97-AF65-F5344CB8AC3E}">
        <p14:creationId xmlns:p14="http://schemas.microsoft.com/office/powerpoint/2010/main" val="314319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2540000" sx="100000" sy="100000" flip="none" algn="tl"/>
        </a:blipFill>
        <a:effectLst/>
      </p:bgPr>
    </p:bg>
    <p:spTree>
      <p:nvGrpSpPr>
        <p:cNvPr id="1" name="">
          <a:extLst>
            <a:ext uri="{FF2B5EF4-FFF2-40B4-BE49-F238E27FC236}">
              <a16:creationId xmlns:a16="http://schemas.microsoft.com/office/drawing/2014/main" id="{DEFD9E10-010B-DE32-1AE2-F985D550E61C}"/>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78E64C8F-D7C4-4DCE-DFE6-635ACD843D21}"/>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C09679AE-F0B0-17A3-17E5-1EB7741D1796}"/>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88C60326-50F5-346C-24B2-64E628C4F15F}"/>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5635ED22-98DD-33F6-BA4B-D4FEDEF4183C}"/>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A60EADE3-A6B9-9C34-838D-0B56016EEF0B}"/>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31A15CDF-26A2-6252-0B7E-B4A92E9E615B}"/>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7A1C3440-B4C1-FFDD-AE8A-7BEDF5041A32}"/>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F9CABD2B-A09B-0B62-2C68-9838812D9B45}"/>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6</a:t>
            </a:r>
          </a:p>
        </p:txBody>
      </p:sp>
      <p:sp>
        <p:nvSpPr>
          <p:cNvPr id="21" name="ZoneTexte 20">
            <a:extLst>
              <a:ext uri="{FF2B5EF4-FFF2-40B4-BE49-F238E27FC236}">
                <a16:creationId xmlns:a16="http://schemas.microsoft.com/office/drawing/2014/main" id="{BC25DAA6-87E6-FD85-9E39-B4648A9F7212}"/>
              </a:ext>
            </a:extLst>
          </p:cNvPr>
          <p:cNvSpPr txBox="1"/>
          <p:nvPr/>
        </p:nvSpPr>
        <p:spPr>
          <a:xfrm>
            <a:off x="180000" y="754188"/>
            <a:ext cx="7200000" cy="7201972"/>
          </a:xfrm>
          <a:prstGeom prst="rect">
            <a:avLst/>
          </a:prstGeom>
          <a:noFill/>
        </p:spPr>
        <p:txBody>
          <a:bodyPr wrap="square">
            <a:spAutoFit/>
          </a:bodyPr>
          <a:lstStyle/>
          <a:p>
            <a:pPr algn="just"/>
            <a:r>
              <a:rPr lang="fr-FR" sz="1400" b="1" i="0" u="none" strike="noStrike" baseline="0" dirty="0">
                <a:solidFill>
                  <a:srgbClr val="4A453F"/>
                </a:solidFill>
                <a:latin typeface="Baskerville Old Face" panose="02020602080505020303" pitchFamily="18" charset="0"/>
              </a:rPr>
              <a:t>Horaires</a:t>
            </a:r>
          </a:p>
          <a:p>
            <a:pPr algn="just"/>
            <a:r>
              <a:rPr lang="fr-FR" sz="1400" b="0" i="0" u="none" strike="noStrike" baseline="0" dirty="0">
                <a:solidFill>
                  <a:srgbClr val="4A453F"/>
                </a:solidFill>
                <a:latin typeface="Baskerville Old Face" panose="02020602080505020303" pitchFamily="18" charset="0"/>
              </a:rPr>
              <a:t>Le jeu débutera le vendredi soir à 20h00. </a:t>
            </a:r>
            <a:r>
              <a:rPr lang="fr-FR" sz="1400" b="1" i="0" u="none" strike="noStrike" baseline="0" dirty="0">
                <a:solidFill>
                  <a:srgbClr val="4A453F"/>
                </a:solidFill>
                <a:latin typeface="Baskerville Old Face" panose="02020602080505020303" pitchFamily="18" charset="0"/>
              </a:rPr>
              <a:t>Prévoyez d’arriver entre 16h et 18h</a:t>
            </a:r>
            <a:r>
              <a:rPr lang="fr-FR" sz="1400" b="0" i="0" u="none" strike="noStrike" baseline="0" dirty="0">
                <a:solidFill>
                  <a:srgbClr val="4A453F"/>
                </a:solidFill>
                <a:latin typeface="Baskerville Old Face" panose="02020602080505020303" pitchFamily="18" charset="0"/>
              </a:rPr>
              <a:t>. Avant 16h, vous ne pourrez pas accéder au site pour des raisons d’organisation. </a:t>
            </a:r>
            <a:r>
              <a:rPr lang="fr-FR" sz="1400" b="1" i="0" u="none" strike="noStrike" baseline="0" dirty="0">
                <a:solidFill>
                  <a:srgbClr val="4A453F"/>
                </a:solidFill>
                <a:latin typeface="Baskerville Old Face" panose="02020602080505020303" pitchFamily="18" charset="0"/>
              </a:rPr>
              <a:t>Les véhicules devront quitter le site et être garés sur le parking extérieur au plus tard à 19h. </a:t>
            </a:r>
            <a:r>
              <a:rPr lang="fr-FR" sz="1400" dirty="0">
                <a:solidFill>
                  <a:srgbClr val="4A453F"/>
                </a:solidFill>
                <a:latin typeface="Baskerville Old Face" panose="02020602080505020303" pitchFamily="18" charset="0"/>
              </a:rPr>
              <a:t>Les briefings et autres règlements de compte se dérouleront à partir de 19h00. </a:t>
            </a:r>
            <a:endParaRPr lang="fr-FR" sz="1400" b="1" i="0" u="none" strike="noStrike" baseline="0" dirty="0">
              <a:solidFill>
                <a:srgbClr val="4A453F"/>
              </a:solidFill>
              <a:latin typeface="Baskerville Old Face" panose="02020602080505020303" pitchFamily="18" charset="0"/>
            </a:endParaRPr>
          </a:p>
          <a:p>
            <a:pPr algn="just"/>
            <a:r>
              <a:rPr lang="fr-FR" sz="1400" dirty="0">
                <a:solidFill>
                  <a:srgbClr val="4A453F"/>
                </a:solidFill>
                <a:latin typeface="Baskerville Old Face" panose="02020602080505020303" pitchFamily="18" charset="0"/>
              </a:rPr>
              <a:t>La fin du jeu est prévue dans la nuit du samedi au dimanche. Le débriefing aura lieu le dimanche matin à 11h dans la rue principale du fort.</a:t>
            </a:r>
            <a:endParaRPr lang="fr-FR" sz="1400" i="0" u="none" strike="noStrike" baseline="0" dirty="0">
              <a:solidFill>
                <a:srgbClr val="4A453F"/>
              </a:solidFill>
              <a:latin typeface="Baskerville Old Face" panose="02020602080505020303" pitchFamily="18" charset="0"/>
            </a:endParaRPr>
          </a:p>
          <a:p>
            <a:pPr algn="just"/>
            <a:endParaRPr lang="fr-FR" sz="1400" b="1" i="0" u="none" strike="noStrike" baseline="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Inscription</a:t>
            </a:r>
          </a:p>
          <a:p>
            <a:pPr algn="just"/>
            <a:r>
              <a:rPr lang="fr-FR" sz="1400" dirty="0">
                <a:solidFill>
                  <a:srgbClr val="4A453F"/>
                </a:solidFill>
                <a:latin typeface="Baskerville Old Face" panose="02020602080505020303" pitchFamily="18" charset="0"/>
              </a:rPr>
              <a:t>L’inscription, le règlement de 75 € (joueurs) ou 35 € (PNJ) et la décharge de responsabilité se font uniquement par </a:t>
            </a:r>
            <a:r>
              <a:rPr lang="fr-FR" sz="1400" dirty="0" err="1">
                <a:solidFill>
                  <a:srgbClr val="4A453F"/>
                </a:solidFill>
                <a:latin typeface="Baskerville Old Face" panose="02020602080505020303" pitchFamily="18" charset="0"/>
                <a:hlinkClick r:id="rId5"/>
              </a:rPr>
              <a:t>HelloAsso</a:t>
            </a:r>
            <a:r>
              <a:rPr lang="fr-FR" sz="1400" dirty="0">
                <a:solidFill>
                  <a:srgbClr val="4A453F"/>
                </a:solidFill>
                <a:latin typeface="Baskerville Old Face" panose="02020602080505020303" pitchFamily="18" charset="0"/>
              </a:rPr>
              <a:t>. L’inscription couvre les frais d’organisation, de matériel, une auberge sur le jeu, les petits déjeuners et la bière, l’hébergement « en dur » et les sanitaires. Tous les autres repas sont à la charge des joueurs. L’activité n’étant pas ouverte aux mineurs, une pièce d’identité pourra vous être demandée à votre arrivée le 26 juin 2026 et l’accès refusé le cas échéant.</a:t>
            </a:r>
          </a:p>
          <a:p>
            <a:pPr algn="just"/>
            <a:endParaRPr lang="fr-FR" sz="1400" dirty="0">
              <a:solidFill>
                <a:srgbClr val="4A453F"/>
              </a:solidFill>
              <a:latin typeface="Baskerville Old Face" panose="02020602080505020303" pitchFamily="18" charset="0"/>
            </a:endParaRPr>
          </a:p>
          <a:p>
            <a:pPr algn="just"/>
            <a:r>
              <a:rPr lang="fr-FR" sz="1400" dirty="0">
                <a:solidFill>
                  <a:srgbClr val="4A453F"/>
                </a:solidFill>
                <a:latin typeface="Baskerville Old Face" panose="02020602080505020303" pitchFamily="18" charset="0"/>
              </a:rPr>
              <a:t>L’inscription est prise en compte dès réception du paiement. Les frais d’inscription sont remboursables par l’association en cas de raison grave et justifiée, mais 10€ sont dans tous les cas retenus pour couvrir les frais engagés par l’association (frais de réservation, frais de rôle, etc.) Un désistement intervenant à moins de 20 jours avant la date du jeu n’est plus remboursable (sauf cas de force majeure : maladie ou décès dans la famille). Dans ce cas, 10€ seront quand même retenus pour les raisons évoquées précédemment.</a:t>
            </a:r>
          </a:p>
          <a:p>
            <a:pPr algn="just"/>
            <a:endParaRPr lang="fr-FR" sz="1400" dirty="0">
              <a:solidFill>
                <a:srgbClr val="4A453F"/>
              </a:solidFill>
              <a:latin typeface="Baskerville Old Face" panose="02020602080505020303" pitchFamily="18" charset="0"/>
            </a:endParaRPr>
          </a:p>
          <a:p>
            <a:pPr algn="just"/>
            <a:r>
              <a:rPr lang="fr-FR" sz="1400" dirty="0">
                <a:solidFill>
                  <a:srgbClr val="4A453F"/>
                </a:solidFill>
                <a:latin typeface="Baskerville Old Face" panose="02020602080505020303" pitchFamily="18" charset="0"/>
              </a:rPr>
              <a:t>Chaque joueur doit se procurer un costume et des armes conformes à l'époque du jeu (époque Celtique) et au rôle qu'il a à jouer (l'association peut vous indiquer des bons plans pour acheter, louer ou vous faire prêter du matos). Les armes seront systématiquement vérifiées et validées par les organisateurs avant autorisation d’utilisation en jeu.</a:t>
            </a:r>
          </a:p>
          <a:p>
            <a:pPr algn="just"/>
            <a:endParaRPr lang="fr-FR" sz="1400" dirty="0">
              <a:solidFill>
                <a:srgbClr val="4A453F"/>
              </a:solidFill>
              <a:latin typeface="Baskerville Old Face" panose="02020602080505020303" pitchFamily="18" charset="0"/>
            </a:endParaRPr>
          </a:p>
          <a:p>
            <a:pPr algn="just"/>
            <a:r>
              <a:rPr lang="fr-FR" sz="1400" dirty="0">
                <a:solidFill>
                  <a:srgbClr val="4A453F"/>
                </a:solidFill>
                <a:latin typeface="Baskerville Old Face" panose="02020602080505020303" pitchFamily="18" charset="0"/>
              </a:rPr>
              <a:t>Vous pouvez contacter l’organisation :</a:t>
            </a:r>
          </a:p>
          <a:p>
            <a:pPr algn="just"/>
            <a:r>
              <a:rPr lang="fr-FR" sz="1400" dirty="0">
                <a:solidFill>
                  <a:srgbClr val="4A453F"/>
                </a:solidFill>
                <a:latin typeface="Baskerville Old Face" panose="02020602080505020303" pitchFamily="18" charset="0"/>
              </a:rPr>
              <a:t>Tél : </a:t>
            </a:r>
            <a:r>
              <a:rPr lang="fr-FR" sz="1400" b="1" dirty="0">
                <a:solidFill>
                  <a:srgbClr val="4A453F"/>
                </a:solidFill>
                <a:latin typeface="Baskerville Old Face" panose="02020602080505020303" pitchFamily="18" charset="0"/>
              </a:rPr>
              <a:t>06 12 97 31 14 </a:t>
            </a:r>
            <a:r>
              <a:rPr lang="fr-FR" sz="1400" dirty="0">
                <a:solidFill>
                  <a:srgbClr val="4A453F"/>
                </a:solidFill>
                <a:latin typeface="Baskerville Old Face" panose="02020602080505020303" pitchFamily="18" charset="0"/>
              </a:rPr>
              <a:t>( Eric Jumel)</a:t>
            </a:r>
          </a:p>
          <a:p>
            <a:pPr algn="just"/>
            <a:r>
              <a:rPr lang="fr-FR" sz="1400" dirty="0">
                <a:solidFill>
                  <a:srgbClr val="4A453F"/>
                </a:solidFill>
                <a:latin typeface="Baskerville Old Face" panose="02020602080505020303" pitchFamily="18" charset="0"/>
              </a:rPr>
              <a:t>courriel : </a:t>
            </a:r>
            <a:r>
              <a:rPr lang="fr-FR" sz="1400" b="1" dirty="0">
                <a:solidFill>
                  <a:srgbClr val="4A453F"/>
                </a:solidFill>
                <a:latin typeface="Baskerville Old Face" panose="02020602080505020303" pitchFamily="18" charset="0"/>
                <a:hlinkClick r:id="rId6"/>
              </a:rPr>
              <a:t>dep101mo@gmail.com</a:t>
            </a:r>
            <a:r>
              <a:rPr lang="fr-FR" sz="1400" b="1" dirty="0">
                <a:solidFill>
                  <a:srgbClr val="4A453F"/>
                </a:solidFill>
                <a:latin typeface="Baskerville Old Face" panose="02020602080505020303" pitchFamily="18" charset="0"/>
              </a:rPr>
              <a:t>   </a:t>
            </a:r>
          </a:p>
          <a:p>
            <a:pPr algn="just"/>
            <a:endParaRPr lang="fr-FR" sz="1400" b="1" dirty="0">
              <a:solidFill>
                <a:srgbClr val="4A453F"/>
              </a:solidFill>
              <a:latin typeface="Baskerville Old Face" panose="02020602080505020303" pitchFamily="18" charset="0"/>
            </a:endParaRPr>
          </a:p>
          <a:p>
            <a:pPr algn="just"/>
            <a:r>
              <a:rPr lang="fr-FR" sz="1400" dirty="0">
                <a:solidFill>
                  <a:srgbClr val="4A453F"/>
                </a:solidFill>
                <a:latin typeface="Baskerville Old Face" panose="02020602080505020303" pitchFamily="18" charset="0"/>
              </a:rPr>
              <a:t>La page Facebook </a:t>
            </a:r>
            <a:r>
              <a:rPr lang="fr-FR" sz="1400" dirty="0" err="1">
                <a:solidFill>
                  <a:srgbClr val="4A453F"/>
                </a:solidFill>
                <a:latin typeface="Baskerville Old Face" panose="02020602080505020303" pitchFamily="18" charset="0"/>
              </a:rPr>
              <a:t>Celtiana</a:t>
            </a:r>
            <a:r>
              <a:rPr lang="fr-FR" sz="1400" dirty="0">
                <a:solidFill>
                  <a:srgbClr val="4A453F"/>
                </a:solidFill>
                <a:latin typeface="Baskerville Old Face" panose="02020602080505020303" pitchFamily="18" charset="0"/>
              </a:rPr>
              <a:t> : https://www.facebook.com/celtiana/</a:t>
            </a:r>
          </a:p>
          <a:p>
            <a:pPr algn="just"/>
            <a:endParaRPr lang="fr-FR" sz="1400" dirty="0">
              <a:solidFill>
                <a:srgbClr val="4A453F"/>
              </a:solidFill>
              <a:latin typeface="Baskerville Old Face" panose="02020602080505020303" pitchFamily="18" charset="0"/>
            </a:endParaRPr>
          </a:p>
        </p:txBody>
      </p:sp>
    </p:spTree>
    <p:extLst>
      <p:ext uri="{BB962C8B-B14F-4D97-AF65-F5344CB8AC3E}">
        <p14:creationId xmlns:p14="http://schemas.microsoft.com/office/powerpoint/2010/main" val="840276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837473B0-CC2E-450A-ABE3-18F120FF3D39}">
                <a1611:picAttrSrcUrl xmlns:a1611="http://schemas.microsoft.com/office/drawing/2016/11/main" r:id="rId4"/>
              </a:ext>
            </a:extLst>
          </a:blip>
          <a:srcRect/>
          <a:tile tx="0" ty="2540000" sx="100000" sy="100000" flip="none" algn="tl"/>
        </a:blipFill>
        <a:effectLst/>
      </p:bgPr>
    </p:bg>
    <p:spTree>
      <p:nvGrpSpPr>
        <p:cNvPr id="1" name="">
          <a:extLst>
            <a:ext uri="{FF2B5EF4-FFF2-40B4-BE49-F238E27FC236}">
              <a16:creationId xmlns:a16="http://schemas.microsoft.com/office/drawing/2014/main" id="{EA6F0389-3D5B-E8D7-6ACF-DA54CF40B224}"/>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50DB7512-586F-459A-8D7F-EA5538CE558F}"/>
              </a:ext>
            </a:extLst>
          </p:cNvPr>
          <p:cNvSpPr txBox="1"/>
          <p:nvPr/>
        </p:nvSpPr>
        <p:spPr>
          <a:xfrm>
            <a:off x="179837" y="62525"/>
            <a:ext cx="7200000" cy="523220"/>
          </a:xfrm>
          <a:prstGeom prst="rect">
            <a:avLst/>
          </a:prstGeom>
          <a:noFill/>
        </p:spPr>
        <p:txBody>
          <a:bodyPr wrap="square" rtlCol="0">
            <a:spAutoFit/>
          </a:bodyPr>
          <a:lstStyle/>
          <a:p>
            <a:pPr algn="ctr"/>
            <a:r>
              <a:rPr lang="fr-FR" sz="2800" spc="-400" dirty="0">
                <a:solidFill>
                  <a:srgbClr val="4A453F"/>
                </a:solidFill>
                <a:latin typeface="Dwarven Stonecraft" pitchFamily="2" charset="0"/>
              </a:rPr>
              <a:t>LA GAZETTE DES MURMURES</a:t>
            </a:r>
          </a:p>
        </p:txBody>
      </p:sp>
      <p:sp>
        <p:nvSpPr>
          <p:cNvPr id="5" name="ZoneTexte 4">
            <a:extLst>
              <a:ext uri="{FF2B5EF4-FFF2-40B4-BE49-F238E27FC236}">
                <a16:creationId xmlns:a16="http://schemas.microsoft.com/office/drawing/2014/main" id="{C9856D93-ACB1-A754-3ADE-42FC392ECBEF}"/>
              </a:ext>
            </a:extLst>
          </p:cNvPr>
          <p:cNvSpPr txBox="1"/>
          <p:nvPr/>
        </p:nvSpPr>
        <p:spPr>
          <a:xfrm>
            <a:off x="180181"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Numéro 136 ½  </a:t>
            </a:r>
            <a:endParaRPr lang="fr-FR" dirty="0">
              <a:solidFill>
                <a:srgbClr val="4A453F"/>
              </a:solidFill>
              <a:latin typeface="Baskerville Old Face" panose="02020602080505020303" pitchFamily="18" charset="0"/>
            </a:endParaRPr>
          </a:p>
        </p:txBody>
      </p:sp>
      <p:sp>
        <p:nvSpPr>
          <p:cNvPr id="7" name="ZoneTexte 6">
            <a:extLst>
              <a:ext uri="{FF2B5EF4-FFF2-40B4-BE49-F238E27FC236}">
                <a16:creationId xmlns:a16="http://schemas.microsoft.com/office/drawing/2014/main" id="{2AA299C0-E8B9-E962-4FCC-DE5CC875A2CD}"/>
              </a:ext>
            </a:extLst>
          </p:cNvPr>
          <p:cNvSpPr txBox="1"/>
          <p:nvPr/>
        </p:nvSpPr>
        <p:spPr>
          <a:xfrm>
            <a:off x="5939494" y="240955"/>
            <a:ext cx="1440000" cy="261610"/>
          </a:xfrm>
          <a:prstGeom prst="rect">
            <a:avLst/>
          </a:prstGeom>
          <a:noFill/>
          <a:ln w="12700" cmpd="thinThick">
            <a:noFill/>
          </a:ln>
        </p:spPr>
        <p:txBody>
          <a:bodyPr wrap="square" rtlCol="0">
            <a:spAutoFit/>
          </a:bodyPr>
          <a:lstStyle/>
          <a:p>
            <a:pPr algn="ctr"/>
            <a:r>
              <a:rPr lang="fr-FR" sz="1100" dirty="0">
                <a:solidFill>
                  <a:srgbClr val="4A453F"/>
                </a:solidFill>
                <a:latin typeface="Baskerville Old Face" panose="02020602080505020303" pitchFamily="18" charset="0"/>
              </a:rPr>
              <a:t>6</a:t>
            </a:r>
            <a:r>
              <a:rPr lang="fr-FR" sz="1100" baseline="30000" dirty="0">
                <a:solidFill>
                  <a:srgbClr val="4A453F"/>
                </a:solidFill>
                <a:latin typeface="Baskerville Old Face" panose="02020602080505020303" pitchFamily="18" charset="0"/>
              </a:rPr>
              <a:t>e</a:t>
            </a:r>
            <a:r>
              <a:rPr lang="fr-FR" sz="1100" dirty="0">
                <a:solidFill>
                  <a:srgbClr val="4A453F"/>
                </a:solidFill>
                <a:latin typeface="Baskerville Old Face" panose="02020602080505020303" pitchFamily="18" charset="0"/>
                <a:sym typeface="Wingdings" panose="05000000000000000000" pitchFamily="2" charset="2"/>
              </a:rPr>
              <a:t>/547/IV</a:t>
            </a:r>
            <a:r>
              <a:rPr lang="fr-FR" sz="1100" dirty="0">
                <a:solidFill>
                  <a:srgbClr val="4A453F"/>
                </a:solidFill>
                <a:latin typeface="Baskerville Old Face" panose="02020602080505020303" pitchFamily="18" charset="0"/>
              </a:rPr>
              <a:t> </a:t>
            </a:r>
            <a:r>
              <a:rPr lang="fr-FR" sz="1100" baseline="30000" dirty="0">
                <a:solidFill>
                  <a:srgbClr val="4A453F"/>
                </a:solidFill>
                <a:latin typeface="Baskerville Old Face" panose="02020602080505020303" pitchFamily="18" charset="0"/>
              </a:rPr>
              <a:t> </a:t>
            </a:r>
            <a:endParaRPr lang="fr-FR" dirty="0">
              <a:solidFill>
                <a:srgbClr val="4A453F"/>
              </a:solidFill>
              <a:latin typeface="Baskerville Old Face" panose="02020602080505020303" pitchFamily="18" charset="0"/>
            </a:endParaRPr>
          </a:p>
        </p:txBody>
      </p:sp>
      <p:cxnSp>
        <p:nvCxnSpPr>
          <p:cNvPr id="11" name="Connecteur droit 10">
            <a:extLst>
              <a:ext uri="{FF2B5EF4-FFF2-40B4-BE49-F238E27FC236}">
                <a16:creationId xmlns:a16="http://schemas.microsoft.com/office/drawing/2014/main" id="{9AAEF399-E61D-1471-0119-C11EC84CCBF4}"/>
              </a:ext>
            </a:extLst>
          </p:cNvPr>
          <p:cNvCxnSpPr/>
          <p:nvPr/>
        </p:nvCxnSpPr>
        <p:spPr>
          <a:xfrm>
            <a:off x="180181" y="16144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3AD5B21C-1AC7-21DA-1DC1-008688BFFC6C}"/>
              </a:ext>
            </a:extLst>
          </p:cNvPr>
          <p:cNvCxnSpPr>
            <a:cxnSpLocks/>
          </p:cNvCxnSpPr>
          <p:nvPr/>
        </p:nvCxnSpPr>
        <p:spPr>
          <a:xfrm flipV="1">
            <a:off x="180181" y="574197"/>
            <a:ext cx="720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BA69D1BB-0565-AA89-3553-775964843A44}"/>
              </a:ext>
            </a:extLst>
          </p:cNvPr>
          <p:cNvCxnSpPr>
            <a:cxnSpLocks/>
          </p:cNvCxnSpPr>
          <p:nvPr/>
        </p:nvCxnSpPr>
        <p:spPr>
          <a:xfrm flipV="1">
            <a:off x="17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7D94C155-A585-CA69-F71C-4864B6B86004}"/>
              </a:ext>
            </a:extLst>
          </p:cNvPr>
          <p:cNvCxnSpPr>
            <a:cxnSpLocks/>
          </p:cNvCxnSpPr>
          <p:nvPr/>
        </p:nvCxnSpPr>
        <p:spPr>
          <a:xfrm flipV="1">
            <a:off x="4139494" y="10518854"/>
            <a:ext cx="3240000" cy="0"/>
          </a:xfrm>
          <a:prstGeom prst="line">
            <a:avLst/>
          </a:prstGeom>
          <a:ln w="31750" cmpd="thinThick">
            <a:solidFill>
              <a:srgbClr val="4A453F"/>
            </a:solidFill>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6446291F-A5F8-384B-CCBF-4604362370D6}"/>
              </a:ext>
            </a:extLst>
          </p:cNvPr>
          <p:cNvSpPr txBox="1"/>
          <p:nvPr/>
        </p:nvSpPr>
        <p:spPr>
          <a:xfrm>
            <a:off x="3429868" y="10378440"/>
            <a:ext cx="720000" cy="261610"/>
          </a:xfrm>
          <a:prstGeom prst="rect">
            <a:avLst/>
          </a:prstGeom>
          <a:noFill/>
        </p:spPr>
        <p:txBody>
          <a:bodyPr wrap="square" rtlCol="0">
            <a:spAutoFit/>
          </a:bodyPr>
          <a:lstStyle/>
          <a:p>
            <a:pPr algn="ctr"/>
            <a:r>
              <a:rPr lang="fr-FR" sz="1100" dirty="0">
                <a:solidFill>
                  <a:srgbClr val="4A453F"/>
                </a:solidFill>
                <a:latin typeface="Baskerville Old Face" panose="02020602080505020303" pitchFamily="18" charset="0"/>
              </a:rPr>
              <a:t>Page 7</a:t>
            </a:r>
          </a:p>
        </p:txBody>
      </p:sp>
      <p:sp>
        <p:nvSpPr>
          <p:cNvPr id="2" name="ZoneTexte 1">
            <a:extLst>
              <a:ext uri="{FF2B5EF4-FFF2-40B4-BE49-F238E27FC236}">
                <a16:creationId xmlns:a16="http://schemas.microsoft.com/office/drawing/2014/main" id="{068E8D5A-A086-6F02-A931-60FDE420BDFC}"/>
              </a:ext>
            </a:extLst>
          </p:cNvPr>
          <p:cNvSpPr txBox="1"/>
          <p:nvPr/>
        </p:nvSpPr>
        <p:spPr>
          <a:xfrm>
            <a:off x="180000" y="754188"/>
            <a:ext cx="7200000" cy="9787295"/>
          </a:xfrm>
          <a:prstGeom prst="rect">
            <a:avLst/>
          </a:prstGeom>
          <a:noFill/>
        </p:spPr>
        <p:txBody>
          <a:bodyPr wrap="square">
            <a:spAutoFit/>
          </a:bodyPr>
          <a:lstStyle/>
          <a:p>
            <a:pPr algn="just"/>
            <a:r>
              <a:rPr lang="fr-FR" sz="1400" b="1" dirty="0">
                <a:solidFill>
                  <a:srgbClr val="4A453F"/>
                </a:solidFill>
                <a:latin typeface="Baskerville Old Face" panose="02020602080505020303" pitchFamily="18" charset="0"/>
              </a:rPr>
              <a:t>Logistique</a:t>
            </a:r>
          </a:p>
          <a:p>
            <a:pPr algn="just"/>
            <a:endParaRPr lang="fr-FR" sz="1400" b="1"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Hébergement : </a:t>
            </a:r>
            <a:r>
              <a:rPr lang="fr-FR" sz="1400" dirty="0">
                <a:solidFill>
                  <a:srgbClr val="4A453F"/>
                </a:solidFill>
                <a:latin typeface="Baskerville Old Face" panose="02020602080505020303" pitchFamily="18" charset="0"/>
              </a:rPr>
              <a:t>Vous serez logés « en dur » ou en camp extérieur mais prévoyez lits de camps et duvets parce que le Fort peut être très humide (vrais sanitaires avec douches et eau chaude sur place). Il faut aussi apporter des lanternes électriques pour l’éclairage lors des déplacements, les torches directionnelles seront formellement interdites durant le jeu.</a:t>
            </a:r>
          </a:p>
          <a:p>
            <a:pPr algn="just"/>
            <a:endParaRPr lang="fr-FR" sz="1400" b="1"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Poubelles : </a:t>
            </a:r>
            <a:r>
              <a:rPr lang="fr-FR" sz="1400" dirty="0">
                <a:solidFill>
                  <a:srgbClr val="4A453F"/>
                </a:solidFill>
                <a:latin typeface="Baskerville Old Face" panose="02020602080505020303" pitchFamily="18" charset="0"/>
              </a:rPr>
              <a:t>Veuillez prévoir des sacs poubelles en quantité suffisante pour évacuer la totalité de vos déchets. Le site ne dispose pas de poubelles et l’on ne peut laisser aucun sac plein sur place !</a:t>
            </a:r>
          </a:p>
          <a:p>
            <a:pPr algn="just"/>
            <a:r>
              <a:rPr lang="fr-FR" sz="1400" dirty="0">
                <a:solidFill>
                  <a:srgbClr val="4A453F"/>
                </a:solidFill>
                <a:latin typeface="Baskerville Old Face" panose="02020602080505020303" pitchFamily="18" charset="0"/>
              </a:rPr>
              <a:t>Vous devrez donc repartir avec tous vos déchets … (ils ne seront pas gérés par l’organisation). </a:t>
            </a:r>
          </a:p>
          <a:p>
            <a:pPr algn="just"/>
            <a:endParaRPr lang="fr-FR" sz="140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Code Cadenas : </a:t>
            </a:r>
            <a:r>
              <a:rPr lang="fr-FR" sz="1400" dirty="0">
                <a:solidFill>
                  <a:srgbClr val="4A453F"/>
                </a:solidFill>
                <a:latin typeface="Baskerville Old Face" panose="02020602080505020303" pitchFamily="18" charset="0"/>
              </a:rPr>
              <a:t>Afin d’éviter les visites inopportunes, le site sera fermé durant le jeu. Pour cela nous utiliserons un cadenas dont le code sera 5172. Si pour une raison quelconque vous deviez quitter le site avant la fin du jeu (ou retourner à votre véhicule) nous vous demanderons de bien vouloir refermer la grille derrière vous avec le cadenas susmentionné.</a:t>
            </a:r>
          </a:p>
          <a:p>
            <a:pPr algn="just"/>
            <a:endParaRPr lang="fr-FR" sz="140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Les repas : </a:t>
            </a:r>
            <a:r>
              <a:rPr lang="fr-FR" sz="1400" dirty="0">
                <a:solidFill>
                  <a:srgbClr val="4A453F"/>
                </a:solidFill>
                <a:latin typeface="Baskerville Old Face" panose="02020602080505020303" pitchFamily="18" charset="0"/>
              </a:rPr>
              <a:t>Seront fournis à l’auberge les 2 petits déjeuners (samedi matin et dimanche matin) et de la bière. </a:t>
            </a:r>
            <a:r>
              <a:rPr lang="fr-FR" sz="1400" b="1" dirty="0">
                <a:solidFill>
                  <a:srgbClr val="4A453F"/>
                </a:solidFill>
                <a:latin typeface="Baskerville Old Face" panose="02020602080505020303" pitchFamily="18" charset="0"/>
              </a:rPr>
              <a:t>Attention prévoyez votre eau potable car il n’y en a pas sur le site. </a:t>
            </a:r>
            <a:r>
              <a:rPr lang="fr-FR" sz="1400" dirty="0">
                <a:solidFill>
                  <a:srgbClr val="4A453F"/>
                </a:solidFill>
                <a:latin typeface="Baskerville Old Face" panose="02020602080505020303" pitchFamily="18" charset="0"/>
              </a:rPr>
              <a:t>Les petits barbecues (type braséros) seront autorisés après validation des </a:t>
            </a:r>
            <a:r>
              <a:rPr lang="fr-FR" sz="1400" dirty="0" err="1">
                <a:solidFill>
                  <a:srgbClr val="4A453F"/>
                </a:solidFill>
                <a:latin typeface="Baskerville Old Face" panose="02020602080505020303" pitchFamily="18" charset="0"/>
              </a:rPr>
              <a:t>orgas</a:t>
            </a:r>
            <a:r>
              <a:rPr lang="fr-FR" sz="1400" dirty="0">
                <a:solidFill>
                  <a:srgbClr val="4A453F"/>
                </a:solidFill>
                <a:latin typeface="Baskerville Old Face" panose="02020602080505020303" pitchFamily="18" charset="0"/>
              </a:rPr>
              <a:t> dans la zone grillade prévue à cet effet pour éviter l’enfumage des rues et les risques lors des combats. Apportez vos couverts (assiette, verre/</a:t>
            </a:r>
            <a:r>
              <a:rPr lang="fr-FR" sz="1400" dirty="0" err="1">
                <a:solidFill>
                  <a:srgbClr val="4A453F"/>
                </a:solidFill>
                <a:latin typeface="Baskerville Old Face" panose="02020602080505020303" pitchFamily="18" charset="0"/>
              </a:rPr>
              <a:t>écocup</a:t>
            </a:r>
            <a:r>
              <a:rPr lang="fr-FR" sz="1400" dirty="0">
                <a:solidFill>
                  <a:srgbClr val="4A453F"/>
                </a:solidFill>
                <a:latin typeface="Baskerville Old Face" panose="02020602080505020303" pitchFamily="18" charset="0"/>
              </a:rPr>
              <a:t>, bol, couverts). </a:t>
            </a:r>
          </a:p>
          <a:p>
            <a:pPr algn="just"/>
            <a:endParaRPr lang="fr-FR" sz="140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Les biquettes : </a:t>
            </a:r>
            <a:r>
              <a:rPr lang="fr-FR" sz="1400" dirty="0">
                <a:solidFill>
                  <a:srgbClr val="4A453F"/>
                </a:solidFill>
                <a:latin typeface="Baskerville Old Face" panose="02020602080505020303" pitchFamily="18" charset="0"/>
              </a:rPr>
              <a:t>Des biquettes sont présentes sur une partie haute du fort. Leur zone de villégiature est en principe clôturée et ne sera pas en jeu (inaccessible donc). Prière de ne pas déplacer les barrières et clôtures obstruant certains couloirs et passages à l’intérieur même du fort sous peine de voir ces caprins se balader et chier partout en plus de tout bouffer.</a:t>
            </a:r>
          </a:p>
          <a:p>
            <a:pPr algn="just"/>
            <a:r>
              <a:rPr lang="fr-FR" sz="1400" dirty="0">
                <a:solidFill>
                  <a:srgbClr val="4A453F"/>
                </a:solidFill>
                <a:latin typeface="Baskerville Old Face" panose="02020602080505020303" pitchFamily="18" charset="0"/>
              </a:rPr>
              <a:t>Pour les joueurs ayant un passé de légionnaire, à priori c’est non. De toutes façons, on ne veut surtout rien savoir ! Attention, la nuit, ces charmantes biquettes se transforment en « chèvre garou à dents de sabre » et massacrent systématiquement tous ceux qui auront tenté de les importuner !</a:t>
            </a:r>
          </a:p>
          <a:p>
            <a:pPr algn="just"/>
            <a:endParaRPr lang="fr-FR" sz="140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Les douves :</a:t>
            </a:r>
            <a:r>
              <a:rPr lang="fr-FR" sz="1400" dirty="0">
                <a:solidFill>
                  <a:srgbClr val="4A453F"/>
                </a:solidFill>
                <a:latin typeface="Baskerville Old Face" panose="02020602080505020303" pitchFamily="18" charset="0"/>
              </a:rPr>
              <a:t> Le site possède des douves dont l’accès peut être dangereux. La prudence sera donc mise, la nuit, pendant vos futures courses folles les yeux fermés en hurlant de terreur afin d’échapper aux montres, carnassiers, chèvres garous à dents de sabre, voleurs, assassins, tueurs psychopathes… ou pour rallier d’urgence le « happy </a:t>
            </a:r>
            <a:r>
              <a:rPr lang="fr-FR" sz="1400" dirty="0" err="1">
                <a:solidFill>
                  <a:srgbClr val="4A453F"/>
                </a:solidFill>
                <a:latin typeface="Baskerville Old Face" panose="02020602080505020303" pitchFamily="18" charset="0"/>
              </a:rPr>
              <a:t>hour</a:t>
            </a:r>
            <a:r>
              <a:rPr lang="fr-FR" sz="1400" dirty="0">
                <a:solidFill>
                  <a:srgbClr val="4A453F"/>
                </a:solidFill>
                <a:latin typeface="Baskerville Old Face" panose="02020602080505020303" pitchFamily="18" charset="0"/>
              </a:rPr>
              <a:t> » de l’auberge.</a:t>
            </a:r>
          </a:p>
          <a:p>
            <a:pPr algn="just"/>
            <a:r>
              <a:rPr lang="fr-FR" sz="1400" dirty="0">
                <a:solidFill>
                  <a:srgbClr val="4A453F"/>
                </a:solidFill>
                <a:latin typeface="Baskerville Old Face" panose="02020602080505020303" pitchFamily="18" charset="0"/>
              </a:rPr>
              <a:t>Autre effet </a:t>
            </a:r>
            <a:r>
              <a:rPr lang="fr-FR" sz="1400" dirty="0" err="1">
                <a:solidFill>
                  <a:srgbClr val="4A453F"/>
                </a:solidFill>
                <a:latin typeface="Baskerville Old Face" panose="02020602080505020303" pitchFamily="18" charset="0"/>
              </a:rPr>
              <a:t>kisskool</a:t>
            </a:r>
            <a:r>
              <a:rPr lang="fr-FR" sz="1400" dirty="0">
                <a:solidFill>
                  <a:srgbClr val="4A453F"/>
                </a:solidFill>
                <a:latin typeface="Baskerville Old Face" panose="02020602080505020303" pitchFamily="18" charset="0"/>
              </a:rPr>
              <a:t>, il y a des douves dans les douves (deuxième marche). Elles sont très peu visibles avant de n’y être tombé au fond !</a:t>
            </a:r>
          </a:p>
          <a:p>
            <a:pPr algn="just"/>
            <a:endParaRPr lang="fr-FR" sz="1400" dirty="0">
              <a:solidFill>
                <a:srgbClr val="4A453F"/>
              </a:solidFill>
              <a:latin typeface="Baskerville Old Face" panose="02020602080505020303" pitchFamily="18" charset="0"/>
            </a:endParaRPr>
          </a:p>
          <a:p>
            <a:pPr algn="just"/>
            <a:r>
              <a:rPr lang="fr-FR" sz="1400" b="1" dirty="0">
                <a:solidFill>
                  <a:srgbClr val="4A453F"/>
                </a:solidFill>
                <a:latin typeface="Baskerville Old Face" panose="02020602080505020303" pitchFamily="18" charset="0"/>
              </a:rPr>
              <a:t>•	Les chiottes de guerre : </a:t>
            </a:r>
            <a:r>
              <a:rPr lang="fr-FR" sz="1400" dirty="0">
                <a:solidFill>
                  <a:srgbClr val="4A453F"/>
                </a:solidFill>
                <a:latin typeface="Baskerville Old Face" panose="02020602080505020303" pitchFamily="18" charset="0"/>
              </a:rPr>
              <a:t>Un « chiotte de guerre » en métal est présente dans la partie boisée du site. C’est une relique à laquelle tiennent tout particulièrement les propriétaires. Elle n’est plus fonctionnelle et ne doit pas être utilisée, abîmée, déplacée, taguée ou fondue… Par ailleurs, des pissotières de guerre en dur sont également présentes dans le fort. Prière de ne pas les utiliser non plus … Il y a de vrais WC qui marchent bien ainsi que des douches. </a:t>
            </a:r>
            <a:r>
              <a:rPr lang="fr-FR" sz="1400" b="1" dirty="0">
                <a:solidFill>
                  <a:srgbClr val="4A453F"/>
                </a:solidFill>
                <a:latin typeface="Baskerville Old Face" panose="02020602080505020303" pitchFamily="18" charset="0"/>
              </a:rPr>
              <a:t>Pensez à les laisser dans l’état où vous aimeriez les trouver. </a:t>
            </a:r>
          </a:p>
          <a:p>
            <a:pPr algn="just"/>
            <a:endParaRPr lang="fr-FR" sz="1400" dirty="0">
              <a:solidFill>
                <a:srgbClr val="4A453F"/>
              </a:solidFill>
              <a:latin typeface="Baskerville Old Face" panose="02020602080505020303" pitchFamily="18" charset="0"/>
            </a:endParaRPr>
          </a:p>
        </p:txBody>
      </p:sp>
    </p:spTree>
    <p:extLst>
      <p:ext uri="{BB962C8B-B14F-4D97-AF65-F5344CB8AC3E}">
        <p14:creationId xmlns:p14="http://schemas.microsoft.com/office/powerpoint/2010/main" val="317624651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1024</TotalTime>
  <Words>3670</Words>
  <Application>Microsoft Office PowerPoint</Application>
  <PresentationFormat>Personnalisé</PresentationFormat>
  <Paragraphs>255</Paragraphs>
  <Slides>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vt:i4>
      </vt:variant>
    </vt:vector>
  </HeadingPairs>
  <TitlesOfParts>
    <vt:vector size="14" baseType="lpstr">
      <vt:lpstr>Aptos</vt:lpstr>
      <vt:lpstr>Aptos Display</vt:lpstr>
      <vt:lpstr>Arial</vt:lpstr>
      <vt:lpstr>Baskerville Old Face</vt:lpstr>
      <vt:lpstr>Dwarven Stonecraft</vt:lpstr>
      <vt:lpstr>Wingdings 2</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JUMEL</dc:creator>
  <cp:lastModifiedBy>Eric JUMEL</cp:lastModifiedBy>
  <cp:revision>19</cp:revision>
  <cp:lastPrinted>2025-12-26T16:48:54Z</cp:lastPrinted>
  <dcterms:created xsi:type="dcterms:W3CDTF">2025-12-25T08:09:36Z</dcterms:created>
  <dcterms:modified xsi:type="dcterms:W3CDTF">2026-01-27T18:02:19Z</dcterms:modified>
</cp:coreProperties>
</file>