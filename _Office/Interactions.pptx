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66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8" d="100"/>
          <a:sy n="98" d="100"/>
        </p:scale>
        <p:origin x="96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F7D57D-E167-EEBF-1BB6-8F5E3581FD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7B95281-166F-EB67-9CD0-F55C891D11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E249CFF-71F2-6A10-0393-AF68525A9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2CCAD-44BD-4079-92ED-E4F71A39EED3}" type="datetimeFigureOut">
              <a:rPr lang="fr-FR" smtClean="0"/>
              <a:t>14/01/2025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05C8BFB-982C-D099-F989-DA516C115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5B84033-66C0-1DD8-9541-665147079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52B3A-3A68-4689-9660-984DC87CAE8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1652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F53435-765E-F569-8B44-835F96C83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94472E4-9C2A-69F4-5EF4-0D60A51AD5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E0F172F-241E-B4DF-AC45-9C547309F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2CCAD-44BD-4079-92ED-E4F71A39EED3}" type="datetimeFigureOut">
              <a:rPr lang="fr-FR" smtClean="0"/>
              <a:t>14/01/2025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B5658C2-3FE5-ECD6-0923-DC9623F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CF236CE-DB02-4763-56E6-AF92A6E04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52B3A-3A68-4689-9660-984DC87CAE8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90526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4C4F3EC-D9EF-A174-2A34-30935FD21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1800192-FC90-2DA4-8503-38483C526B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1D57CE9-3D60-922D-2ACA-54D8488AD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2CCAD-44BD-4079-92ED-E4F71A39EED3}" type="datetimeFigureOut">
              <a:rPr lang="fr-FR" smtClean="0"/>
              <a:t>14/01/2025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7E36279-C350-5E0A-F8D9-E45FB4DE7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4D34445-BDC0-F79C-8248-9C83A0DB1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52B3A-3A68-4689-9660-984DC87CAE8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062895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39DD2CF-4764-7E9D-02CB-1F6C5F19B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7D8C839-152C-C1E1-7568-8663EA914B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3B8EFDC-66E8-BD4A-5432-FB917CD3B1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83C17A2-C6D8-7889-93E3-239E30266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2CCAD-44BD-4079-92ED-E4F71A39EED3}" type="datetimeFigureOut">
              <a:rPr lang="fr-FR" smtClean="0"/>
              <a:t>14/01/2025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43E695B-2E94-1C0A-B212-2182A9619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77475CE-D579-5708-7E0F-872E50C8C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52B3A-3A68-4689-9660-984DC87CAE8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326148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C06C504-3AE7-D145-8060-3AD283266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632BDC6-1B1E-96FE-800F-6693ADA168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3148193-7F66-A9C5-A6DD-AEC6431297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9014D5A-2685-21EC-020F-67A0A9CF7D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E33416D-1E1E-97B6-2440-34F6FC7826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3036E91D-C439-A7AF-270A-4DFCD9EDE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2CCAD-44BD-4079-92ED-E4F71A39EED3}" type="datetimeFigureOut">
              <a:rPr lang="fr-FR" smtClean="0"/>
              <a:t>14/01/2025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810A3A29-9892-9DA0-E6A4-6F5A5EDE8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E8881C66-C3B1-3494-5C10-08F976199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52B3A-3A68-4689-9660-984DC87CAE8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337613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9ADF5C0-80A1-B446-649D-6928BA4D2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59AFBEE-880F-DA3C-7274-60901273E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2CCAD-44BD-4079-92ED-E4F71A39EED3}" type="datetimeFigureOut">
              <a:rPr lang="fr-FR" smtClean="0"/>
              <a:t>14/01/2025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CF071F6-671C-E1E6-56EB-8376EC33B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B48781F-3685-3C92-366E-766F57374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52B3A-3A68-4689-9660-984DC87CAE8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685058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1BA4BBBB-F55A-F3A5-D105-0AFBAF079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2CCAD-44BD-4079-92ED-E4F71A39EED3}" type="datetimeFigureOut">
              <a:rPr lang="fr-FR" smtClean="0"/>
              <a:t>14/01/2025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7B5D336B-56CB-4292-A5CF-3FE27AA59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422BABB-0FCD-C469-D15C-AAAE7325B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52B3A-3A68-4689-9660-984DC87CAE8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248339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F11870D-CDCB-EAC7-9FBA-645A35C61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551457F-6DB1-7386-EFAA-0FBAC49687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87DDB12-181D-E5B3-2D59-81667AF8D4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16A6BB1-F70B-77AC-90EE-2444AA53D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2CCAD-44BD-4079-92ED-E4F71A39EED3}" type="datetimeFigureOut">
              <a:rPr lang="fr-FR" smtClean="0"/>
              <a:t>14/01/2025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F6BC754-EFC9-4A13-376C-1FBD033CE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D0BBEF5-1185-AA08-D2DA-EED955C52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52B3A-3A68-4689-9660-984DC87CAE8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7736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2E5ADD-16C9-968E-8F83-2B3828B06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2A94EA5F-2CE9-65DB-3F0D-BA1FC867C7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7B989BC-A0AA-7B03-4209-F433258F89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44105B2-4DDA-7F71-C400-C8CE6EE5B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2CCAD-44BD-4079-92ED-E4F71A39EED3}" type="datetimeFigureOut">
              <a:rPr lang="fr-FR" smtClean="0"/>
              <a:t>14/01/2025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3877360-0F88-33A8-8C03-8E0487492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D857DBE-27C1-03FB-15DD-BD5260CF3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52B3A-3A68-4689-9660-984DC87CAE8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233230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92B028A-3412-01BE-7CBE-AAB413CA4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547BCC8-5023-8FFF-33F0-813CA7FD0E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640F9EA-704E-1C72-C9FA-FA5785439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2CCAD-44BD-4079-92ED-E4F71A39EED3}" type="datetimeFigureOut">
              <a:rPr lang="fr-FR" smtClean="0"/>
              <a:t>14/01/2025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5CAAF99-8B50-C622-1393-8FB825D40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1F1BA41-FAAB-D1A4-31C8-00CBEC183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52B3A-3A68-4689-9660-984DC87CAE8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369710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B874924B-21BA-8917-88CA-5D32B98472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A0502EC-9B3F-041A-62E4-B3D2A0B71D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5AE6F0A-F7E7-02E5-27E3-D95ACF4C2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2CCAD-44BD-4079-92ED-E4F71A39EED3}" type="datetimeFigureOut">
              <a:rPr lang="fr-FR" smtClean="0"/>
              <a:t>14/01/2025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6F0A888-EF0D-D546-4716-A4EA4E6C1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913DE87-6945-16B7-B34B-5A355C634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52B3A-3A68-4689-9660-984DC87CAE8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13229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1516595C-F661-F484-01EE-C447014A8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58E7DD9-25BC-73EC-B25F-EC4656FF72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7783C6A-7071-C590-23BF-AE25A1265C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72CCAD-44BD-4079-92ED-E4F71A39EED3}" type="datetimeFigureOut">
              <a:rPr lang="fr-FR" smtClean="0"/>
              <a:t>14/01/2025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133C6F3-81E1-355A-6C42-27F5C64619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77988EC-F597-C0E5-FB6C-745AADB9C4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352B3A-3A68-4689-9660-984DC87CAE8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670708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9" name="Connecteur droit 128">
            <a:extLst>
              <a:ext uri="{FF2B5EF4-FFF2-40B4-BE49-F238E27FC236}">
                <a16:creationId xmlns:a16="http://schemas.microsoft.com/office/drawing/2014/main" id="{BFFD1CC9-5AFD-88A9-CE55-A1DFA3A0B1E2}"/>
              </a:ext>
            </a:extLst>
          </p:cNvPr>
          <p:cNvCxnSpPr>
            <a:cxnSpLocks/>
          </p:cNvCxnSpPr>
          <p:nvPr/>
        </p:nvCxnSpPr>
        <p:spPr>
          <a:xfrm flipH="1">
            <a:off x="5092987" y="1804248"/>
            <a:ext cx="3959781" cy="210082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llipse 28">
            <a:extLst>
              <a:ext uri="{FF2B5EF4-FFF2-40B4-BE49-F238E27FC236}">
                <a16:creationId xmlns:a16="http://schemas.microsoft.com/office/drawing/2014/main" id="{1BAD0ADC-69BB-9651-5553-20B7AE52202B}"/>
              </a:ext>
            </a:extLst>
          </p:cNvPr>
          <p:cNvSpPr/>
          <p:nvPr/>
        </p:nvSpPr>
        <p:spPr>
          <a:xfrm>
            <a:off x="3810000" y="495300"/>
            <a:ext cx="1371600" cy="7747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fr-FR" sz="1400" dirty="0" err="1">
                <a:solidFill>
                  <a:sysClr val="windowText" lastClr="000000"/>
                </a:solidFill>
              </a:rPr>
              <a:t>Palyr</a:t>
            </a:r>
            <a:endParaRPr lang="fr-FR" sz="1400" dirty="0">
              <a:solidFill>
                <a:sysClr val="windowText" lastClr="000000"/>
              </a:solidFill>
            </a:endParaRPr>
          </a:p>
          <a:p>
            <a:pPr algn="ctr"/>
            <a:r>
              <a:rPr lang="fr-FR" sz="1400" dirty="0">
                <a:solidFill>
                  <a:sysClr val="windowText" lastClr="000000"/>
                </a:solidFill>
              </a:rPr>
              <a:t>8</a:t>
            </a:r>
          </a:p>
        </p:txBody>
      </p:sp>
      <p:sp>
        <p:nvSpPr>
          <p:cNvPr id="30" name="Ellipse 29">
            <a:extLst>
              <a:ext uri="{FF2B5EF4-FFF2-40B4-BE49-F238E27FC236}">
                <a16:creationId xmlns:a16="http://schemas.microsoft.com/office/drawing/2014/main" id="{9B18C86E-93DD-2B46-3F55-2C232C20FE38}"/>
              </a:ext>
            </a:extLst>
          </p:cNvPr>
          <p:cNvSpPr/>
          <p:nvPr/>
        </p:nvSpPr>
        <p:spPr>
          <a:xfrm>
            <a:off x="5537200" y="215900"/>
            <a:ext cx="1371600" cy="7747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fr-FR" sz="1400" dirty="0" err="1">
                <a:solidFill>
                  <a:sysClr val="windowText" lastClr="000000"/>
                </a:solidFill>
              </a:rPr>
              <a:t>Sfaal</a:t>
            </a:r>
            <a:endParaRPr lang="fr-FR" sz="1400" dirty="0">
              <a:solidFill>
                <a:sysClr val="windowText" lastClr="000000"/>
              </a:solidFill>
            </a:endParaRPr>
          </a:p>
          <a:p>
            <a:pPr algn="ctr"/>
            <a:r>
              <a:rPr lang="fr-FR" sz="1400" dirty="0">
                <a:solidFill>
                  <a:sysClr val="windowText" lastClr="000000"/>
                </a:solidFill>
              </a:rPr>
              <a:t>8</a:t>
            </a:r>
          </a:p>
        </p:txBody>
      </p:sp>
      <p:sp>
        <p:nvSpPr>
          <p:cNvPr id="31" name="Ellipse 30">
            <a:extLst>
              <a:ext uri="{FF2B5EF4-FFF2-40B4-BE49-F238E27FC236}">
                <a16:creationId xmlns:a16="http://schemas.microsoft.com/office/drawing/2014/main" id="{E17355C7-1069-4526-D97F-976ADEA7EE26}"/>
              </a:ext>
            </a:extLst>
          </p:cNvPr>
          <p:cNvSpPr/>
          <p:nvPr/>
        </p:nvSpPr>
        <p:spPr>
          <a:xfrm>
            <a:off x="2260600" y="1143000"/>
            <a:ext cx="1371600" cy="7747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fr-FR" sz="1400" dirty="0">
                <a:solidFill>
                  <a:sysClr val="windowText" lastClr="000000"/>
                </a:solidFill>
              </a:rPr>
              <a:t>Il-</a:t>
            </a:r>
            <a:r>
              <a:rPr lang="fr-FR" sz="1400" dirty="0" err="1">
                <a:solidFill>
                  <a:sysClr val="windowText" lastClr="000000"/>
                </a:solidFill>
              </a:rPr>
              <a:t>Irion</a:t>
            </a:r>
            <a:endParaRPr lang="fr-FR" sz="1400" dirty="0">
              <a:solidFill>
                <a:sysClr val="windowText" lastClr="000000"/>
              </a:solidFill>
            </a:endParaRPr>
          </a:p>
          <a:p>
            <a:pPr algn="ctr"/>
            <a:r>
              <a:rPr lang="fr-FR" sz="1400" dirty="0">
                <a:solidFill>
                  <a:sysClr val="windowText" lastClr="000000"/>
                </a:solidFill>
              </a:rPr>
              <a:t>8</a:t>
            </a:r>
          </a:p>
        </p:txBody>
      </p:sp>
      <p:sp>
        <p:nvSpPr>
          <p:cNvPr id="32" name="Ellipse 31">
            <a:extLst>
              <a:ext uri="{FF2B5EF4-FFF2-40B4-BE49-F238E27FC236}">
                <a16:creationId xmlns:a16="http://schemas.microsoft.com/office/drawing/2014/main" id="{B3991291-F36E-AB5A-ADDF-97C6FF7FC257}"/>
              </a:ext>
            </a:extLst>
          </p:cNvPr>
          <p:cNvSpPr/>
          <p:nvPr/>
        </p:nvSpPr>
        <p:spPr>
          <a:xfrm>
            <a:off x="889000" y="2082800"/>
            <a:ext cx="1371600" cy="7747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fr-FR" sz="1400" dirty="0" err="1">
                <a:solidFill>
                  <a:sysClr val="windowText" lastClr="000000"/>
                </a:solidFill>
              </a:rPr>
              <a:t>Arthas</a:t>
            </a:r>
            <a:endParaRPr lang="fr-FR" sz="1400" dirty="0">
              <a:solidFill>
                <a:sysClr val="windowText" lastClr="000000"/>
              </a:solidFill>
            </a:endParaRPr>
          </a:p>
          <a:p>
            <a:pPr algn="ctr"/>
            <a:r>
              <a:rPr lang="fr-FR" sz="1400" dirty="0">
                <a:solidFill>
                  <a:sysClr val="windowText" lastClr="000000"/>
                </a:solidFill>
              </a:rPr>
              <a:t>8</a:t>
            </a:r>
          </a:p>
        </p:txBody>
      </p:sp>
      <p:sp>
        <p:nvSpPr>
          <p:cNvPr id="33" name="Ellipse 32">
            <a:extLst>
              <a:ext uri="{FF2B5EF4-FFF2-40B4-BE49-F238E27FC236}">
                <a16:creationId xmlns:a16="http://schemas.microsoft.com/office/drawing/2014/main" id="{CB601838-232F-CAF4-D56A-CA2D46E049E6}"/>
              </a:ext>
            </a:extLst>
          </p:cNvPr>
          <p:cNvSpPr/>
          <p:nvPr/>
        </p:nvSpPr>
        <p:spPr>
          <a:xfrm>
            <a:off x="7302502" y="463550"/>
            <a:ext cx="1371600" cy="7747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fr-FR" sz="1400" dirty="0">
                <a:solidFill>
                  <a:sysClr val="windowText" lastClr="000000"/>
                </a:solidFill>
              </a:rPr>
              <a:t>Banquiers</a:t>
            </a:r>
          </a:p>
          <a:p>
            <a:pPr algn="ctr"/>
            <a:r>
              <a:rPr lang="fr-FR" sz="1400" dirty="0">
                <a:solidFill>
                  <a:sysClr val="windowText" lastClr="000000"/>
                </a:solidFill>
              </a:rPr>
              <a:t>6</a:t>
            </a:r>
          </a:p>
        </p:txBody>
      </p:sp>
      <p:sp>
        <p:nvSpPr>
          <p:cNvPr id="34" name="Ellipse 33">
            <a:extLst>
              <a:ext uri="{FF2B5EF4-FFF2-40B4-BE49-F238E27FC236}">
                <a16:creationId xmlns:a16="http://schemas.microsoft.com/office/drawing/2014/main" id="{945D2992-9669-CF8D-6E25-D71AC9724D40}"/>
              </a:ext>
            </a:extLst>
          </p:cNvPr>
          <p:cNvSpPr/>
          <p:nvPr/>
        </p:nvSpPr>
        <p:spPr>
          <a:xfrm>
            <a:off x="10223502" y="2082800"/>
            <a:ext cx="1371600" cy="7747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fr-FR" sz="1400" dirty="0">
                <a:solidFill>
                  <a:sysClr val="windowText" lastClr="000000"/>
                </a:solidFill>
              </a:rPr>
              <a:t>Casseurs 1</a:t>
            </a:r>
          </a:p>
          <a:p>
            <a:pPr algn="ctr"/>
            <a:r>
              <a:rPr lang="fr-FR" sz="1400" dirty="0">
                <a:solidFill>
                  <a:sysClr val="windowText" lastClr="000000"/>
                </a:solidFill>
              </a:rPr>
              <a:t>6</a:t>
            </a:r>
          </a:p>
        </p:txBody>
      </p:sp>
      <p:sp>
        <p:nvSpPr>
          <p:cNvPr id="35" name="Ellipse 34">
            <a:extLst>
              <a:ext uri="{FF2B5EF4-FFF2-40B4-BE49-F238E27FC236}">
                <a16:creationId xmlns:a16="http://schemas.microsoft.com/office/drawing/2014/main" id="{B288430A-B189-0C3B-6EB1-57613DA9C4A8}"/>
              </a:ext>
            </a:extLst>
          </p:cNvPr>
          <p:cNvSpPr/>
          <p:nvPr/>
        </p:nvSpPr>
        <p:spPr>
          <a:xfrm>
            <a:off x="8851902" y="1143000"/>
            <a:ext cx="1371600" cy="7747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fr-FR" sz="1400" dirty="0">
                <a:solidFill>
                  <a:sysClr val="windowText" lastClr="000000"/>
                </a:solidFill>
              </a:rPr>
              <a:t>Gardiens Coffre/Fort</a:t>
            </a:r>
          </a:p>
          <a:p>
            <a:pPr algn="ctr"/>
            <a:r>
              <a:rPr lang="fr-FR" sz="1400" dirty="0">
                <a:solidFill>
                  <a:sysClr val="windowText" lastClr="000000"/>
                </a:solidFill>
              </a:rPr>
              <a:t>8</a:t>
            </a:r>
          </a:p>
        </p:txBody>
      </p:sp>
      <p:sp>
        <p:nvSpPr>
          <p:cNvPr id="36" name="Ellipse 35">
            <a:extLst>
              <a:ext uri="{FF2B5EF4-FFF2-40B4-BE49-F238E27FC236}">
                <a16:creationId xmlns:a16="http://schemas.microsoft.com/office/drawing/2014/main" id="{7A498E1F-8ABE-61B7-4388-2192BFBDCCEB}"/>
              </a:ext>
            </a:extLst>
          </p:cNvPr>
          <p:cNvSpPr/>
          <p:nvPr/>
        </p:nvSpPr>
        <p:spPr>
          <a:xfrm>
            <a:off x="10744200" y="3225801"/>
            <a:ext cx="1371600" cy="7747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fr-FR" sz="1400" dirty="0">
                <a:solidFill>
                  <a:sysClr val="windowText" lastClr="000000"/>
                </a:solidFill>
              </a:rPr>
              <a:t>Casseurs 2</a:t>
            </a:r>
          </a:p>
          <a:p>
            <a:pPr algn="ctr"/>
            <a:r>
              <a:rPr lang="fr-FR" sz="1400" dirty="0">
                <a:solidFill>
                  <a:sysClr val="windowText" lastClr="000000"/>
                </a:solidFill>
              </a:rPr>
              <a:t>6</a:t>
            </a:r>
          </a:p>
        </p:txBody>
      </p:sp>
      <p:sp>
        <p:nvSpPr>
          <p:cNvPr id="37" name="Ellipse 36">
            <a:extLst>
              <a:ext uri="{FF2B5EF4-FFF2-40B4-BE49-F238E27FC236}">
                <a16:creationId xmlns:a16="http://schemas.microsoft.com/office/drawing/2014/main" id="{B128101A-2E25-3867-5ED7-AF0864699508}"/>
              </a:ext>
            </a:extLst>
          </p:cNvPr>
          <p:cNvSpPr/>
          <p:nvPr/>
        </p:nvSpPr>
        <p:spPr>
          <a:xfrm>
            <a:off x="368300" y="3225801"/>
            <a:ext cx="1371600" cy="7747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fr-FR" sz="1400" dirty="0">
                <a:solidFill>
                  <a:sysClr val="windowText" lastClr="000000"/>
                </a:solidFill>
              </a:rPr>
              <a:t>Ter Félis</a:t>
            </a:r>
          </a:p>
          <a:p>
            <a:pPr algn="ctr"/>
            <a:r>
              <a:rPr lang="fr-FR" sz="1400" dirty="0">
                <a:solidFill>
                  <a:sysClr val="windowText" lastClr="000000"/>
                </a:solidFill>
              </a:rPr>
              <a:t>8</a:t>
            </a:r>
          </a:p>
        </p:txBody>
      </p:sp>
      <p:sp>
        <p:nvSpPr>
          <p:cNvPr id="38" name="Ellipse 37">
            <a:extLst>
              <a:ext uri="{FF2B5EF4-FFF2-40B4-BE49-F238E27FC236}">
                <a16:creationId xmlns:a16="http://schemas.microsoft.com/office/drawing/2014/main" id="{51575F5E-B186-0FCC-9855-6AC1DEB202D2}"/>
              </a:ext>
            </a:extLst>
          </p:cNvPr>
          <p:cNvSpPr/>
          <p:nvPr/>
        </p:nvSpPr>
        <p:spPr>
          <a:xfrm>
            <a:off x="889000" y="4368802"/>
            <a:ext cx="1371600" cy="7747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fr-FR" sz="1400" dirty="0" err="1">
                <a:solidFill>
                  <a:sysClr val="windowText" lastClr="000000"/>
                </a:solidFill>
              </a:rPr>
              <a:t>Thanos</a:t>
            </a:r>
            <a:endParaRPr lang="fr-FR" sz="1400" dirty="0">
              <a:solidFill>
                <a:sysClr val="windowText" lastClr="000000"/>
              </a:solidFill>
            </a:endParaRPr>
          </a:p>
          <a:p>
            <a:pPr algn="ctr"/>
            <a:r>
              <a:rPr lang="fr-FR" sz="1400" dirty="0">
                <a:solidFill>
                  <a:sysClr val="windowText" lastClr="000000"/>
                </a:solidFill>
              </a:rPr>
              <a:t>4</a:t>
            </a:r>
          </a:p>
        </p:txBody>
      </p:sp>
      <p:sp>
        <p:nvSpPr>
          <p:cNvPr id="39" name="Ellipse 38">
            <a:extLst>
              <a:ext uri="{FF2B5EF4-FFF2-40B4-BE49-F238E27FC236}">
                <a16:creationId xmlns:a16="http://schemas.microsoft.com/office/drawing/2014/main" id="{6BC53467-18F7-74D9-924E-565DA2C87E3B}"/>
              </a:ext>
            </a:extLst>
          </p:cNvPr>
          <p:cNvSpPr/>
          <p:nvPr/>
        </p:nvSpPr>
        <p:spPr>
          <a:xfrm>
            <a:off x="2260600" y="4940300"/>
            <a:ext cx="1371600" cy="7747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fr-FR" sz="1400" dirty="0">
                <a:solidFill>
                  <a:sysClr val="windowText" lastClr="000000"/>
                </a:solidFill>
              </a:rPr>
              <a:t>Cultistes</a:t>
            </a:r>
          </a:p>
          <a:p>
            <a:pPr algn="ctr"/>
            <a:r>
              <a:rPr lang="fr-FR" sz="1400" dirty="0">
                <a:solidFill>
                  <a:sysClr val="windowText" lastClr="000000"/>
                </a:solidFill>
              </a:rPr>
              <a:t>6</a:t>
            </a:r>
          </a:p>
        </p:txBody>
      </p:sp>
      <p:sp>
        <p:nvSpPr>
          <p:cNvPr id="40" name="Ellipse 39">
            <a:extLst>
              <a:ext uri="{FF2B5EF4-FFF2-40B4-BE49-F238E27FC236}">
                <a16:creationId xmlns:a16="http://schemas.microsoft.com/office/drawing/2014/main" id="{8448E941-7DDE-6C06-50C4-1E64B5BDDF19}"/>
              </a:ext>
            </a:extLst>
          </p:cNvPr>
          <p:cNvSpPr/>
          <p:nvPr/>
        </p:nvSpPr>
        <p:spPr>
          <a:xfrm>
            <a:off x="3810000" y="5588000"/>
            <a:ext cx="1371600" cy="7747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fr-FR" sz="1400" dirty="0">
                <a:solidFill>
                  <a:sysClr val="windowText" lastClr="000000"/>
                </a:solidFill>
              </a:rPr>
              <a:t>Alchimistes</a:t>
            </a:r>
          </a:p>
          <a:p>
            <a:pPr algn="ctr"/>
            <a:r>
              <a:rPr lang="fr-FR" sz="1400" dirty="0">
                <a:solidFill>
                  <a:sysClr val="windowText" lastClr="000000"/>
                </a:solidFill>
              </a:rPr>
              <a:t>6</a:t>
            </a:r>
          </a:p>
        </p:txBody>
      </p:sp>
      <p:sp>
        <p:nvSpPr>
          <p:cNvPr id="41" name="Ellipse 40">
            <a:extLst>
              <a:ext uri="{FF2B5EF4-FFF2-40B4-BE49-F238E27FC236}">
                <a16:creationId xmlns:a16="http://schemas.microsoft.com/office/drawing/2014/main" id="{DFA87E3E-49F7-2C48-5F0E-76CD1D43E1C9}"/>
              </a:ext>
            </a:extLst>
          </p:cNvPr>
          <p:cNvSpPr/>
          <p:nvPr/>
        </p:nvSpPr>
        <p:spPr>
          <a:xfrm>
            <a:off x="5537200" y="5867400"/>
            <a:ext cx="1371600" cy="7747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fr-FR" sz="1400" dirty="0">
                <a:solidFill>
                  <a:sysClr val="windowText" lastClr="000000"/>
                </a:solidFill>
              </a:rPr>
              <a:t>?</a:t>
            </a:r>
          </a:p>
        </p:txBody>
      </p:sp>
      <p:sp>
        <p:nvSpPr>
          <p:cNvPr id="42" name="Ellipse 41">
            <a:extLst>
              <a:ext uri="{FF2B5EF4-FFF2-40B4-BE49-F238E27FC236}">
                <a16:creationId xmlns:a16="http://schemas.microsoft.com/office/drawing/2014/main" id="{10730440-3753-CFCE-B6AE-5A40583939C0}"/>
              </a:ext>
            </a:extLst>
          </p:cNvPr>
          <p:cNvSpPr/>
          <p:nvPr/>
        </p:nvSpPr>
        <p:spPr>
          <a:xfrm>
            <a:off x="7302502" y="5588000"/>
            <a:ext cx="1371600" cy="7747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fr-FR" sz="1400" dirty="0">
                <a:solidFill>
                  <a:sysClr val="windowText" lastClr="000000"/>
                </a:solidFill>
              </a:rPr>
              <a:t>Dockers</a:t>
            </a:r>
          </a:p>
          <a:p>
            <a:pPr algn="ctr"/>
            <a:r>
              <a:rPr lang="fr-FR" sz="1400" dirty="0">
                <a:solidFill>
                  <a:sysClr val="windowText" lastClr="000000"/>
                </a:solidFill>
              </a:rPr>
              <a:t>8</a:t>
            </a:r>
          </a:p>
        </p:txBody>
      </p:sp>
      <p:sp>
        <p:nvSpPr>
          <p:cNvPr id="44" name="Ellipse 43">
            <a:extLst>
              <a:ext uri="{FF2B5EF4-FFF2-40B4-BE49-F238E27FC236}">
                <a16:creationId xmlns:a16="http://schemas.microsoft.com/office/drawing/2014/main" id="{E9698930-3BC0-0DF5-A939-74FDDD5F2207}"/>
              </a:ext>
            </a:extLst>
          </p:cNvPr>
          <p:cNvSpPr/>
          <p:nvPr/>
        </p:nvSpPr>
        <p:spPr>
          <a:xfrm>
            <a:off x="10223502" y="4368802"/>
            <a:ext cx="1371600" cy="7747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fr-FR" sz="1400" dirty="0">
                <a:solidFill>
                  <a:sysClr val="windowText" lastClr="000000"/>
                </a:solidFill>
              </a:rPr>
              <a:t>Mafia</a:t>
            </a:r>
          </a:p>
          <a:p>
            <a:pPr algn="ctr"/>
            <a:r>
              <a:rPr lang="fr-FR" sz="1400" dirty="0">
                <a:solidFill>
                  <a:sysClr val="windowText" lastClr="000000"/>
                </a:solidFill>
              </a:rPr>
              <a:t>6</a:t>
            </a:r>
          </a:p>
        </p:txBody>
      </p:sp>
      <p:cxnSp>
        <p:nvCxnSpPr>
          <p:cNvPr id="71" name="Connecteur droit 70">
            <a:extLst>
              <a:ext uri="{FF2B5EF4-FFF2-40B4-BE49-F238E27FC236}">
                <a16:creationId xmlns:a16="http://schemas.microsoft.com/office/drawing/2014/main" id="{7BEDD5B9-3B88-D665-34DE-AF045FBD5BCF}"/>
              </a:ext>
            </a:extLst>
          </p:cNvPr>
          <p:cNvCxnSpPr/>
          <p:nvPr/>
        </p:nvCxnSpPr>
        <p:spPr>
          <a:xfrm flipH="1">
            <a:off x="5092987" y="990600"/>
            <a:ext cx="1130013" cy="1050743"/>
          </a:xfrm>
          <a:prstGeom prst="line">
            <a:avLst/>
          </a:prstGeom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eur droit 71">
            <a:extLst>
              <a:ext uri="{FF2B5EF4-FFF2-40B4-BE49-F238E27FC236}">
                <a16:creationId xmlns:a16="http://schemas.microsoft.com/office/drawing/2014/main" id="{CF98CA14-8DFD-A7DD-D655-186FF4DFB7BE}"/>
              </a:ext>
            </a:extLst>
          </p:cNvPr>
          <p:cNvCxnSpPr>
            <a:cxnSpLocks/>
          </p:cNvCxnSpPr>
          <p:nvPr/>
        </p:nvCxnSpPr>
        <p:spPr>
          <a:xfrm>
            <a:off x="4495800" y="1270000"/>
            <a:ext cx="0" cy="593725"/>
          </a:xfrm>
          <a:prstGeom prst="line">
            <a:avLst/>
          </a:prstGeom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eur droit 72">
            <a:extLst>
              <a:ext uri="{FF2B5EF4-FFF2-40B4-BE49-F238E27FC236}">
                <a16:creationId xmlns:a16="http://schemas.microsoft.com/office/drawing/2014/main" id="{FEF798F0-723D-4665-E26B-225CEF1D7B2B}"/>
              </a:ext>
            </a:extLst>
          </p:cNvPr>
          <p:cNvCxnSpPr>
            <a:cxnSpLocks/>
          </p:cNvCxnSpPr>
          <p:nvPr/>
        </p:nvCxnSpPr>
        <p:spPr>
          <a:xfrm>
            <a:off x="3431334" y="1804248"/>
            <a:ext cx="467279" cy="237095"/>
          </a:xfrm>
          <a:prstGeom prst="line">
            <a:avLst/>
          </a:prstGeom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eur droit 73">
            <a:extLst>
              <a:ext uri="{FF2B5EF4-FFF2-40B4-BE49-F238E27FC236}">
                <a16:creationId xmlns:a16="http://schemas.microsoft.com/office/drawing/2014/main" id="{6EAD2FEF-E2AE-826A-034A-862ACC042010}"/>
              </a:ext>
            </a:extLst>
          </p:cNvPr>
          <p:cNvCxnSpPr>
            <a:cxnSpLocks/>
          </p:cNvCxnSpPr>
          <p:nvPr/>
        </p:nvCxnSpPr>
        <p:spPr>
          <a:xfrm>
            <a:off x="2260600" y="2470150"/>
            <a:ext cx="1390650" cy="0"/>
          </a:xfrm>
          <a:prstGeom prst="line">
            <a:avLst/>
          </a:prstGeom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eur droit 74">
            <a:extLst>
              <a:ext uri="{FF2B5EF4-FFF2-40B4-BE49-F238E27FC236}">
                <a16:creationId xmlns:a16="http://schemas.microsoft.com/office/drawing/2014/main" id="{176910EF-CBD5-42B8-ED7E-9165A76D4094}"/>
              </a:ext>
            </a:extLst>
          </p:cNvPr>
          <p:cNvCxnSpPr>
            <a:cxnSpLocks/>
          </p:cNvCxnSpPr>
          <p:nvPr/>
        </p:nvCxnSpPr>
        <p:spPr>
          <a:xfrm flipV="1">
            <a:off x="1739900" y="2898957"/>
            <a:ext cx="2158713" cy="714194"/>
          </a:xfrm>
          <a:prstGeom prst="line">
            <a:avLst/>
          </a:prstGeom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eur droit 75">
            <a:extLst>
              <a:ext uri="{FF2B5EF4-FFF2-40B4-BE49-F238E27FC236}">
                <a16:creationId xmlns:a16="http://schemas.microsoft.com/office/drawing/2014/main" id="{9AFA93D0-919D-2EFF-1FB0-BC263E776AEC}"/>
              </a:ext>
            </a:extLst>
          </p:cNvPr>
          <p:cNvCxnSpPr>
            <a:cxnSpLocks/>
          </p:cNvCxnSpPr>
          <p:nvPr/>
        </p:nvCxnSpPr>
        <p:spPr>
          <a:xfrm flipV="1">
            <a:off x="2059734" y="2898957"/>
            <a:ext cx="1838879" cy="1583297"/>
          </a:xfrm>
          <a:prstGeom prst="line">
            <a:avLst/>
          </a:prstGeom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eur droit 76">
            <a:extLst>
              <a:ext uri="{FF2B5EF4-FFF2-40B4-BE49-F238E27FC236}">
                <a16:creationId xmlns:a16="http://schemas.microsoft.com/office/drawing/2014/main" id="{3EBEE2DE-D778-CBA7-7EE7-FDBF5374A7DD}"/>
              </a:ext>
            </a:extLst>
          </p:cNvPr>
          <p:cNvCxnSpPr>
            <a:cxnSpLocks/>
          </p:cNvCxnSpPr>
          <p:nvPr/>
        </p:nvCxnSpPr>
        <p:spPr>
          <a:xfrm>
            <a:off x="5092987" y="2898957"/>
            <a:ext cx="2410381" cy="2802495"/>
          </a:xfrm>
          <a:prstGeom prst="line">
            <a:avLst/>
          </a:prstGeom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eur droit 77">
            <a:extLst>
              <a:ext uri="{FF2B5EF4-FFF2-40B4-BE49-F238E27FC236}">
                <a16:creationId xmlns:a16="http://schemas.microsoft.com/office/drawing/2014/main" id="{27BE095F-850A-2579-C00F-DA2FF8A202D2}"/>
              </a:ext>
            </a:extLst>
          </p:cNvPr>
          <p:cNvCxnSpPr>
            <a:cxnSpLocks/>
          </p:cNvCxnSpPr>
          <p:nvPr/>
        </p:nvCxnSpPr>
        <p:spPr>
          <a:xfrm flipV="1">
            <a:off x="5340350" y="1124798"/>
            <a:ext cx="2163018" cy="1345352"/>
          </a:xfrm>
          <a:prstGeom prst="line">
            <a:avLst/>
          </a:prstGeom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eur droit 78">
            <a:extLst>
              <a:ext uri="{FF2B5EF4-FFF2-40B4-BE49-F238E27FC236}">
                <a16:creationId xmlns:a16="http://schemas.microsoft.com/office/drawing/2014/main" id="{8578A450-0FEF-C468-1C9F-30021EFA415E}"/>
              </a:ext>
            </a:extLst>
          </p:cNvPr>
          <p:cNvCxnSpPr>
            <a:cxnSpLocks/>
          </p:cNvCxnSpPr>
          <p:nvPr/>
        </p:nvCxnSpPr>
        <p:spPr>
          <a:xfrm>
            <a:off x="5340350" y="2470150"/>
            <a:ext cx="4883152" cy="2286002"/>
          </a:xfrm>
          <a:prstGeom prst="line">
            <a:avLst/>
          </a:prstGeom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EE184B49-0EB9-C3F2-31E3-C6E38D1E7490}"/>
              </a:ext>
            </a:extLst>
          </p:cNvPr>
          <p:cNvCxnSpPr/>
          <p:nvPr/>
        </p:nvCxnSpPr>
        <p:spPr>
          <a:xfrm flipV="1">
            <a:off x="7988302" y="1238250"/>
            <a:ext cx="0" cy="625475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FB2A08D0-9294-2DF4-ACFD-8DACFC67F99A}"/>
              </a:ext>
            </a:extLst>
          </p:cNvPr>
          <p:cNvCxnSpPr>
            <a:cxnSpLocks/>
            <a:stCxn id="45" idx="6"/>
          </p:cNvCxnSpPr>
          <p:nvPr/>
        </p:nvCxnSpPr>
        <p:spPr>
          <a:xfrm flipV="1">
            <a:off x="8832852" y="1804248"/>
            <a:ext cx="219916" cy="665902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eur droit 81">
            <a:extLst>
              <a:ext uri="{FF2B5EF4-FFF2-40B4-BE49-F238E27FC236}">
                <a16:creationId xmlns:a16="http://schemas.microsoft.com/office/drawing/2014/main" id="{CDDD30F5-7222-E64C-279B-E97C8A0671BB}"/>
              </a:ext>
            </a:extLst>
          </p:cNvPr>
          <p:cNvCxnSpPr>
            <a:cxnSpLocks/>
          </p:cNvCxnSpPr>
          <p:nvPr/>
        </p:nvCxnSpPr>
        <p:spPr>
          <a:xfrm>
            <a:off x="8832852" y="2470150"/>
            <a:ext cx="1390650" cy="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eur droit 82">
            <a:extLst>
              <a:ext uri="{FF2B5EF4-FFF2-40B4-BE49-F238E27FC236}">
                <a16:creationId xmlns:a16="http://schemas.microsoft.com/office/drawing/2014/main" id="{C02779FA-3326-AC61-295A-8F3A9AB586D7}"/>
              </a:ext>
            </a:extLst>
          </p:cNvPr>
          <p:cNvCxnSpPr>
            <a:cxnSpLocks/>
          </p:cNvCxnSpPr>
          <p:nvPr/>
        </p:nvCxnSpPr>
        <p:spPr>
          <a:xfrm>
            <a:off x="8832852" y="2470150"/>
            <a:ext cx="1911348" cy="1143001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eur droit 83">
            <a:extLst>
              <a:ext uri="{FF2B5EF4-FFF2-40B4-BE49-F238E27FC236}">
                <a16:creationId xmlns:a16="http://schemas.microsoft.com/office/drawing/2014/main" id="{C439522F-95D6-1F09-8511-1C99877C44A4}"/>
              </a:ext>
            </a:extLst>
          </p:cNvPr>
          <p:cNvCxnSpPr>
            <a:cxnSpLocks/>
          </p:cNvCxnSpPr>
          <p:nvPr/>
        </p:nvCxnSpPr>
        <p:spPr>
          <a:xfrm>
            <a:off x="8585489" y="2898957"/>
            <a:ext cx="1838879" cy="1583297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eur droit 84">
            <a:extLst>
              <a:ext uri="{FF2B5EF4-FFF2-40B4-BE49-F238E27FC236}">
                <a16:creationId xmlns:a16="http://schemas.microsoft.com/office/drawing/2014/main" id="{EFA56D77-BBAB-09E4-ECBC-CC4EDCC721A7}"/>
              </a:ext>
            </a:extLst>
          </p:cNvPr>
          <p:cNvCxnSpPr>
            <a:cxnSpLocks/>
          </p:cNvCxnSpPr>
          <p:nvPr/>
        </p:nvCxnSpPr>
        <p:spPr>
          <a:xfrm>
            <a:off x="8585489" y="2898957"/>
            <a:ext cx="952213" cy="2041343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eur droit 85">
            <a:extLst>
              <a:ext uri="{FF2B5EF4-FFF2-40B4-BE49-F238E27FC236}">
                <a16:creationId xmlns:a16="http://schemas.microsoft.com/office/drawing/2014/main" id="{BBAB304E-D813-113F-E073-263406514638}"/>
              </a:ext>
            </a:extLst>
          </p:cNvPr>
          <p:cNvCxnSpPr>
            <a:cxnSpLocks/>
            <a:endCxn id="42" idx="7"/>
          </p:cNvCxnSpPr>
          <p:nvPr/>
        </p:nvCxnSpPr>
        <p:spPr>
          <a:xfrm>
            <a:off x="7988302" y="3076575"/>
            <a:ext cx="484934" cy="2624877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eur droit 86">
            <a:extLst>
              <a:ext uri="{FF2B5EF4-FFF2-40B4-BE49-F238E27FC236}">
                <a16:creationId xmlns:a16="http://schemas.microsoft.com/office/drawing/2014/main" id="{5261032E-947F-5AA7-BA95-302E2A10D12A}"/>
              </a:ext>
            </a:extLst>
          </p:cNvPr>
          <p:cNvCxnSpPr>
            <a:cxnSpLocks/>
          </p:cNvCxnSpPr>
          <p:nvPr/>
        </p:nvCxnSpPr>
        <p:spPr>
          <a:xfrm flipH="1">
            <a:off x="4980734" y="2898957"/>
            <a:ext cx="2410381" cy="2802495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eur droit 87">
            <a:extLst>
              <a:ext uri="{FF2B5EF4-FFF2-40B4-BE49-F238E27FC236}">
                <a16:creationId xmlns:a16="http://schemas.microsoft.com/office/drawing/2014/main" id="{C671B4A0-8E96-32F4-951C-4A21F264E0CD}"/>
              </a:ext>
            </a:extLst>
          </p:cNvPr>
          <p:cNvCxnSpPr>
            <a:cxnSpLocks/>
            <a:stCxn id="45" idx="2"/>
          </p:cNvCxnSpPr>
          <p:nvPr/>
        </p:nvCxnSpPr>
        <p:spPr>
          <a:xfrm flipH="1">
            <a:off x="1739900" y="2470150"/>
            <a:ext cx="5403852" cy="1143001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eur droit 88">
            <a:extLst>
              <a:ext uri="{FF2B5EF4-FFF2-40B4-BE49-F238E27FC236}">
                <a16:creationId xmlns:a16="http://schemas.microsoft.com/office/drawing/2014/main" id="{26C61430-F16A-E3DD-3BB1-A367F373BEA6}"/>
              </a:ext>
            </a:extLst>
          </p:cNvPr>
          <p:cNvCxnSpPr>
            <a:cxnSpLocks/>
            <a:endCxn id="32" idx="5"/>
          </p:cNvCxnSpPr>
          <p:nvPr/>
        </p:nvCxnSpPr>
        <p:spPr>
          <a:xfrm flipH="1">
            <a:off x="2059734" y="2470150"/>
            <a:ext cx="5084018" cy="273898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eur droit 89">
            <a:extLst>
              <a:ext uri="{FF2B5EF4-FFF2-40B4-BE49-F238E27FC236}">
                <a16:creationId xmlns:a16="http://schemas.microsoft.com/office/drawing/2014/main" id="{2B1C75D8-2AC8-BA41-4755-8EBC05DE68C1}"/>
              </a:ext>
            </a:extLst>
          </p:cNvPr>
          <p:cNvCxnSpPr>
            <a:cxnSpLocks/>
          </p:cNvCxnSpPr>
          <p:nvPr/>
        </p:nvCxnSpPr>
        <p:spPr>
          <a:xfrm flipH="1" flipV="1">
            <a:off x="3632200" y="1530350"/>
            <a:ext cx="3758915" cy="510993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eur droit 90">
            <a:extLst>
              <a:ext uri="{FF2B5EF4-FFF2-40B4-BE49-F238E27FC236}">
                <a16:creationId xmlns:a16="http://schemas.microsoft.com/office/drawing/2014/main" id="{F71BA945-1B40-A1F1-9CD8-D8AECEA97D6B}"/>
              </a:ext>
            </a:extLst>
          </p:cNvPr>
          <p:cNvCxnSpPr>
            <a:cxnSpLocks/>
          </p:cNvCxnSpPr>
          <p:nvPr/>
        </p:nvCxnSpPr>
        <p:spPr>
          <a:xfrm flipH="1" flipV="1">
            <a:off x="4980734" y="1156548"/>
            <a:ext cx="2410381" cy="884795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eur droit 91">
            <a:extLst>
              <a:ext uri="{FF2B5EF4-FFF2-40B4-BE49-F238E27FC236}">
                <a16:creationId xmlns:a16="http://schemas.microsoft.com/office/drawing/2014/main" id="{90CF8C89-2D7E-5236-F3BF-C7C1B771FE0D}"/>
              </a:ext>
            </a:extLst>
          </p:cNvPr>
          <p:cNvCxnSpPr>
            <a:cxnSpLocks/>
          </p:cNvCxnSpPr>
          <p:nvPr/>
        </p:nvCxnSpPr>
        <p:spPr>
          <a:xfrm flipH="1" flipV="1">
            <a:off x="6707934" y="877148"/>
            <a:ext cx="683181" cy="1164195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eur droit 93">
            <a:extLst>
              <a:ext uri="{FF2B5EF4-FFF2-40B4-BE49-F238E27FC236}">
                <a16:creationId xmlns:a16="http://schemas.microsoft.com/office/drawing/2014/main" id="{90447ECB-9FA2-CD0A-A87F-D5AA447D9EB5}"/>
              </a:ext>
            </a:extLst>
          </p:cNvPr>
          <p:cNvCxnSpPr>
            <a:cxnSpLocks/>
            <a:endCxn id="33" idx="5"/>
          </p:cNvCxnSpPr>
          <p:nvPr/>
        </p:nvCxnSpPr>
        <p:spPr>
          <a:xfrm flipV="1">
            <a:off x="7988302" y="1124798"/>
            <a:ext cx="484934" cy="260265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eur droit 94">
            <a:extLst>
              <a:ext uri="{FF2B5EF4-FFF2-40B4-BE49-F238E27FC236}">
                <a16:creationId xmlns:a16="http://schemas.microsoft.com/office/drawing/2014/main" id="{6229ED0E-65BA-ABF6-664B-9E208E689D34}"/>
              </a:ext>
            </a:extLst>
          </p:cNvPr>
          <p:cNvCxnSpPr>
            <a:cxnSpLocks/>
          </p:cNvCxnSpPr>
          <p:nvPr/>
        </p:nvCxnSpPr>
        <p:spPr>
          <a:xfrm>
            <a:off x="8832852" y="4333875"/>
            <a:ext cx="1390650" cy="42227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C71FD6C-8A9D-19DD-9696-117133934FB9}"/>
              </a:ext>
            </a:extLst>
          </p:cNvPr>
          <p:cNvCxnSpPr>
            <a:cxnSpLocks/>
            <a:endCxn id="42" idx="0"/>
          </p:cNvCxnSpPr>
          <p:nvPr/>
        </p:nvCxnSpPr>
        <p:spPr>
          <a:xfrm>
            <a:off x="7988302" y="4940300"/>
            <a:ext cx="0" cy="6477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F6D6C81E-26DC-5E21-44A0-766A8CDB8B49}"/>
              </a:ext>
            </a:extLst>
          </p:cNvPr>
          <p:cNvCxnSpPr>
            <a:cxnSpLocks/>
          </p:cNvCxnSpPr>
          <p:nvPr/>
        </p:nvCxnSpPr>
        <p:spPr>
          <a:xfrm flipH="1">
            <a:off x="4980734" y="4762682"/>
            <a:ext cx="2410381" cy="9387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eur droit 97">
            <a:extLst>
              <a:ext uri="{FF2B5EF4-FFF2-40B4-BE49-F238E27FC236}">
                <a16:creationId xmlns:a16="http://schemas.microsoft.com/office/drawing/2014/main" id="{4886B732-7A35-5B6A-8670-BFD0B7877714}"/>
              </a:ext>
            </a:extLst>
          </p:cNvPr>
          <p:cNvCxnSpPr>
            <a:cxnSpLocks/>
          </p:cNvCxnSpPr>
          <p:nvPr/>
        </p:nvCxnSpPr>
        <p:spPr>
          <a:xfrm flipH="1">
            <a:off x="3632200" y="4333875"/>
            <a:ext cx="3511552" cy="9937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eur droit 98">
            <a:extLst>
              <a:ext uri="{FF2B5EF4-FFF2-40B4-BE49-F238E27FC236}">
                <a16:creationId xmlns:a16="http://schemas.microsoft.com/office/drawing/2014/main" id="{662C53FE-2E66-5FBD-F928-28E2CC255335}"/>
              </a:ext>
            </a:extLst>
          </p:cNvPr>
          <p:cNvCxnSpPr>
            <a:cxnSpLocks/>
          </p:cNvCxnSpPr>
          <p:nvPr/>
        </p:nvCxnSpPr>
        <p:spPr>
          <a:xfrm flipH="1" flipV="1">
            <a:off x="1739900" y="3613151"/>
            <a:ext cx="5403852" cy="72072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eur droit 99">
            <a:extLst>
              <a:ext uri="{FF2B5EF4-FFF2-40B4-BE49-F238E27FC236}">
                <a16:creationId xmlns:a16="http://schemas.microsoft.com/office/drawing/2014/main" id="{45788A60-67A6-C541-5B70-A373B697E15C}"/>
              </a:ext>
            </a:extLst>
          </p:cNvPr>
          <p:cNvCxnSpPr>
            <a:cxnSpLocks/>
            <a:endCxn id="32" idx="5"/>
          </p:cNvCxnSpPr>
          <p:nvPr/>
        </p:nvCxnSpPr>
        <p:spPr>
          <a:xfrm flipH="1" flipV="1">
            <a:off x="2059734" y="2744048"/>
            <a:ext cx="5331381" cy="11610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eur droit 100">
            <a:extLst>
              <a:ext uri="{FF2B5EF4-FFF2-40B4-BE49-F238E27FC236}">
                <a16:creationId xmlns:a16="http://schemas.microsoft.com/office/drawing/2014/main" id="{2E5C3453-45AC-2352-D46B-765C6740B002}"/>
              </a:ext>
            </a:extLst>
          </p:cNvPr>
          <p:cNvCxnSpPr>
            <a:cxnSpLocks/>
            <a:endCxn id="31" idx="6"/>
          </p:cNvCxnSpPr>
          <p:nvPr/>
        </p:nvCxnSpPr>
        <p:spPr>
          <a:xfrm flipH="1" flipV="1">
            <a:off x="3632200" y="1530350"/>
            <a:ext cx="3758915" cy="237471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eur droit 101">
            <a:extLst>
              <a:ext uri="{FF2B5EF4-FFF2-40B4-BE49-F238E27FC236}">
                <a16:creationId xmlns:a16="http://schemas.microsoft.com/office/drawing/2014/main" id="{DB73EB33-323E-BED5-BCB5-822FEA536FCD}"/>
              </a:ext>
            </a:extLst>
          </p:cNvPr>
          <p:cNvCxnSpPr>
            <a:cxnSpLocks/>
          </p:cNvCxnSpPr>
          <p:nvPr/>
        </p:nvCxnSpPr>
        <p:spPr>
          <a:xfrm flipH="1" flipV="1">
            <a:off x="4980734" y="1156548"/>
            <a:ext cx="2410381" cy="27485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eur droit 102">
            <a:extLst>
              <a:ext uri="{FF2B5EF4-FFF2-40B4-BE49-F238E27FC236}">
                <a16:creationId xmlns:a16="http://schemas.microsoft.com/office/drawing/2014/main" id="{66166C42-480A-39F3-C7DE-9E2979F3B97F}"/>
              </a:ext>
            </a:extLst>
          </p:cNvPr>
          <p:cNvCxnSpPr>
            <a:cxnSpLocks/>
          </p:cNvCxnSpPr>
          <p:nvPr/>
        </p:nvCxnSpPr>
        <p:spPr>
          <a:xfrm flipH="1" flipV="1">
            <a:off x="6223000" y="990600"/>
            <a:ext cx="1765302" cy="27368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Ellipse 45">
            <a:extLst>
              <a:ext uri="{FF2B5EF4-FFF2-40B4-BE49-F238E27FC236}">
                <a16:creationId xmlns:a16="http://schemas.microsoft.com/office/drawing/2014/main" id="{2DD95849-F55E-466A-98A7-FE0485A847D7}"/>
              </a:ext>
            </a:extLst>
          </p:cNvPr>
          <p:cNvSpPr/>
          <p:nvPr/>
        </p:nvSpPr>
        <p:spPr>
          <a:xfrm>
            <a:off x="3651250" y="3727450"/>
            <a:ext cx="1689100" cy="121285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Créature</a:t>
            </a:r>
          </a:p>
        </p:txBody>
      </p:sp>
      <p:cxnSp>
        <p:nvCxnSpPr>
          <p:cNvPr id="109" name="Connecteur droit 108">
            <a:extLst>
              <a:ext uri="{FF2B5EF4-FFF2-40B4-BE49-F238E27FC236}">
                <a16:creationId xmlns:a16="http://schemas.microsoft.com/office/drawing/2014/main" id="{1FEADE38-8851-2D9F-EAF8-2493F982127E}"/>
              </a:ext>
            </a:extLst>
          </p:cNvPr>
          <p:cNvCxnSpPr>
            <a:stCxn id="44" idx="1"/>
            <a:endCxn id="35" idx="4"/>
          </p:cNvCxnSpPr>
          <p:nvPr/>
        </p:nvCxnSpPr>
        <p:spPr>
          <a:xfrm flipH="1" flipV="1">
            <a:off x="9537702" y="1917700"/>
            <a:ext cx="886666" cy="2564554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eur droit 109">
            <a:extLst>
              <a:ext uri="{FF2B5EF4-FFF2-40B4-BE49-F238E27FC236}">
                <a16:creationId xmlns:a16="http://schemas.microsoft.com/office/drawing/2014/main" id="{B4714DCA-301C-DF68-2554-BA72A836BC0A}"/>
              </a:ext>
            </a:extLst>
          </p:cNvPr>
          <p:cNvCxnSpPr>
            <a:cxnSpLocks/>
            <a:stCxn id="44" idx="3"/>
            <a:endCxn id="43" idx="6"/>
          </p:cNvCxnSpPr>
          <p:nvPr/>
        </p:nvCxnSpPr>
        <p:spPr>
          <a:xfrm flipH="1">
            <a:off x="10223502" y="5030050"/>
            <a:ext cx="200866" cy="29760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eur droit 113">
            <a:extLst>
              <a:ext uri="{FF2B5EF4-FFF2-40B4-BE49-F238E27FC236}">
                <a16:creationId xmlns:a16="http://schemas.microsoft.com/office/drawing/2014/main" id="{F4B9B5F7-E3C3-5E8D-6526-9EE186205838}"/>
              </a:ext>
            </a:extLst>
          </p:cNvPr>
          <p:cNvCxnSpPr>
            <a:cxnSpLocks/>
            <a:stCxn id="44" idx="3"/>
            <a:endCxn id="42" idx="6"/>
          </p:cNvCxnSpPr>
          <p:nvPr/>
        </p:nvCxnSpPr>
        <p:spPr>
          <a:xfrm flipH="1">
            <a:off x="8674102" y="5030050"/>
            <a:ext cx="1750266" cy="94530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Ellipse 42">
            <a:extLst>
              <a:ext uri="{FF2B5EF4-FFF2-40B4-BE49-F238E27FC236}">
                <a16:creationId xmlns:a16="http://schemas.microsoft.com/office/drawing/2014/main" id="{C395B993-DE03-DE17-4937-4457DBB05BB9}"/>
              </a:ext>
            </a:extLst>
          </p:cNvPr>
          <p:cNvSpPr/>
          <p:nvPr/>
        </p:nvSpPr>
        <p:spPr>
          <a:xfrm>
            <a:off x="8851902" y="4940300"/>
            <a:ext cx="1371600" cy="7747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fr-FR" sz="1400" dirty="0">
                <a:solidFill>
                  <a:sysClr val="windowText" lastClr="000000"/>
                </a:solidFill>
              </a:rPr>
              <a:t>Casino</a:t>
            </a:r>
          </a:p>
          <a:p>
            <a:pPr algn="ctr"/>
            <a:r>
              <a:rPr lang="fr-FR" sz="1400" dirty="0">
                <a:solidFill>
                  <a:sysClr val="windowText" lastClr="000000"/>
                </a:solidFill>
              </a:rPr>
              <a:t>6</a:t>
            </a:r>
          </a:p>
        </p:txBody>
      </p:sp>
      <p:cxnSp>
        <p:nvCxnSpPr>
          <p:cNvPr id="117" name="Connecteur droit 116">
            <a:extLst>
              <a:ext uri="{FF2B5EF4-FFF2-40B4-BE49-F238E27FC236}">
                <a16:creationId xmlns:a16="http://schemas.microsoft.com/office/drawing/2014/main" id="{B55A00CA-DAC7-1101-AF5D-EE02126248E7}"/>
              </a:ext>
            </a:extLst>
          </p:cNvPr>
          <p:cNvCxnSpPr/>
          <p:nvPr/>
        </p:nvCxnSpPr>
        <p:spPr>
          <a:xfrm flipV="1">
            <a:off x="3431334" y="4762682"/>
            <a:ext cx="467279" cy="29107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31C005F3-3FF2-6358-3679-E4767DD8D655}"/>
              </a:ext>
            </a:extLst>
          </p:cNvPr>
          <p:cNvCxnSpPr>
            <a:cxnSpLocks/>
          </p:cNvCxnSpPr>
          <p:nvPr/>
        </p:nvCxnSpPr>
        <p:spPr>
          <a:xfrm>
            <a:off x="5092987" y="4762682"/>
            <a:ext cx="2410381" cy="93877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DC0D3C0E-6CD1-6273-15E4-C6A7F581E7B4}"/>
              </a:ext>
            </a:extLst>
          </p:cNvPr>
          <p:cNvCxnSpPr>
            <a:cxnSpLocks/>
          </p:cNvCxnSpPr>
          <p:nvPr/>
        </p:nvCxnSpPr>
        <p:spPr>
          <a:xfrm>
            <a:off x="4495800" y="4940300"/>
            <a:ext cx="0" cy="64770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eur droit 119">
            <a:extLst>
              <a:ext uri="{FF2B5EF4-FFF2-40B4-BE49-F238E27FC236}">
                <a16:creationId xmlns:a16="http://schemas.microsoft.com/office/drawing/2014/main" id="{1AEDFCC0-5CE2-E969-CC0B-D0E9F63BFB5D}"/>
              </a:ext>
            </a:extLst>
          </p:cNvPr>
          <p:cNvCxnSpPr>
            <a:cxnSpLocks/>
          </p:cNvCxnSpPr>
          <p:nvPr/>
        </p:nvCxnSpPr>
        <p:spPr>
          <a:xfrm flipH="1">
            <a:off x="2260600" y="4333875"/>
            <a:ext cx="1390650" cy="422277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eur droit 120">
            <a:extLst>
              <a:ext uri="{FF2B5EF4-FFF2-40B4-BE49-F238E27FC236}">
                <a16:creationId xmlns:a16="http://schemas.microsoft.com/office/drawing/2014/main" id="{49E1B8CE-4849-9F2F-DBEA-C9915166A173}"/>
              </a:ext>
            </a:extLst>
          </p:cNvPr>
          <p:cNvCxnSpPr>
            <a:cxnSpLocks/>
          </p:cNvCxnSpPr>
          <p:nvPr/>
        </p:nvCxnSpPr>
        <p:spPr>
          <a:xfrm flipV="1">
            <a:off x="5340350" y="2744048"/>
            <a:ext cx="5084018" cy="1589827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eur droit 121">
            <a:extLst>
              <a:ext uri="{FF2B5EF4-FFF2-40B4-BE49-F238E27FC236}">
                <a16:creationId xmlns:a16="http://schemas.microsoft.com/office/drawing/2014/main" id="{D4DA629F-4208-1AF1-00A4-0550B254B203}"/>
              </a:ext>
            </a:extLst>
          </p:cNvPr>
          <p:cNvCxnSpPr>
            <a:cxnSpLocks/>
          </p:cNvCxnSpPr>
          <p:nvPr/>
        </p:nvCxnSpPr>
        <p:spPr>
          <a:xfrm flipV="1">
            <a:off x="5340350" y="3613151"/>
            <a:ext cx="5403850" cy="720724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eur droit 122">
            <a:extLst>
              <a:ext uri="{FF2B5EF4-FFF2-40B4-BE49-F238E27FC236}">
                <a16:creationId xmlns:a16="http://schemas.microsoft.com/office/drawing/2014/main" id="{F56894F0-D71B-FA9C-E3B9-7CBC4843AB76}"/>
              </a:ext>
            </a:extLst>
          </p:cNvPr>
          <p:cNvCxnSpPr>
            <a:cxnSpLocks/>
          </p:cNvCxnSpPr>
          <p:nvPr/>
        </p:nvCxnSpPr>
        <p:spPr>
          <a:xfrm flipH="1">
            <a:off x="5092987" y="1238250"/>
            <a:ext cx="2895315" cy="2666818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eur droit 123">
            <a:extLst>
              <a:ext uri="{FF2B5EF4-FFF2-40B4-BE49-F238E27FC236}">
                <a16:creationId xmlns:a16="http://schemas.microsoft.com/office/drawing/2014/main" id="{D6008599-2930-4620-D52B-BEE0EBA2DF7D}"/>
              </a:ext>
            </a:extLst>
          </p:cNvPr>
          <p:cNvCxnSpPr>
            <a:cxnSpLocks/>
          </p:cNvCxnSpPr>
          <p:nvPr/>
        </p:nvCxnSpPr>
        <p:spPr>
          <a:xfrm flipH="1">
            <a:off x="5092987" y="990600"/>
            <a:ext cx="1130013" cy="2914468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eur droit 124">
            <a:extLst>
              <a:ext uri="{FF2B5EF4-FFF2-40B4-BE49-F238E27FC236}">
                <a16:creationId xmlns:a16="http://schemas.microsoft.com/office/drawing/2014/main" id="{AF392457-6A05-6CE0-98A7-BEB8893D2278}"/>
              </a:ext>
            </a:extLst>
          </p:cNvPr>
          <p:cNvCxnSpPr>
            <a:cxnSpLocks/>
            <a:stCxn id="29" idx="5"/>
          </p:cNvCxnSpPr>
          <p:nvPr/>
        </p:nvCxnSpPr>
        <p:spPr>
          <a:xfrm flipH="1">
            <a:off x="4495800" y="1156548"/>
            <a:ext cx="484934" cy="2570902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eur droit 125">
            <a:extLst>
              <a:ext uri="{FF2B5EF4-FFF2-40B4-BE49-F238E27FC236}">
                <a16:creationId xmlns:a16="http://schemas.microsoft.com/office/drawing/2014/main" id="{B09E5114-2C5D-7DF5-46A1-A9542B7360E4}"/>
              </a:ext>
            </a:extLst>
          </p:cNvPr>
          <p:cNvCxnSpPr>
            <a:cxnSpLocks/>
          </p:cNvCxnSpPr>
          <p:nvPr/>
        </p:nvCxnSpPr>
        <p:spPr>
          <a:xfrm>
            <a:off x="2946400" y="1917700"/>
            <a:ext cx="952213" cy="1987368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eur droit 126">
            <a:extLst>
              <a:ext uri="{FF2B5EF4-FFF2-40B4-BE49-F238E27FC236}">
                <a16:creationId xmlns:a16="http://schemas.microsoft.com/office/drawing/2014/main" id="{E30CDCCC-4B49-D453-C38B-6264B37E93F6}"/>
              </a:ext>
            </a:extLst>
          </p:cNvPr>
          <p:cNvCxnSpPr>
            <a:cxnSpLocks/>
          </p:cNvCxnSpPr>
          <p:nvPr/>
        </p:nvCxnSpPr>
        <p:spPr>
          <a:xfrm>
            <a:off x="2059734" y="2744048"/>
            <a:ext cx="1838879" cy="116102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eur droit 127">
            <a:extLst>
              <a:ext uri="{FF2B5EF4-FFF2-40B4-BE49-F238E27FC236}">
                <a16:creationId xmlns:a16="http://schemas.microsoft.com/office/drawing/2014/main" id="{0444277F-DFDA-8CCB-08C3-140969B25B00}"/>
              </a:ext>
            </a:extLst>
          </p:cNvPr>
          <p:cNvCxnSpPr>
            <a:cxnSpLocks/>
            <a:endCxn id="46" idx="2"/>
          </p:cNvCxnSpPr>
          <p:nvPr/>
        </p:nvCxnSpPr>
        <p:spPr>
          <a:xfrm>
            <a:off x="1739900" y="3613151"/>
            <a:ext cx="1911350" cy="720724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Ellipse 44">
            <a:extLst>
              <a:ext uri="{FF2B5EF4-FFF2-40B4-BE49-F238E27FC236}">
                <a16:creationId xmlns:a16="http://schemas.microsoft.com/office/drawing/2014/main" id="{A02F26D2-90E5-C81C-7525-A4EBA9D86C61}"/>
              </a:ext>
            </a:extLst>
          </p:cNvPr>
          <p:cNvSpPr/>
          <p:nvPr/>
        </p:nvSpPr>
        <p:spPr>
          <a:xfrm>
            <a:off x="7143752" y="1863725"/>
            <a:ext cx="1689100" cy="1212850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Coffre</a:t>
            </a:r>
          </a:p>
        </p:txBody>
      </p:sp>
      <p:sp>
        <p:nvSpPr>
          <p:cNvPr id="47" name="Ellipse 46">
            <a:extLst>
              <a:ext uri="{FF2B5EF4-FFF2-40B4-BE49-F238E27FC236}">
                <a16:creationId xmlns:a16="http://schemas.microsoft.com/office/drawing/2014/main" id="{85E76C30-907F-3298-CA40-05FBDFC453F3}"/>
              </a:ext>
            </a:extLst>
          </p:cNvPr>
          <p:cNvSpPr/>
          <p:nvPr/>
        </p:nvSpPr>
        <p:spPr>
          <a:xfrm>
            <a:off x="7143752" y="3727450"/>
            <a:ext cx="1689100" cy="1212850"/>
          </a:xfrm>
          <a:prstGeom prst="ellipse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Régate</a:t>
            </a:r>
          </a:p>
        </p:txBody>
      </p:sp>
      <p:sp>
        <p:nvSpPr>
          <p:cNvPr id="48" name="Ellipse 47">
            <a:extLst>
              <a:ext uri="{FF2B5EF4-FFF2-40B4-BE49-F238E27FC236}">
                <a16:creationId xmlns:a16="http://schemas.microsoft.com/office/drawing/2014/main" id="{73A80BF7-DC66-B8D0-C228-2CC674C02578}"/>
              </a:ext>
            </a:extLst>
          </p:cNvPr>
          <p:cNvSpPr/>
          <p:nvPr/>
        </p:nvSpPr>
        <p:spPr>
          <a:xfrm>
            <a:off x="3651250" y="1863725"/>
            <a:ext cx="1689100" cy="121285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Politique</a:t>
            </a:r>
          </a:p>
        </p:txBody>
      </p:sp>
    </p:spTree>
    <p:extLst>
      <p:ext uri="{BB962C8B-B14F-4D97-AF65-F5344CB8AC3E}">
        <p14:creationId xmlns:p14="http://schemas.microsoft.com/office/powerpoint/2010/main" val="22183291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29DD8B-DF64-FDAA-EB36-18662B0B55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Ellipse 28">
            <a:extLst>
              <a:ext uri="{FF2B5EF4-FFF2-40B4-BE49-F238E27FC236}">
                <a16:creationId xmlns:a16="http://schemas.microsoft.com/office/drawing/2014/main" id="{49640B49-07A7-626C-0CA5-2ADD467D5B9C}"/>
              </a:ext>
            </a:extLst>
          </p:cNvPr>
          <p:cNvSpPr/>
          <p:nvPr/>
        </p:nvSpPr>
        <p:spPr>
          <a:xfrm>
            <a:off x="3810000" y="495300"/>
            <a:ext cx="1371600" cy="7747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fr-FR" sz="1400" dirty="0" err="1">
                <a:solidFill>
                  <a:sysClr val="windowText" lastClr="000000"/>
                </a:solidFill>
              </a:rPr>
              <a:t>Palyr</a:t>
            </a:r>
            <a:endParaRPr lang="fr-FR" sz="1400" dirty="0">
              <a:solidFill>
                <a:sysClr val="windowText" lastClr="000000"/>
              </a:solidFill>
            </a:endParaRPr>
          </a:p>
          <a:p>
            <a:pPr algn="ctr"/>
            <a:r>
              <a:rPr lang="fr-FR" sz="1400" dirty="0">
                <a:solidFill>
                  <a:sysClr val="windowText" lastClr="000000"/>
                </a:solidFill>
              </a:rPr>
              <a:t>8</a:t>
            </a:r>
          </a:p>
        </p:txBody>
      </p:sp>
      <p:sp>
        <p:nvSpPr>
          <p:cNvPr id="30" name="Ellipse 29">
            <a:extLst>
              <a:ext uri="{FF2B5EF4-FFF2-40B4-BE49-F238E27FC236}">
                <a16:creationId xmlns:a16="http://schemas.microsoft.com/office/drawing/2014/main" id="{130C2FA7-2E1A-3AB0-35CD-E4260912CA4E}"/>
              </a:ext>
            </a:extLst>
          </p:cNvPr>
          <p:cNvSpPr/>
          <p:nvPr/>
        </p:nvSpPr>
        <p:spPr>
          <a:xfrm>
            <a:off x="5537200" y="215900"/>
            <a:ext cx="1371600" cy="7747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fr-FR" sz="1400" dirty="0" err="1">
                <a:solidFill>
                  <a:sysClr val="windowText" lastClr="000000"/>
                </a:solidFill>
              </a:rPr>
              <a:t>Sfaal</a:t>
            </a:r>
            <a:endParaRPr lang="fr-FR" sz="1400" dirty="0">
              <a:solidFill>
                <a:sysClr val="windowText" lastClr="000000"/>
              </a:solidFill>
            </a:endParaRPr>
          </a:p>
          <a:p>
            <a:pPr algn="ctr"/>
            <a:r>
              <a:rPr lang="fr-FR" sz="1400" dirty="0">
                <a:solidFill>
                  <a:sysClr val="windowText" lastClr="000000"/>
                </a:solidFill>
              </a:rPr>
              <a:t>8</a:t>
            </a:r>
          </a:p>
        </p:txBody>
      </p:sp>
      <p:sp>
        <p:nvSpPr>
          <p:cNvPr id="31" name="Ellipse 30">
            <a:extLst>
              <a:ext uri="{FF2B5EF4-FFF2-40B4-BE49-F238E27FC236}">
                <a16:creationId xmlns:a16="http://schemas.microsoft.com/office/drawing/2014/main" id="{0454A307-3A4A-2312-B505-718F46751C40}"/>
              </a:ext>
            </a:extLst>
          </p:cNvPr>
          <p:cNvSpPr/>
          <p:nvPr/>
        </p:nvSpPr>
        <p:spPr>
          <a:xfrm>
            <a:off x="2260600" y="1143000"/>
            <a:ext cx="1371600" cy="7747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fr-FR" sz="1400" dirty="0">
                <a:solidFill>
                  <a:sysClr val="windowText" lastClr="000000"/>
                </a:solidFill>
              </a:rPr>
              <a:t>Il-</a:t>
            </a:r>
            <a:r>
              <a:rPr lang="fr-FR" sz="1400" dirty="0" err="1">
                <a:solidFill>
                  <a:sysClr val="windowText" lastClr="000000"/>
                </a:solidFill>
              </a:rPr>
              <a:t>Irion</a:t>
            </a:r>
            <a:endParaRPr lang="fr-FR" sz="1400" dirty="0">
              <a:solidFill>
                <a:sysClr val="windowText" lastClr="000000"/>
              </a:solidFill>
            </a:endParaRPr>
          </a:p>
          <a:p>
            <a:pPr algn="ctr"/>
            <a:r>
              <a:rPr lang="fr-FR" sz="1400" dirty="0">
                <a:solidFill>
                  <a:sysClr val="windowText" lastClr="000000"/>
                </a:solidFill>
              </a:rPr>
              <a:t>8</a:t>
            </a:r>
          </a:p>
        </p:txBody>
      </p:sp>
      <p:sp>
        <p:nvSpPr>
          <p:cNvPr id="32" name="Ellipse 31">
            <a:extLst>
              <a:ext uri="{FF2B5EF4-FFF2-40B4-BE49-F238E27FC236}">
                <a16:creationId xmlns:a16="http://schemas.microsoft.com/office/drawing/2014/main" id="{11AA5498-0B7E-F8DB-F880-A58A8D0C40DC}"/>
              </a:ext>
            </a:extLst>
          </p:cNvPr>
          <p:cNvSpPr/>
          <p:nvPr/>
        </p:nvSpPr>
        <p:spPr>
          <a:xfrm>
            <a:off x="889000" y="2082800"/>
            <a:ext cx="1371600" cy="7747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fr-FR" sz="1400" dirty="0" err="1">
                <a:solidFill>
                  <a:sysClr val="windowText" lastClr="000000"/>
                </a:solidFill>
              </a:rPr>
              <a:t>Arthas</a:t>
            </a:r>
            <a:endParaRPr lang="fr-FR" sz="1400" dirty="0">
              <a:solidFill>
                <a:sysClr val="windowText" lastClr="000000"/>
              </a:solidFill>
            </a:endParaRPr>
          </a:p>
          <a:p>
            <a:pPr algn="ctr"/>
            <a:r>
              <a:rPr lang="fr-FR" sz="1400" dirty="0">
                <a:solidFill>
                  <a:sysClr val="windowText" lastClr="000000"/>
                </a:solidFill>
              </a:rPr>
              <a:t>8</a:t>
            </a:r>
          </a:p>
        </p:txBody>
      </p:sp>
      <p:sp>
        <p:nvSpPr>
          <p:cNvPr id="33" name="Ellipse 32">
            <a:extLst>
              <a:ext uri="{FF2B5EF4-FFF2-40B4-BE49-F238E27FC236}">
                <a16:creationId xmlns:a16="http://schemas.microsoft.com/office/drawing/2014/main" id="{EC9024DD-FA6F-5C4C-D932-A2C415ED5591}"/>
              </a:ext>
            </a:extLst>
          </p:cNvPr>
          <p:cNvSpPr/>
          <p:nvPr/>
        </p:nvSpPr>
        <p:spPr>
          <a:xfrm>
            <a:off x="7302502" y="463550"/>
            <a:ext cx="1371600" cy="7747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fr-FR" sz="1400" dirty="0">
                <a:solidFill>
                  <a:sysClr val="windowText" lastClr="000000"/>
                </a:solidFill>
              </a:rPr>
              <a:t>Banquiers</a:t>
            </a:r>
          </a:p>
          <a:p>
            <a:pPr algn="ctr"/>
            <a:r>
              <a:rPr lang="fr-FR" sz="1400" dirty="0">
                <a:solidFill>
                  <a:sysClr val="windowText" lastClr="000000"/>
                </a:solidFill>
              </a:rPr>
              <a:t>6</a:t>
            </a:r>
          </a:p>
        </p:txBody>
      </p:sp>
      <p:sp>
        <p:nvSpPr>
          <p:cNvPr id="34" name="Ellipse 33">
            <a:extLst>
              <a:ext uri="{FF2B5EF4-FFF2-40B4-BE49-F238E27FC236}">
                <a16:creationId xmlns:a16="http://schemas.microsoft.com/office/drawing/2014/main" id="{E2FAF925-C2E8-CC79-59E0-A52074A5EE67}"/>
              </a:ext>
            </a:extLst>
          </p:cNvPr>
          <p:cNvSpPr/>
          <p:nvPr/>
        </p:nvSpPr>
        <p:spPr>
          <a:xfrm>
            <a:off x="10223502" y="2082800"/>
            <a:ext cx="1371600" cy="7747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fr-FR" sz="1400" dirty="0">
                <a:solidFill>
                  <a:sysClr val="windowText" lastClr="000000"/>
                </a:solidFill>
              </a:rPr>
              <a:t>Casseurs 1</a:t>
            </a:r>
          </a:p>
          <a:p>
            <a:pPr algn="ctr"/>
            <a:r>
              <a:rPr lang="fr-FR" sz="1400" dirty="0">
                <a:solidFill>
                  <a:sysClr val="windowText" lastClr="000000"/>
                </a:solidFill>
              </a:rPr>
              <a:t>6</a:t>
            </a:r>
          </a:p>
        </p:txBody>
      </p:sp>
      <p:sp>
        <p:nvSpPr>
          <p:cNvPr id="35" name="Ellipse 34">
            <a:extLst>
              <a:ext uri="{FF2B5EF4-FFF2-40B4-BE49-F238E27FC236}">
                <a16:creationId xmlns:a16="http://schemas.microsoft.com/office/drawing/2014/main" id="{2D82E688-344E-3EB0-06EE-DC391AA69730}"/>
              </a:ext>
            </a:extLst>
          </p:cNvPr>
          <p:cNvSpPr/>
          <p:nvPr/>
        </p:nvSpPr>
        <p:spPr>
          <a:xfrm>
            <a:off x="8851902" y="1143000"/>
            <a:ext cx="1371600" cy="7747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fr-FR" sz="1400" dirty="0">
                <a:solidFill>
                  <a:sysClr val="windowText" lastClr="000000"/>
                </a:solidFill>
              </a:rPr>
              <a:t>Gardiens Coffre/Fort</a:t>
            </a:r>
          </a:p>
          <a:p>
            <a:pPr algn="ctr"/>
            <a:r>
              <a:rPr lang="fr-FR" sz="1400" dirty="0">
                <a:solidFill>
                  <a:sysClr val="windowText" lastClr="000000"/>
                </a:solidFill>
              </a:rPr>
              <a:t>8</a:t>
            </a:r>
          </a:p>
        </p:txBody>
      </p:sp>
      <p:sp>
        <p:nvSpPr>
          <p:cNvPr id="36" name="Ellipse 35">
            <a:extLst>
              <a:ext uri="{FF2B5EF4-FFF2-40B4-BE49-F238E27FC236}">
                <a16:creationId xmlns:a16="http://schemas.microsoft.com/office/drawing/2014/main" id="{5801BDFA-7571-CCD3-9FEA-656A92704D54}"/>
              </a:ext>
            </a:extLst>
          </p:cNvPr>
          <p:cNvSpPr/>
          <p:nvPr/>
        </p:nvSpPr>
        <p:spPr>
          <a:xfrm>
            <a:off x="10744200" y="3225801"/>
            <a:ext cx="1371600" cy="7747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fr-FR" sz="1400" dirty="0">
                <a:solidFill>
                  <a:sysClr val="windowText" lastClr="000000"/>
                </a:solidFill>
              </a:rPr>
              <a:t>Casseurs 2</a:t>
            </a:r>
          </a:p>
          <a:p>
            <a:pPr algn="ctr"/>
            <a:r>
              <a:rPr lang="fr-FR" sz="1400" dirty="0">
                <a:solidFill>
                  <a:sysClr val="windowText" lastClr="000000"/>
                </a:solidFill>
              </a:rPr>
              <a:t>6</a:t>
            </a:r>
          </a:p>
        </p:txBody>
      </p:sp>
      <p:sp>
        <p:nvSpPr>
          <p:cNvPr id="37" name="Ellipse 36">
            <a:extLst>
              <a:ext uri="{FF2B5EF4-FFF2-40B4-BE49-F238E27FC236}">
                <a16:creationId xmlns:a16="http://schemas.microsoft.com/office/drawing/2014/main" id="{46EFE866-4ADF-F9AC-99AC-5C90F38CC0AA}"/>
              </a:ext>
            </a:extLst>
          </p:cNvPr>
          <p:cNvSpPr/>
          <p:nvPr/>
        </p:nvSpPr>
        <p:spPr>
          <a:xfrm>
            <a:off x="368300" y="3225801"/>
            <a:ext cx="1371600" cy="7747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fr-FR" sz="1400" dirty="0">
                <a:solidFill>
                  <a:sysClr val="windowText" lastClr="000000"/>
                </a:solidFill>
              </a:rPr>
              <a:t>Ter Félis</a:t>
            </a:r>
          </a:p>
          <a:p>
            <a:pPr algn="ctr"/>
            <a:r>
              <a:rPr lang="fr-FR" sz="1400" dirty="0">
                <a:solidFill>
                  <a:sysClr val="windowText" lastClr="000000"/>
                </a:solidFill>
              </a:rPr>
              <a:t>8</a:t>
            </a:r>
          </a:p>
        </p:txBody>
      </p:sp>
      <p:sp>
        <p:nvSpPr>
          <p:cNvPr id="38" name="Ellipse 37">
            <a:extLst>
              <a:ext uri="{FF2B5EF4-FFF2-40B4-BE49-F238E27FC236}">
                <a16:creationId xmlns:a16="http://schemas.microsoft.com/office/drawing/2014/main" id="{5C3E08B9-D785-D36D-5067-6930B8B660B5}"/>
              </a:ext>
            </a:extLst>
          </p:cNvPr>
          <p:cNvSpPr/>
          <p:nvPr/>
        </p:nvSpPr>
        <p:spPr>
          <a:xfrm>
            <a:off x="889000" y="4368802"/>
            <a:ext cx="1371600" cy="7747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fr-FR" sz="1400" dirty="0" err="1">
                <a:solidFill>
                  <a:sysClr val="windowText" lastClr="000000"/>
                </a:solidFill>
              </a:rPr>
              <a:t>Thanos</a:t>
            </a:r>
            <a:endParaRPr lang="fr-FR" sz="1400" dirty="0">
              <a:solidFill>
                <a:sysClr val="windowText" lastClr="000000"/>
              </a:solidFill>
            </a:endParaRPr>
          </a:p>
          <a:p>
            <a:pPr algn="ctr"/>
            <a:r>
              <a:rPr lang="fr-FR" sz="1400" dirty="0">
                <a:solidFill>
                  <a:sysClr val="windowText" lastClr="000000"/>
                </a:solidFill>
              </a:rPr>
              <a:t>4</a:t>
            </a:r>
          </a:p>
        </p:txBody>
      </p:sp>
      <p:sp>
        <p:nvSpPr>
          <p:cNvPr id="39" name="Ellipse 38">
            <a:extLst>
              <a:ext uri="{FF2B5EF4-FFF2-40B4-BE49-F238E27FC236}">
                <a16:creationId xmlns:a16="http://schemas.microsoft.com/office/drawing/2014/main" id="{130BF0EE-4921-A88B-72C2-ADB7BB8922D8}"/>
              </a:ext>
            </a:extLst>
          </p:cNvPr>
          <p:cNvSpPr/>
          <p:nvPr/>
        </p:nvSpPr>
        <p:spPr>
          <a:xfrm>
            <a:off x="2260600" y="4940300"/>
            <a:ext cx="1371600" cy="7747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fr-FR" sz="1400" dirty="0">
                <a:solidFill>
                  <a:sysClr val="windowText" lastClr="000000"/>
                </a:solidFill>
              </a:rPr>
              <a:t>Cultistes</a:t>
            </a:r>
          </a:p>
          <a:p>
            <a:pPr algn="ctr"/>
            <a:r>
              <a:rPr lang="fr-FR" sz="1400" dirty="0">
                <a:solidFill>
                  <a:sysClr val="windowText" lastClr="000000"/>
                </a:solidFill>
              </a:rPr>
              <a:t>6</a:t>
            </a:r>
          </a:p>
        </p:txBody>
      </p:sp>
      <p:sp>
        <p:nvSpPr>
          <p:cNvPr id="40" name="Ellipse 39">
            <a:extLst>
              <a:ext uri="{FF2B5EF4-FFF2-40B4-BE49-F238E27FC236}">
                <a16:creationId xmlns:a16="http://schemas.microsoft.com/office/drawing/2014/main" id="{783CFEC6-E412-6D43-C002-BA5671D166F7}"/>
              </a:ext>
            </a:extLst>
          </p:cNvPr>
          <p:cNvSpPr/>
          <p:nvPr/>
        </p:nvSpPr>
        <p:spPr>
          <a:xfrm>
            <a:off x="3810000" y="5588000"/>
            <a:ext cx="1371600" cy="7747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fr-FR" sz="1400" dirty="0">
                <a:solidFill>
                  <a:sysClr val="windowText" lastClr="000000"/>
                </a:solidFill>
              </a:rPr>
              <a:t>Alchimistes</a:t>
            </a:r>
          </a:p>
          <a:p>
            <a:pPr algn="ctr"/>
            <a:r>
              <a:rPr lang="fr-FR" sz="1400" dirty="0">
                <a:solidFill>
                  <a:sysClr val="windowText" lastClr="000000"/>
                </a:solidFill>
              </a:rPr>
              <a:t>6</a:t>
            </a:r>
          </a:p>
        </p:txBody>
      </p:sp>
      <p:sp>
        <p:nvSpPr>
          <p:cNvPr id="41" name="Ellipse 40">
            <a:extLst>
              <a:ext uri="{FF2B5EF4-FFF2-40B4-BE49-F238E27FC236}">
                <a16:creationId xmlns:a16="http://schemas.microsoft.com/office/drawing/2014/main" id="{615458C8-2DB1-4ED9-4E85-BC0DF226FFB2}"/>
              </a:ext>
            </a:extLst>
          </p:cNvPr>
          <p:cNvSpPr/>
          <p:nvPr/>
        </p:nvSpPr>
        <p:spPr>
          <a:xfrm>
            <a:off x="5537200" y="5867400"/>
            <a:ext cx="1371600" cy="7747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fr-FR" sz="1400" dirty="0">
                <a:solidFill>
                  <a:sysClr val="windowText" lastClr="000000"/>
                </a:solidFill>
              </a:rPr>
              <a:t>?</a:t>
            </a:r>
          </a:p>
        </p:txBody>
      </p:sp>
      <p:sp>
        <p:nvSpPr>
          <p:cNvPr id="42" name="Ellipse 41">
            <a:extLst>
              <a:ext uri="{FF2B5EF4-FFF2-40B4-BE49-F238E27FC236}">
                <a16:creationId xmlns:a16="http://schemas.microsoft.com/office/drawing/2014/main" id="{69F7D557-65EC-A243-C2E2-36901FB0008F}"/>
              </a:ext>
            </a:extLst>
          </p:cNvPr>
          <p:cNvSpPr/>
          <p:nvPr/>
        </p:nvSpPr>
        <p:spPr>
          <a:xfrm>
            <a:off x="7302502" y="5588000"/>
            <a:ext cx="1371600" cy="7747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fr-FR" sz="1400" dirty="0">
                <a:solidFill>
                  <a:sysClr val="windowText" lastClr="000000"/>
                </a:solidFill>
              </a:rPr>
              <a:t>Dockers</a:t>
            </a:r>
          </a:p>
          <a:p>
            <a:pPr algn="ctr"/>
            <a:r>
              <a:rPr lang="fr-FR" sz="1400" dirty="0">
                <a:solidFill>
                  <a:sysClr val="windowText" lastClr="000000"/>
                </a:solidFill>
              </a:rPr>
              <a:t>8</a:t>
            </a:r>
          </a:p>
        </p:txBody>
      </p:sp>
      <p:sp>
        <p:nvSpPr>
          <p:cNvPr id="43" name="Ellipse 42">
            <a:extLst>
              <a:ext uri="{FF2B5EF4-FFF2-40B4-BE49-F238E27FC236}">
                <a16:creationId xmlns:a16="http://schemas.microsoft.com/office/drawing/2014/main" id="{057E9374-E75D-0334-1B49-CBB20A6CE12E}"/>
              </a:ext>
            </a:extLst>
          </p:cNvPr>
          <p:cNvSpPr/>
          <p:nvPr/>
        </p:nvSpPr>
        <p:spPr>
          <a:xfrm>
            <a:off x="8851902" y="4940300"/>
            <a:ext cx="1371600" cy="7747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fr-FR" sz="1400" dirty="0">
                <a:solidFill>
                  <a:sysClr val="windowText" lastClr="000000"/>
                </a:solidFill>
              </a:rPr>
              <a:t>Casino</a:t>
            </a:r>
          </a:p>
          <a:p>
            <a:pPr algn="ctr"/>
            <a:r>
              <a:rPr lang="fr-FR" sz="1400" dirty="0">
                <a:solidFill>
                  <a:sysClr val="windowText" lastClr="000000"/>
                </a:solidFill>
              </a:rPr>
              <a:t>6</a:t>
            </a:r>
          </a:p>
        </p:txBody>
      </p:sp>
      <p:sp>
        <p:nvSpPr>
          <p:cNvPr id="44" name="Ellipse 43">
            <a:extLst>
              <a:ext uri="{FF2B5EF4-FFF2-40B4-BE49-F238E27FC236}">
                <a16:creationId xmlns:a16="http://schemas.microsoft.com/office/drawing/2014/main" id="{3C105903-7E79-4FF0-E6BD-E55944649EFB}"/>
              </a:ext>
            </a:extLst>
          </p:cNvPr>
          <p:cNvSpPr/>
          <p:nvPr/>
        </p:nvSpPr>
        <p:spPr>
          <a:xfrm>
            <a:off x="10223502" y="4368802"/>
            <a:ext cx="1371600" cy="7747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fr-FR" sz="1400" dirty="0">
                <a:solidFill>
                  <a:sysClr val="windowText" lastClr="000000"/>
                </a:solidFill>
              </a:rPr>
              <a:t>Mafia</a:t>
            </a:r>
          </a:p>
          <a:p>
            <a:pPr algn="ctr"/>
            <a:r>
              <a:rPr lang="fr-FR" sz="1400" dirty="0">
                <a:solidFill>
                  <a:sysClr val="windowText" lastClr="000000"/>
                </a:solidFill>
              </a:rPr>
              <a:t>6</a:t>
            </a:r>
          </a:p>
        </p:txBody>
      </p:sp>
      <p:sp>
        <p:nvSpPr>
          <p:cNvPr id="48" name="Ellipse 47">
            <a:extLst>
              <a:ext uri="{FF2B5EF4-FFF2-40B4-BE49-F238E27FC236}">
                <a16:creationId xmlns:a16="http://schemas.microsoft.com/office/drawing/2014/main" id="{BFE17DC2-B2A3-5331-2536-FB43D3BD7479}"/>
              </a:ext>
            </a:extLst>
          </p:cNvPr>
          <p:cNvSpPr/>
          <p:nvPr/>
        </p:nvSpPr>
        <p:spPr>
          <a:xfrm>
            <a:off x="3651250" y="1863725"/>
            <a:ext cx="1689100" cy="121285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Politique</a:t>
            </a:r>
          </a:p>
        </p:txBody>
      </p:sp>
      <p:cxnSp>
        <p:nvCxnSpPr>
          <p:cNvPr id="52" name="Connecteur droit 51">
            <a:extLst>
              <a:ext uri="{FF2B5EF4-FFF2-40B4-BE49-F238E27FC236}">
                <a16:creationId xmlns:a16="http://schemas.microsoft.com/office/drawing/2014/main" id="{00746774-1E1F-9CBD-B032-84F1F38B1B6B}"/>
              </a:ext>
            </a:extLst>
          </p:cNvPr>
          <p:cNvCxnSpPr>
            <a:stCxn id="30" idx="4"/>
            <a:endCxn id="48" idx="7"/>
          </p:cNvCxnSpPr>
          <p:nvPr/>
        </p:nvCxnSpPr>
        <p:spPr>
          <a:xfrm flipH="1">
            <a:off x="5092987" y="990600"/>
            <a:ext cx="1130013" cy="1050743"/>
          </a:xfrm>
          <a:prstGeom prst="line">
            <a:avLst/>
          </a:prstGeom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eur droit 52">
            <a:extLst>
              <a:ext uri="{FF2B5EF4-FFF2-40B4-BE49-F238E27FC236}">
                <a16:creationId xmlns:a16="http://schemas.microsoft.com/office/drawing/2014/main" id="{7F3FBDD7-40ED-75B3-9B5A-F985146FE526}"/>
              </a:ext>
            </a:extLst>
          </p:cNvPr>
          <p:cNvCxnSpPr>
            <a:cxnSpLocks/>
            <a:stCxn id="29" idx="4"/>
            <a:endCxn id="48" idx="0"/>
          </p:cNvCxnSpPr>
          <p:nvPr/>
        </p:nvCxnSpPr>
        <p:spPr>
          <a:xfrm>
            <a:off x="4495800" y="1270000"/>
            <a:ext cx="0" cy="593725"/>
          </a:xfrm>
          <a:prstGeom prst="line">
            <a:avLst/>
          </a:prstGeom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>
            <a:extLst>
              <a:ext uri="{FF2B5EF4-FFF2-40B4-BE49-F238E27FC236}">
                <a16:creationId xmlns:a16="http://schemas.microsoft.com/office/drawing/2014/main" id="{FF7D08CE-6DF0-3860-743C-72018A252397}"/>
              </a:ext>
            </a:extLst>
          </p:cNvPr>
          <p:cNvCxnSpPr>
            <a:cxnSpLocks/>
            <a:stCxn id="31" idx="5"/>
            <a:endCxn id="48" idx="1"/>
          </p:cNvCxnSpPr>
          <p:nvPr/>
        </p:nvCxnSpPr>
        <p:spPr>
          <a:xfrm>
            <a:off x="3431334" y="1804248"/>
            <a:ext cx="467279" cy="237095"/>
          </a:xfrm>
          <a:prstGeom prst="line">
            <a:avLst/>
          </a:prstGeom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eur droit 58">
            <a:extLst>
              <a:ext uri="{FF2B5EF4-FFF2-40B4-BE49-F238E27FC236}">
                <a16:creationId xmlns:a16="http://schemas.microsoft.com/office/drawing/2014/main" id="{A5648561-1071-DB69-BDA3-261E1711B39D}"/>
              </a:ext>
            </a:extLst>
          </p:cNvPr>
          <p:cNvCxnSpPr>
            <a:cxnSpLocks/>
            <a:stCxn id="32" idx="6"/>
            <a:endCxn id="48" idx="2"/>
          </p:cNvCxnSpPr>
          <p:nvPr/>
        </p:nvCxnSpPr>
        <p:spPr>
          <a:xfrm>
            <a:off x="2260600" y="2470150"/>
            <a:ext cx="1390650" cy="0"/>
          </a:xfrm>
          <a:prstGeom prst="line">
            <a:avLst/>
          </a:prstGeom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eur droit 61">
            <a:extLst>
              <a:ext uri="{FF2B5EF4-FFF2-40B4-BE49-F238E27FC236}">
                <a16:creationId xmlns:a16="http://schemas.microsoft.com/office/drawing/2014/main" id="{6EA69445-665D-0BB2-092B-7A0F622D06FF}"/>
              </a:ext>
            </a:extLst>
          </p:cNvPr>
          <p:cNvCxnSpPr>
            <a:cxnSpLocks/>
            <a:stCxn id="37" idx="6"/>
            <a:endCxn id="48" idx="3"/>
          </p:cNvCxnSpPr>
          <p:nvPr/>
        </p:nvCxnSpPr>
        <p:spPr>
          <a:xfrm flipV="1">
            <a:off x="1739900" y="2898957"/>
            <a:ext cx="2158713" cy="714194"/>
          </a:xfrm>
          <a:prstGeom prst="line">
            <a:avLst/>
          </a:prstGeom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64">
            <a:extLst>
              <a:ext uri="{FF2B5EF4-FFF2-40B4-BE49-F238E27FC236}">
                <a16:creationId xmlns:a16="http://schemas.microsoft.com/office/drawing/2014/main" id="{D577A68A-EEE6-5DDE-3AD6-AAF008D42854}"/>
              </a:ext>
            </a:extLst>
          </p:cNvPr>
          <p:cNvCxnSpPr>
            <a:cxnSpLocks/>
            <a:stCxn id="38" idx="7"/>
            <a:endCxn id="48" idx="3"/>
          </p:cNvCxnSpPr>
          <p:nvPr/>
        </p:nvCxnSpPr>
        <p:spPr>
          <a:xfrm flipV="1">
            <a:off x="2059734" y="2898957"/>
            <a:ext cx="1838879" cy="1583297"/>
          </a:xfrm>
          <a:prstGeom prst="line">
            <a:avLst/>
          </a:prstGeom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eur droit 67">
            <a:extLst>
              <a:ext uri="{FF2B5EF4-FFF2-40B4-BE49-F238E27FC236}">
                <a16:creationId xmlns:a16="http://schemas.microsoft.com/office/drawing/2014/main" id="{E2057A60-0650-BF33-C076-33C4D76993BE}"/>
              </a:ext>
            </a:extLst>
          </p:cNvPr>
          <p:cNvCxnSpPr>
            <a:cxnSpLocks/>
            <a:stCxn id="48" idx="5"/>
            <a:endCxn id="42" idx="1"/>
          </p:cNvCxnSpPr>
          <p:nvPr/>
        </p:nvCxnSpPr>
        <p:spPr>
          <a:xfrm>
            <a:off x="5092987" y="2898957"/>
            <a:ext cx="2410381" cy="2802495"/>
          </a:xfrm>
          <a:prstGeom prst="line">
            <a:avLst/>
          </a:prstGeom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Connecteur droit 1">
            <a:extLst>
              <a:ext uri="{FF2B5EF4-FFF2-40B4-BE49-F238E27FC236}">
                <a16:creationId xmlns:a16="http://schemas.microsoft.com/office/drawing/2014/main" id="{C51EBDAB-CF91-14B1-AC9F-E893C890BFBB}"/>
              </a:ext>
            </a:extLst>
          </p:cNvPr>
          <p:cNvCxnSpPr>
            <a:cxnSpLocks/>
            <a:stCxn id="48" idx="6"/>
            <a:endCxn id="33" idx="3"/>
          </p:cNvCxnSpPr>
          <p:nvPr/>
        </p:nvCxnSpPr>
        <p:spPr>
          <a:xfrm flipV="1">
            <a:off x="5340350" y="1124798"/>
            <a:ext cx="2163018" cy="1345352"/>
          </a:xfrm>
          <a:prstGeom prst="line">
            <a:avLst/>
          </a:prstGeom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CA276A62-B866-2949-E549-35378358E90C}"/>
              </a:ext>
            </a:extLst>
          </p:cNvPr>
          <p:cNvCxnSpPr>
            <a:cxnSpLocks/>
            <a:stCxn id="48" idx="6"/>
            <a:endCxn id="44" idx="2"/>
          </p:cNvCxnSpPr>
          <p:nvPr/>
        </p:nvCxnSpPr>
        <p:spPr>
          <a:xfrm>
            <a:off x="5340350" y="2470150"/>
            <a:ext cx="4883152" cy="2286002"/>
          </a:xfrm>
          <a:prstGeom prst="line">
            <a:avLst/>
          </a:prstGeom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61187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9E6768-3F2B-FA46-25DA-4AA7CF9AA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Ellipse 28">
            <a:extLst>
              <a:ext uri="{FF2B5EF4-FFF2-40B4-BE49-F238E27FC236}">
                <a16:creationId xmlns:a16="http://schemas.microsoft.com/office/drawing/2014/main" id="{53DE9620-1E78-DDD2-50BB-2FEBA5938C55}"/>
              </a:ext>
            </a:extLst>
          </p:cNvPr>
          <p:cNvSpPr/>
          <p:nvPr/>
        </p:nvSpPr>
        <p:spPr>
          <a:xfrm>
            <a:off x="3810000" y="495300"/>
            <a:ext cx="1371600" cy="7747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fr-FR" sz="1400" dirty="0" err="1">
                <a:solidFill>
                  <a:sysClr val="windowText" lastClr="000000"/>
                </a:solidFill>
              </a:rPr>
              <a:t>Palyr</a:t>
            </a:r>
            <a:endParaRPr lang="fr-FR" sz="1400" dirty="0">
              <a:solidFill>
                <a:sysClr val="windowText" lastClr="000000"/>
              </a:solidFill>
            </a:endParaRPr>
          </a:p>
          <a:p>
            <a:pPr algn="ctr"/>
            <a:r>
              <a:rPr lang="fr-FR" sz="1400" dirty="0">
                <a:solidFill>
                  <a:sysClr val="windowText" lastClr="000000"/>
                </a:solidFill>
              </a:rPr>
              <a:t>8</a:t>
            </a:r>
          </a:p>
        </p:txBody>
      </p:sp>
      <p:sp>
        <p:nvSpPr>
          <p:cNvPr id="30" name="Ellipse 29">
            <a:extLst>
              <a:ext uri="{FF2B5EF4-FFF2-40B4-BE49-F238E27FC236}">
                <a16:creationId xmlns:a16="http://schemas.microsoft.com/office/drawing/2014/main" id="{342E51DE-FD40-F6D8-8A6D-5A0FC83504AD}"/>
              </a:ext>
            </a:extLst>
          </p:cNvPr>
          <p:cNvSpPr/>
          <p:nvPr/>
        </p:nvSpPr>
        <p:spPr>
          <a:xfrm>
            <a:off x="5537200" y="215900"/>
            <a:ext cx="1371600" cy="7747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fr-FR" sz="1400" dirty="0" err="1">
                <a:solidFill>
                  <a:sysClr val="windowText" lastClr="000000"/>
                </a:solidFill>
              </a:rPr>
              <a:t>Sfaal</a:t>
            </a:r>
            <a:endParaRPr lang="fr-FR" sz="1400" dirty="0">
              <a:solidFill>
                <a:sysClr val="windowText" lastClr="000000"/>
              </a:solidFill>
            </a:endParaRPr>
          </a:p>
          <a:p>
            <a:pPr algn="ctr"/>
            <a:r>
              <a:rPr lang="fr-FR" sz="1400" dirty="0">
                <a:solidFill>
                  <a:sysClr val="windowText" lastClr="000000"/>
                </a:solidFill>
              </a:rPr>
              <a:t>8</a:t>
            </a:r>
          </a:p>
        </p:txBody>
      </p:sp>
      <p:sp>
        <p:nvSpPr>
          <p:cNvPr id="31" name="Ellipse 30">
            <a:extLst>
              <a:ext uri="{FF2B5EF4-FFF2-40B4-BE49-F238E27FC236}">
                <a16:creationId xmlns:a16="http://schemas.microsoft.com/office/drawing/2014/main" id="{8469ECDC-4CCF-6E39-63D6-8D96B3280B5A}"/>
              </a:ext>
            </a:extLst>
          </p:cNvPr>
          <p:cNvSpPr/>
          <p:nvPr/>
        </p:nvSpPr>
        <p:spPr>
          <a:xfrm>
            <a:off x="2260600" y="1143000"/>
            <a:ext cx="1371600" cy="7747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fr-FR" sz="1400" dirty="0">
                <a:solidFill>
                  <a:sysClr val="windowText" lastClr="000000"/>
                </a:solidFill>
              </a:rPr>
              <a:t>Il-</a:t>
            </a:r>
            <a:r>
              <a:rPr lang="fr-FR" sz="1400" dirty="0" err="1">
                <a:solidFill>
                  <a:sysClr val="windowText" lastClr="000000"/>
                </a:solidFill>
              </a:rPr>
              <a:t>Irion</a:t>
            </a:r>
            <a:endParaRPr lang="fr-FR" sz="1400" dirty="0">
              <a:solidFill>
                <a:sysClr val="windowText" lastClr="000000"/>
              </a:solidFill>
            </a:endParaRPr>
          </a:p>
          <a:p>
            <a:pPr algn="ctr"/>
            <a:r>
              <a:rPr lang="fr-FR" sz="1400" dirty="0">
                <a:solidFill>
                  <a:sysClr val="windowText" lastClr="000000"/>
                </a:solidFill>
              </a:rPr>
              <a:t>8</a:t>
            </a:r>
          </a:p>
        </p:txBody>
      </p:sp>
      <p:sp>
        <p:nvSpPr>
          <p:cNvPr id="32" name="Ellipse 31">
            <a:extLst>
              <a:ext uri="{FF2B5EF4-FFF2-40B4-BE49-F238E27FC236}">
                <a16:creationId xmlns:a16="http://schemas.microsoft.com/office/drawing/2014/main" id="{87367649-44AB-2277-E695-79645146F69E}"/>
              </a:ext>
            </a:extLst>
          </p:cNvPr>
          <p:cNvSpPr/>
          <p:nvPr/>
        </p:nvSpPr>
        <p:spPr>
          <a:xfrm>
            <a:off x="889000" y="2082800"/>
            <a:ext cx="1371600" cy="7747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fr-FR" sz="1400" dirty="0" err="1">
                <a:solidFill>
                  <a:sysClr val="windowText" lastClr="000000"/>
                </a:solidFill>
              </a:rPr>
              <a:t>Arthas</a:t>
            </a:r>
            <a:endParaRPr lang="fr-FR" sz="1400" dirty="0">
              <a:solidFill>
                <a:sysClr val="windowText" lastClr="000000"/>
              </a:solidFill>
            </a:endParaRPr>
          </a:p>
          <a:p>
            <a:pPr algn="ctr"/>
            <a:r>
              <a:rPr lang="fr-FR" sz="1400" dirty="0">
                <a:solidFill>
                  <a:sysClr val="windowText" lastClr="000000"/>
                </a:solidFill>
              </a:rPr>
              <a:t>8</a:t>
            </a:r>
          </a:p>
        </p:txBody>
      </p:sp>
      <p:sp>
        <p:nvSpPr>
          <p:cNvPr id="33" name="Ellipse 32">
            <a:extLst>
              <a:ext uri="{FF2B5EF4-FFF2-40B4-BE49-F238E27FC236}">
                <a16:creationId xmlns:a16="http://schemas.microsoft.com/office/drawing/2014/main" id="{EA056D1D-2F8C-4384-8FC6-2DF83AE6D305}"/>
              </a:ext>
            </a:extLst>
          </p:cNvPr>
          <p:cNvSpPr/>
          <p:nvPr/>
        </p:nvSpPr>
        <p:spPr>
          <a:xfrm>
            <a:off x="7302502" y="463550"/>
            <a:ext cx="1371600" cy="7747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fr-FR" sz="1400" dirty="0">
                <a:solidFill>
                  <a:sysClr val="windowText" lastClr="000000"/>
                </a:solidFill>
              </a:rPr>
              <a:t>Banquiers</a:t>
            </a:r>
          </a:p>
          <a:p>
            <a:pPr algn="ctr"/>
            <a:r>
              <a:rPr lang="fr-FR" sz="1400" dirty="0">
                <a:solidFill>
                  <a:sysClr val="windowText" lastClr="000000"/>
                </a:solidFill>
              </a:rPr>
              <a:t>6</a:t>
            </a:r>
          </a:p>
        </p:txBody>
      </p:sp>
      <p:sp>
        <p:nvSpPr>
          <p:cNvPr id="34" name="Ellipse 33">
            <a:extLst>
              <a:ext uri="{FF2B5EF4-FFF2-40B4-BE49-F238E27FC236}">
                <a16:creationId xmlns:a16="http://schemas.microsoft.com/office/drawing/2014/main" id="{911B82D8-5E81-DF30-2661-CD0B2D9408BD}"/>
              </a:ext>
            </a:extLst>
          </p:cNvPr>
          <p:cNvSpPr/>
          <p:nvPr/>
        </p:nvSpPr>
        <p:spPr>
          <a:xfrm>
            <a:off x="10223502" y="2082800"/>
            <a:ext cx="1371600" cy="7747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fr-FR" sz="1400" dirty="0">
                <a:solidFill>
                  <a:sysClr val="windowText" lastClr="000000"/>
                </a:solidFill>
              </a:rPr>
              <a:t>Casseurs 1</a:t>
            </a:r>
          </a:p>
          <a:p>
            <a:pPr algn="ctr"/>
            <a:r>
              <a:rPr lang="fr-FR" sz="1400" dirty="0">
                <a:solidFill>
                  <a:sysClr val="windowText" lastClr="000000"/>
                </a:solidFill>
              </a:rPr>
              <a:t>6</a:t>
            </a:r>
          </a:p>
        </p:txBody>
      </p:sp>
      <p:sp>
        <p:nvSpPr>
          <p:cNvPr id="35" name="Ellipse 34">
            <a:extLst>
              <a:ext uri="{FF2B5EF4-FFF2-40B4-BE49-F238E27FC236}">
                <a16:creationId xmlns:a16="http://schemas.microsoft.com/office/drawing/2014/main" id="{BCD1559D-2BF1-E244-F8DC-FAE24E590620}"/>
              </a:ext>
            </a:extLst>
          </p:cNvPr>
          <p:cNvSpPr/>
          <p:nvPr/>
        </p:nvSpPr>
        <p:spPr>
          <a:xfrm>
            <a:off x="8851902" y="1143000"/>
            <a:ext cx="1371600" cy="7747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fr-FR" sz="1400" dirty="0">
                <a:solidFill>
                  <a:sysClr val="windowText" lastClr="000000"/>
                </a:solidFill>
              </a:rPr>
              <a:t>Gardiens Coffre/Fort</a:t>
            </a:r>
          </a:p>
          <a:p>
            <a:pPr algn="ctr"/>
            <a:r>
              <a:rPr lang="fr-FR" sz="1400" dirty="0">
                <a:solidFill>
                  <a:sysClr val="windowText" lastClr="000000"/>
                </a:solidFill>
              </a:rPr>
              <a:t>8</a:t>
            </a:r>
          </a:p>
        </p:txBody>
      </p:sp>
      <p:sp>
        <p:nvSpPr>
          <p:cNvPr id="36" name="Ellipse 35">
            <a:extLst>
              <a:ext uri="{FF2B5EF4-FFF2-40B4-BE49-F238E27FC236}">
                <a16:creationId xmlns:a16="http://schemas.microsoft.com/office/drawing/2014/main" id="{AEF624B1-B3FF-C006-512B-3ADA9732911E}"/>
              </a:ext>
            </a:extLst>
          </p:cNvPr>
          <p:cNvSpPr/>
          <p:nvPr/>
        </p:nvSpPr>
        <p:spPr>
          <a:xfrm>
            <a:off x="10744200" y="3225801"/>
            <a:ext cx="1371600" cy="7747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fr-FR" sz="1400" dirty="0">
                <a:solidFill>
                  <a:sysClr val="windowText" lastClr="000000"/>
                </a:solidFill>
              </a:rPr>
              <a:t>Casseurs 2</a:t>
            </a:r>
          </a:p>
          <a:p>
            <a:pPr algn="ctr"/>
            <a:r>
              <a:rPr lang="fr-FR" sz="1400" dirty="0">
                <a:solidFill>
                  <a:sysClr val="windowText" lastClr="000000"/>
                </a:solidFill>
              </a:rPr>
              <a:t>6</a:t>
            </a:r>
          </a:p>
        </p:txBody>
      </p:sp>
      <p:sp>
        <p:nvSpPr>
          <p:cNvPr id="37" name="Ellipse 36">
            <a:extLst>
              <a:ext uri="{FF2B5EF4-FFF2-40B4-BE49-F238E27FC236}">
                <a16:creationId xmlns:a16="http://schemas.microsoft.com/office/drawing/2014/main" id="{96196881-B816-9703-3A2D-43225D4C4097}"/>
              </a:ext>
            </a:extLst>
          </p:cNvPr>
          <p:cNvSpPr/>
          <p:nvPr/>
        </p:nvSpPr>
        <p:spPr>
          <a:xfrm>
            <a:off x="368300" y="3225801"/>
            <a:ext cx="1371600" cy="7747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fr-FR" sz="1400" dirty="0">
                <a:solidFill>
                  <a:sysClr val="windowText" lastClr="000000"/>
                </a:solidFill>
              </a:rPr>
              <a:t>Ter Félis</a:t>
            </a:r>
          </a:p>
          <a:p>
            <a:pPr algn="ctr"/>
            <a:r>
              <a:rPr lang="fr-FR" sz="1400" dirty="0">
                <a:solidFill>
                  <a:sysClr val="windowText" lastClr="000000"/>
                </a:solidFill>
              </a:rPr>
              <a:t>8</a:t>
            </a:r>
          </a:p>
        </p:txBody>
      </p:sp>
      <p:sp>
        <p:nvSpPr>
          <p:cNvPr id="38" name="Ellipse 37">
            <a:extLst>
              <a:ext uri="{FF2B5EF4-FFF2-40B4-BE49-F238E27FC236}">
                <a16:creationId xmlns:a16="http://schemas.microsoft.com/office/drawing/2014/main" id="{E3ED0278-4210-7C3C-F7A7-4EF07553557C}"/>
              </a:ext>
            </a:extLst>
          </p:cNvPr>
          <p:cNvSpPr/>
          <p:nvPr/>
        </p:nvSpPr>
        <p:spPr>
          <a:xfrm>
            <a:off x="889000" y="4368802"/>
            <a:ext cx="1371600" cy="7747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fr-FR" sz="1400" dirty="0" err="1">
                <a:solidFill>
                  <a:sysClr val="windowText" lastClr="000000"/>
                </a:solidFill>
              </a:rPr>
              <a:t>Thanos</a:t>
            </a:r>
            <a:endParaRPr lang="fr-FR" sz="1400" dirty="0">
              <a:solidFill>
                <a:sysClr val="windowText" lastClr="000000"/>
              </a:solidFill>
            </a:endParaRPr>
          </a:p>
          <a:p>
            <a:pPr algn="ctr"/>
            <a:r>
              <a:rPr lang="fr-FR" sz="1400" dirty="0">
                <a:solidFill>
                  <a:sysClr val="windowText" lastClr="000000"/>
                </a:solidFill>
              </a:rPr>
              <a:t>4</a:t>
            </a:r>
          </a:p>
        </p:txBody>
      </p:sp>
      <p:sp>
        <p:nvSpPr>
          <p:cNvPr id="39" name="Ellipse 38">
            <a:extLst>
              <a:ext uri="{FF2B5EF4-FFF2-40B4-BE49-F238E27FC236}">
                <a16:creationId xmlns:a16="http://schemas.microsoft.com/office/drawing/2014/main" id="{BFFB2E69-BA54-00B2-85E1-A8B752F3E4A4}"/>
              </a:ext>
            </a:extLst>
          </p:cNvPr>
          <p:cNvSpPr/>
          <p:nvPr/>
        </p:nvSpPr>
        <p:spPr>
          <a:xfrm>
            <a:off x="2260600" y="4940300"/>
            <a:ext cx="1371600" cy="7747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fr-FR" sz="1400" dirty="0">
                <a:solidFill>
                  <a:sysClr val="windowText" lastClr="000000"/>
                </a:solidFill>
              </a:rPr>
              <a:t>Cultistes</a:t>
            </a:r>
          </a:p>
          <a:p>
            <a:pPr algn="ctr"/>
            <a:r>
              <a:rPr lang="fr-FR" sz="1400" dirty="0">
                <a:solidFill>
                  <a:sysClr val="windowText" lastClr="000000"/>
                </a:solidFill>
              </a:rPr>
              <a:t>6</a:t>
            </a:r>
          </a:p>
        </p:txBody>
      </p:sp>
      <p:sp>
        <p:nvSpPr>
          <p:cNvPr id="40" name="Ellipse 39">
            <a:extLst>
              <a:ext uri="{FF2B5EF4-FFF2-40B4-BE49-F238E27FC236}">
                <a16:creationId xmlns:a16="http://schemas.microsoft.com/office/drawing/2014/main" id="{D1C351CB-4A84-13C7-31F7-FCB740932946}"/>
              </a:ext>
            </a:extLst>
          </p:cNvPr>
          <p:cNvSpPr/>
          <p:nvPr/>
        </p:nvSpPr>
        <p:spPr>
          <a:xfrm>
            <a:off x="3810000" y="5588000"/>
            <a:ext cx="1371600" cy="7747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fr-FR" sz="1400" dirty="0">
                <a:solidFill>
                  <a:sysClr val="windowText" lastClr="000000"/>
                </a:solidFill>
              </a:rPr>
              <a:t>Alchimistes</a:t>
            </a:r>
          </a:p>
          <a:p>
            <a:pPr algn="ctr"/>
            <a:r>
              <a:rPr lang="fr-FR" sz="1400" dirty="0">
                <a:solidFill>
                  <a:sysClr val="windowText" lastClr="000000"/>
                </a:solidFill>
              </a:rPr>
              <a:t>6</a:t>
            </a:r>
          </a:p>
        </p:txBody>
      </p:sp>
      <p:sp>
        <p:nvSpPr>
          <p:cNvPr id="41" name="Ellipse 40">
            <a:extLst>
              <a:ext uri="{FF2B5EF4-FFF2-40B4-BE49-F238E27FC236}">
                <a16:creationId xmlns:a16="http://schemas.microsoft.com/office/drawing/2014/main" id="{2A70CED5-6046-BA3B-8F73-926D3071B280}"/>
              </a:ext>
            </a:extLst>
          </p:cNvPr>
          <p:cNvSpPr/>
          <p:nvPr/>
        </p:nvSpPr>
        <p:spPr>
          <a:xfrm>
            <a:off x="5537200" y="5867400"/>
            <a:ext cx="1371600" cy="7747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fr-FR" sz="1400" dirty="0">
                <a:solidFill>
                  <a:sysClr val="windowText" lastClr="000000"/>
                </a:solidFill>
              </a:rPr>
              <a:t>?</a:t>
            </a:r>
          </a:p>
        </p:txBody>
      </p:sp>
      <p:sp>
        <p:nvSpPr>
          <p:cNvPr id="42" name="Ellipse 41">
            <a:extLst>
              <a:ext uri="{FF2B5EF4-FFF2-40B4-BE49-F238E27FC236}">
                <a16:creationId xmlns:a16="http://schemas.microsoft.com/office/drawing/2014/main" id="{9546E958-0376-4F01-E4AD-032E5A59493E}"/>
              </a:ext>
            </a:extLst>
          </p:cNvPr>
          <p:cNvSpPr/>
          <p:nvPr/>
        </p:nvSpPr>
        <p:spPr>
          <a:xfrm>
            <a:off x="7302502" y="5588000"/>
            <a:ext cx="1371600" cy="7747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fr-FR" sz="1400" dirty="0">
                <a:solidFill>
                  <a:sysClr val="windowText" lastClr="000000"/>
                </a:solidFill>
              </a:rPr>
              <a:t>Dockers</a:t>
            </a:r>
          </a:p>
          <a:p>
            <a:pPr algn="ctr"/>
            <a:r>
              <a:rPr lang="fr-FR" sz="1400" dirty="0">
                <a:solidFill>
                  <a:sysClr val="windowText" lastClr="000000"/>
                </a:solidFill>
              </a:rPr>
              <a:t>8</a:t>
            </a:r>
          </a:p>
        </p:txBody>
      </p:sp>
      <p:sp>
        <p:nvSpPr>
          <p:cNvPr id="43" name="Ellipse 42">
            <a:extLst>
              <a:ext uri="{FF2B5EF4-FFF2-40B4-BE49-F238E27FC236}">
                <a16:creationId xmlns:a16="http://schemas.microsoft.com/office/drawing/2014/main" id="{29B98910-394E-A6A1-9315-045671FF74A8}"/>
              </a:ext>
            </a:extLst>
          </p:cNvPr>
          <p:cNvSpPr/>
          <p:nvPr/>
        </p:nvSpPr>
        <p:spPr>
          <a:xfrm>
            <a:off x="8851902" y="4940300"/>
            <a:ext cx="1371600" cy="7747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fr-FR" sz="1400" dirty="0">
                <a:solidFill>
                  <a:sysClr val="windowText" lastClr="000000"/>
                </a:solidFill>
              </a:rPr>
              <a:t>Casino</a:t>
            </a:r>
          </a:p>
          <a:p>
            <a:pPr algn="ctr"/>
            <a:r>
              <a:rPr lang="fr-FR" sz="1400" dirty="0">
                <a:solidFill>
                  <a:sysClr val="windowText" lastClr="000000"/>
                </a:solidFill>
              </a:rPr>
              <a:t>6</a:t>
            </a:r>
          </a:p>
        </p:txBody>
      </p:sp>
      <p:sp>
        <p:nvSpPr>
          <p:cNvPr id="44" name="Ellipse 43">
            <a:extLst>
              <a:ext uri="{FF2B5EF4-FFF2-40B4-BE49-F238E27FC236}">
                <a16:creationId xmlns:a16="http://schemas.microsoft.com/office/drawing/2014/main" id="{ADBB1C36-E46D-69DF-AD04-91EBAA852ACB}"/>
              </a:ext>
            </a:extLst>
          </p:cNvPr>
          <p:cNvSpPr/>
          <p:nvPr/>
        </p:nvSpPr>
        <p:spPr>
          <a:xfrm>
            <a:off x="10223502" y="4368802"/>
            <a:ext cx="1371600" cy="7747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fr-FR" sz="1400" dirty="0">
                <a:solidFill>
                  <a:sysClr val="windowText" lastClr="000000"/>
                </a:solidFill>
              </a:rPr>
              <a:t>Mafia</a:t>
            </a:r>
          </a:p>
          <a:p>
            <a:pPr algn="ctr"/>
            <a:r>
              <a:rPr lang="fr-FR" sz="1400" dirty="0">
                <a:solidFill>
                  <a:sysClr val="windowText" lastClr="000000"/>
                </a:solidFill>
              </a:rPr>
              <a:t>6</a:t>
            </a:r>
          </a:p>
        </p:txBody>
      </p:sp>
      <p:sp>
        <p:nvSpPr>
          <p:cNvPr id="45" name="Ellipse 44">
            <a:extLst>
              <a:ext uri="{FF2B5EF4-FFF2-40B4-BE49-F238E27FC236}">
                <a16:creationId xmlns:a16="http://schemas.microsoft.com/office/drawing/2014/main" id="{B068558F-8061-840C-6936-1B2BB1F0722F}"/>
              </a:ext>
            </a:extLst>
          </p:cNvPr>
          <p:cNvSpPr/>
          <p:nvPr/>
        </p:nvSpPr>
        <p:spPr>
          <a:xfrm>
            <a:off x="7143752" y="1863725"/>
            <a:ext cx="1689100" cy="1212850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Coffre</a:t>
            </a:r>
          </a:p>
        </p:txBody>
      </p:sp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F43C0129-C055-79CA-D37D-55227D82AEE7}"/>
              </a:ext>
            </a:extLst>
          </p:cNvPr>
          <p:cNvCxnSpPr>
            <a:stCxn id="45" idx="0"/>
            <a:endCxn id="33" idx="4"/>
          </p:cNvCxnSpPr>
          <p:nvPr/>
        </p:nvCxnSpPr>
        <p:spPr>
          <a:xfrm flipV="1">
            <a:off x="7988302" y="1238250"/>
            <a:ext cx="0" cy="625475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2EA14B3F-2CC8-F7A6-9937-B8730CEDD52A}"/>
              </a:ext>
            </a:extLst>
          </p:cNvPr>
          <p:cNvCxnSpPr>
            <a:cxnSpLocks/>
            <a:stCxn id="45" idx="6"/>
            <a:endCxn id="35" idx="3"/>
          </p:cNvCxnSpPr>
          <p:nvPr/>
        </p:nvCxnSpPr>
        <p:spPr>
          <a:xfrm flipV="1">
            <a:off x="8832852" y="1804248"/>
            <a:ext cx="219916" cy="665902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20B3004B-96DC-0260-27A6-B0A325B97669}"/>
              </a:ext>
            </a:extLst>
          </p:cNvPr>
          <p:cNvCxnSpPr>
            <a:cxnSpLocks/>
            <a:stCxn id="45" idx="6"/>
            <a:endCxn id="34" idx="2"/>
          </p:cNvCxnSpPr>
          <p:nvPr/>
        </p:nvCxnSpPr>
        <p:spPr>
          <a:xfrm>
            <a:off x="8832852" y="2470150"/>
            <a:ext cx="1390650" cy="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B6791175-8101-49DB-B119-36EAE9418C08}"/>
              </a:ext>
            </a:extLst>
          </p:cNvPr>
          <p:cNvCxnSpPr>
            <a:cxnSpLocks/>
            <a:stCxn id="45" idx="6"/>
            <a:endCxn id="36" idx="2"/>
          </p:cNvCxnSpPr>
          <p:nvPr/>
        </p:nvCxnSpPr>
        <p:spPr>
          <a:xfrm>
            <a:off x="8832852" y="2470150"/>
            <a:ext cx="1911348" cy="1143001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39AD7A3F-B591-09DE-4F8B-AA55F8F95367}"/>
              </a:ext>
            </a:extLst>
          </p:cNvPr>
          <p:cNvCxnSpPr>
            <a:cxnSpLocks/>
            <a:stCxn id="45" idx="5"/>
            <a:endCxn id="44" idx="1"/>
          </p:cNvCxnSpPr>
          <p:nvPr/>
        </p:nvCxnSpPr>
        <p:spPr>
          <a:xfrm>
            <a:off x="8585489" y="2898957"/>
            <a:ext cx="1838879" cy="1583297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E686CB02-DA43-04F9-C674-D0D57A9F9A89}"/>
              </a:ext>
            </a:extLst>
          </p:cNvPr>
          <p:cNvCxnSpPr>
            <a:cxnSpLocks/>
            <a:stCxn id="45" idx="5"/>
            <a:endCxn id="43" idx="0"/>
          </p:cNvCxnSpPr>
          <p:nvPr/>
        </p:nvCxnSpPr>
        <p:spPr>
          <a:xfrm>
            <a:off x="8585489" y="2898957"/>
            <a:ext cx="952213" cy="2041343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875F9250-F095-EA26-AA16-72D30A81FBB3}"/>
              </a:ext>
            </a:extLst>
          </p:cNvPr>
          <p:cNvCxnSpPr>
            <a:cxnSpLocks/>
            <a:stCxn id="45" idx="4"/>
            <a:endCxn id="42" idx="7"/>
          </p:cNvCxnSpPr>
          <p:nvPr/>
        </p:nvCxnSpPr>
        <p:spPr>
          <a:xfrm>
            <a:off x="7988302" y="3076575"/>
            <a:ext cx="484934" cy="2624877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6CDED5F2-A2DF-7095-F305-FE27DC64F2D7}"/>
              </a:ext>
            </a:extLst>
          </p:cNvPr>
          <p:cNvCxnSpPr>
            <a:cxnSpLocks/>
            <a:stCxn id="45" idx="3"/>
            <a:endCxn id="40" idx="7"/>
          </p:cNvCxnSpPr>
          <p:nvPr/>
        </p:nvCxnSpPr>
        <p:spPr>
          <a:xfrm flipH="1">
            <a:off x="4980734" y="2898957"/>
            <a:ext cx="2410381" cy="2802495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eur droit 24">
            <a:extLst>
              <a:ext uri="{FF2B5EF4-FFF2-40B4-BE49-F238E27FC236}">
                <a16:creationId xmlns:a16="http://schemas.microsoft.com/office/drawing/2014/main" id="{90E6D004-2CC7-4DD1-30E8-B65976158D26}"/>
              </a:ext>
            </a:extLst>
          </p:cNvPr>
          <p:cNvCxnSpPr>
            <a:cxnSpLocks/>
            <a:stCxn id="45" idx="2"/>
            <a:endCxn id="37" idx="6"/>
          </p:cNvCxnSpPr>
          <p:nvPr/>
        </p:nvCxnSpPr>
        <p:spPr>
          <a:xfrm flipH="1">
            <a:off x="1739900" y="2470150"/>
            <a:ext cx="5403852" cy="1143001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4E3646D5-E0D0-D3B6-2FAE-3C3B950EE045}"/>
              </a:ext>
            </a:extLst>
          </p:cNvPr>
          <p:cNvCxnSpPr>
            <a:cxnSpLocks/>
            <a:stCxn id="45" idx="2"/>
            <a:endCxn id="32" idx="5"/>
          </p:cNvCxnSpPr>
          <p:nvPr/>
        </p:nvCxnSpPr>
        <p:spPr>
          <a:xfrm flipH="1">
            <a:off x="2059734" y="2470150"/>
            <a:ext cx="5084018" cy="273898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eur droit 50">
            <a:extLst>
              <a:ext uri="{FF2B5EF4-FFF2-40B4-BE49-F238E27FC236}">
                <a16:creationId xmlns:a16="http://schemas.microsoft.com/office/drawing/2014/main" id="{ED2476FD-57E1-AB96-DE7F-29F3C9228483}"/>
              </a:ext>
            </a:extLst>
          </p:cNvPr>
          <p:cNvCxnSpPr>
            <a:cxnSpLocks/>
            <a:stCxn id="45" idx="1"/>
            <a:endCxn id="31" idx="6"/>
          </p:cNvCxnSpPr>
          <p:nvPr/>
        </p:nvCxnSpPr>
        <p:spPr>
          <a:xfrm flipH="1" flipV="1">
            <a:off x="3632200" y="1530350"/>
            <a:ext cx="3758915" cy="510993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eur droit 56">
            <a:extLst>
              <a:ext uri="{FF2B5EF4-FFF2-40B4-BE49-F238E27FC236}">
                <a16:creationId xmlns:a16="http://schemas.microsoft.com/office/drawing/2014/main" id="{6B8F11CB-CCD8-9660-D981-32A53E82CAC6}"/>
              </a:ext>
            </a:extLst>
          </p:cNvPr>
          <p:cNvCxnSpPr>
            <a:cxnSpLocks/>
            <a:stCxn id="45" idx="1"/>
            <a:endCxn id="29" idx="5"/>
          </p:cNvCxnSpPr>
          <p:nvPr/>
        </p:nvCxnSpPr>
        <p:spPr>
          <a:xfrm flipH="1" flipV="1">
            <a:off x="4980734" y="1156548"/>
            <a:ext cx="2410381" cy="884795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eur droit 60">
            <a:extLst>
              <a:ext uri="{FF2B5EF4-FFF2-40B4-BE49-F238E27FC236}">
                <a16:creationId xmlns:a16="http://schemas.microsoft.com/office/drawing/2014/main" id="{5FEB14B0-D8CA-25DE-146A-C7DC9B9BD874}"/>
              </a:ext>
            </a:extLst>
          </p:cNvPr>
          <p:cNvCxnSpPr>
            <a:cxnSpLocks/>
            <a:stCxn id="45" idx="1"/>
            <a:endCxn id="30" idx="5"/>
          </p:cNvCxnSpPr>
          <p:nvPr/>
        </p:nvCxnSpPr>
        <p:spPr>
          <a:xfrm flipH="1" flipV="1">
            <a:off x="6707934" y="877148"/>
            <a:ext cx="683181" cy="1164195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57372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2A9F65-54EC-9C30-B55E-04AF23C7A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Ellipse 28">
            <a:extLst>
              <a:ext uri="{FF2B5EF4-FFF2-40B4-BE49-F238E27FC236}">
                <a16:creationId xmlns:a16="http://schemas.microsoft.com/office/drawing/2014/main" id="{C04A934A-1FCE-7F8A-A911-4E02B9FC74B4}"/>
              </a:ext>
            </a:extLst>
          </p:cNvPr>
          <p:cNvSpPr/>
          <p:nvPr/>
        </p:nvSpPr>
        <p:spPr>
          <a:xfrm>
            <a:off x="3810000" y="495300"/>
            <a:ext cx="1371600" cy="7747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fr-FR" sz="1400" dirty="0" err="1">
                <a:solidFill>
                  <a:sysClr val="windowText" lastClr="000000"/>
                </a:solidFill>
              </a:rPr>
              <a:t>Palyr</a:t>
            </a:r>
            <a:endParaRPr lang="fr-FR" sz="1400" dirty="0">
              <a:solidFill>
                <a:sysClr val="windowText" lastClr="000000"/>
              </a:solidFill>
            </a:endParaRPr>
          </a:p>
          <a:p>
            <a:pPr algn="ctr"/>
            <a:r>
              <a:rPr lang="fr-FR" sz="1400" dirty="0">
                <a:solidFill>
                  <a:sysClr val="windowText" lastClr="000000"/>
                </a:solidFill>
              </a:rPr>
              <a:t>8</a:t>
            </a:r>
          </a:p>
        </p:txBody>
      </p:sp>
      <p:sp>
        <p:nvSpPr>
          <p:cNvPr id="30" name="Ellipse 29">
            <a:extLst>
              <a:ext uri="{FF2B5EF4-FFF2-40B4-BE49-F238E27FC236}">
                <a16:creationId xmlns:a16="http://schemas.microsoft.com/office/drawing/2014/main" id="{C4A4D83E-4769-C272-2BAE-500C7BE43EF1}"/>
              </a:ext>
            </a:extLst>
          </p:cNvPr>
          <p:cNvSpPr/>
          <p:nvPr/>
        </p:nvSpPr>
        <p:spPr>
          <a:xfrm>
            <a:off x="5537200" y="215900"/>
            <a:ext cx="1371600" cy="7747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fr-FR" sz="1400" dirty="0" err="1">
                <a:solidFill>
                  <a:sysClr val="windowText" lastClr="000000"/>
                </a:solidFill>
              </a:rPr>
              <a:t>Sfaal</a:t>
            </a:r>
            <a:endParaRPr lang="fr-FR" sz="1400" dirty="0">
              <a:solidFill>
                <a:sysClr val="windowText" lastClr="000000"/>
              </a:solidFill>
            </a:endParaRPr>
          </a:p>
          <a:p>
            <a:pPr algn="ctr"/>
            <a:r>
              <a:rPr lang="fr-FR" sz="1400" dirty="0">
                <a:solidFill>
                  <a:sysClr val="windowText" lastClr="000000"/>
                </a:solidFill>
              </a:rPr>
              <a:t>8</a:t>
            </a:r>
          </a:p>
        </p:txBody>
      </p:sp>
      <p:sp>
        <p:nvSpPr>
          <p:cNvPr id="31" name="Ellipse 30">
            <a:extLst>
              <a:ext uri="{FF2B5EF4-FFF2-40B4-BE49-F238E27FC236}">
                <a16:creationId xmlns:a16="http://schemas.microsoft.com/office/drawing/2014/main" id="{BBCE2C71-0591-0DBF-CE0B-0DF39F4713BF}"/>
              </a:ext>
            </a:extLst>
          </p:cNvPr>
          <p:cNvSpPr/>
          <p:nvPr/>
        </p:nvSpPr>
        <p:spPr>
          <a:xfrm>
            <a:off x="2260600" y="1143000"/>
            <a:ext cx="1371600" cy="7747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fr-FR" sz="1400" dirty="0">
                <a:solidFill>
                  <a:sysClr val="windowText" lastClr="000000"/>
                </a:solidFill>
              </a:rPr>
              <a:t>Il-</a:t>
            </a:r>
            <a:r>
              <a:rPr lang="fr-FR" sz="1400" dirty="0" err="1">
                <a:solidFill>
                  <a:sysClr val="windowText" lastClr="000000"/>
                </a:solidFill>
              </a:rPr>
              <a:t>Irion</a:t>
            </a:r>
            <a:endParaRPr lang="fr-FR" sz="1400" dirty="0">
              <a:solidFill>
                <a:sysClr val="windowText" lastClr="000000"/>
              </a:solidFill>
            </a:endParaRPr>
          </a:p>
          <a:p>
            <a:pPr algn="ctr"/>
            <a:r>
              <a:rPr lang="fr-FR" sz="1400" dirty="0">
                <a:solidFill>
                  <a:sysClr val="windowText" lastClr="000000"/>
                </a:solidFill>
              </a:rPr>
              <a:t>8</a:t>
            </a:r>
          </a:p>
        </p:txBody>
      </p:sp>
      <p:sp>
        <p:nvSpPr>
          <p:cNvPr id="32" name="Ellipse 31">
            <a:extLst>
              <a:ext uri="{FF2B5EF4-FFF2-40B4-BE49-F238E27FC236}">
                <a16:creationId xmlns:a16="http://schemas.microsoft.com/office/drawing/2014/main" id="{FE745420-E37E-9A3E-D100-0F01BC5EA71F}"/>
              </a:ext>
            </a:extLst>
          </p:cNvPr>
          <p:cNvSpPr/>
          <p:nvPr/>
        </p:nvSpPr>
        <p:spPr>
          <a:xfrm>
            <a:off x="889000" y="2082800"/>
            <a:ext cx="1371600" cy="7747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fr-FR" sz="1400" dirty="0" err="1">
                <a:solidFill>
                  <a:sysClr val="windowText" lastClr="000000"/>
                </a:solidFill>
              </a:rPr>
              <a:t>Arthas</a:t>
            </a:r>
            <a:endParaRPr lang="fr-FR" sz="1400" dirty="0">
              <a:solidFill>
                <a:sysClr val="windowText" lastClr="000000"/>
              </a:solidFill>
            </a:endParaRPr>
          </a:p>
          <a:p>
            <a:pPr algn="ctr"/>
            <a:r>
              <a:rPr lang="fr-FR" sz="1400" dirty="0">
                <a:solidFill>
                  <a:sysClr val="windowText" lastClr="000000"/>
                </a:solidFill>
              </a:rPr>
              <a:t>8</a:t>
            </a:r>
          </a:p>
        </p:txBody>
      </p:sp>
      <p:sp>
        <p:nvSpPr>
          <p:cNvPr id="33" name="Ellipse 32">
            <a:extLst>
              <a:ext uri="{FF2B5EF4-FFF2-40B4-BE49-F238E27FC236}">
                <a16:creationId xmlns:a16="http://schemas.microsoft.com/office/drawing/2014/main" id="{B526E56F-0E47-66DD-CB8F-579FA2B95231}"/>
              </a:ext>
            </a:extLst>
          </p:cNvPr>
          <p:cNvSpPr/>
          <p:nvPr/>
        </p:nvSpPr>
        <p:spPr>
          <a:xfrm>
            <a:off x="7302502" y="463550"/>
            <a:ext cx="1371600" cy="7747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fr-FR" sz="1400" dirty="0">
                <a:solidFill>
                  <a:sysClr val="windowText" lastClr="000000"/>
                </a:solidFill>
              </a:rPr>
              <a:t>Banquiers</a:t>
            </a:r>
          </a:p>
          <a:p>
            <a:pPr algn="ctr"/>
            <a:r>
              <a:rPr lang="fr-FR" sz="1400" dirty="0">
                <a:solidFill>
                  <a:sysClr val="windowText" lastClr="000000"/>
                </a:solidFill>
              </a:rPr>
              <a:t>6</a:t>
            </a:r>
          </a:p>
        </p:txBody>
      </p:sp>
      <p:sp>
        <p:nvSpPr>
          <p:cNvPr id="34" name="Ellipse 33">
            <a:extLst>
              <a:ext uri="{FF2B5EF4-FFF2-40B4-BE49-F238E27FC236}">
                <a16:creationId xmlns:a16="http://schemas.microsoft.com/office/drawing/2014/main" id="{AD3CD5E5-AB90-0E64-7E0C-11DEADB34607}"/>
              </a:ext>
            </a:extLst>
          </p:cNvPr>
          <p:cNvSpPr/>
          <p:nvPr/>
        </p:nvSpPr>
        <p:spPr>
          <a:xfrm>
            <a:off x="10223502" y="2082800"/>
            <a:ext cx="1371600" cy="7747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fr-FR" sz="1400" dirty="0">
                <a:solidFill>
                  <a:sysClr val="windowText" lastClr="000000"/>
                </a:solidFill>
              </a:rPr>
              <a:t>Casseurs 1</a:t>
            </a:r>
          </a:p>
          <a:p>
            <a:pPr algn="ctr"/>
            <a:r>
              <a:rPr lang="fr-FR" sz="1400" dirty="0">
                <a:solidFill>
                  <a:sysClr val="windowText" lastClr="000000"/>
                </a:solidFill>
              </a:rPr>
              <a:t>6</a:t>
            </a:r>
          </a:p>
        </p:txBody>
      </p:sp>
      <p:sp>
        <p:nvSpPr>
          <p:cNvPr id="35" name="Ellipse 34">
            <a:extLst>
              <a:ext uri="{FF2B5EF4-FFF2-40B4-BE49-F238E27FC236}">
                <a16:creationId xmlns:a16="http://schemas.microsoft.com/office/drawing/2014/main" id="{11252960-9A9D-30DD-2710-B3763E6AD2FF}"/>
              </a:ext>
            </a:extLst>
          </p:cNvPr>
          <p:cNvSpPr/>
          <p:nvPr/>
        </p:nvSpPr>
        <p:spPr>
          <a:xfrm>
            <a:off x="8851902" y="1143000"/>
            <a:ext cx="1371600" cy="7747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fr-FR" sz="1400" dirty="0">
                <a:solidFill>
                  <a:sysClr val="windowText" lastClr="000000"/>
                </a:solidFill>
              </a:rPr>
              <a:t>Gardiens Coffre/Fort</a:t>
            </a:r>
          </a:p>
          <a:p>
            <a:pPr algn="ctr"/>
            <a:r>
              <a:rPr lang="fr-FR" sz="1400" dirty="0">
                <a:solidFill>
                  <a:sysClr val="windowText" lastClr="000000"/>
                </a:solidFill>
              </a:rPr>
              <a:t>8</a:t>
            </a:r>
          </a:p>
        </p:txBody>
      </p:sp>
      <p:sp>
        <p:nvSpPr>
          <p:cNvPr id="36" name="Ellipse 35">
            <a:extLst>
              <a:ext uri="{FF2B5EF4-FFF2-40B4-BE49-F238E27FC236}">
                <a16:creationId xmlns:a16="http://schemas.microsoft.com/office/drawing/2014/main" id="{AAB88EF8-C3DF-8AEC-0658-A6C8FCB8D68B}"/>
              </a:ext>
            </a:extLst>
          </p:cNvPr>
          <p:cNvSpPr/>
          <p:nvPr/>
        </p:nvSpPr>
        <p:spPr>
          <a:xfrm>
            <a:off x="10744200" y="3225801"/>
            <a:ext cx="1371600" cy="7747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fr-FR" sz="1400" dirty="0">
                <a:solidFill>
                  <a:sysClr val="windowText" lastClr="000000"/>
                </a:solidFill>
              </a:rPr>
              <a:t>Casseurs 2</a:t>
            </a:r>
          </a:p>
          <a:p>
            <a:pPr algn="ctr"/>
            <a:r>
              <a:rPr lang="fr-FR" sz="1400" dirty="0">
                <a:solidFill>
                  <a:sysClr val="windowText" lastClr="000000"/>
                </a:solidFill>
              </a:rPr>
              <a:t>6</a:t>
            </a:r>
          </a:p>
        </p:txBody>
      </p:sp>
      <p:sp>
        <p:nvSpPr>
          <p:cNvPr id="37" name="Ellipse 36">
            <a:extLst>
              <a:ext uri="{FF2B5EF4-FFF2-40B4-BE49-F238E27FC236}">
                <a16:creationId xmlns:a16="http://schemas.microsoft.com/office/drawing/2014/main" id="{AF7BBDD8-EE76-2EDA-B22E-D4599BC82479}"/>
              </a:ext>
            </a:extLst>
          </p:cNvPr>
          <p:cNvSpPr/>
          <p:nvPr/>
        </p:nvSpPr>
        <p:spPr>
          <a:xfrm>
            <a:off x="368300" y="3225801"/>
            <a:ext cx="1371600" cy="7747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fr-FR" sz="1400" dirty="0">
                <a:solidFill>
                  <a:sysClr val="windowText" lastClr="000000"/>
                </a:solidFill>
              </a:rPr>
              <a:t>Ter Félis</a:t>
            </a:r>
          </a:p>
          <a:p>
            <a:pPr algn="ctr"/>
            <a:r>
              <a:rPr lang="fr-FR" sz="1400" dirty="0">
                <a:solidFill>
                  <a:sysClr val="windowText" lastClr="000000"/>
                </a:solidFill>
              </a:rPr>
              <a:t>8</a:t>
            </a:r>
          </a:p>
        </p:txBody>
      </p:sp>
      <p:sp>
        <p:nvSpPr>
          <p:cNvPr id="38" name="Ellipse 37">
            <a:extLst>
              <a:ext uri="{FF2B5EF4-FFF2-40B4-BE49-F238E27FC236}">
                <a16:creationId xmlns:a16="http://schemas.microsoft.com/office/drawing/2014/main" id="{97E1FF05-AB75-57E8-E662-CA984B2C673D}"/>
              </a:ext>
            </a:extLst>
          </p:cNvPr>
          <p:cNvSpPr/>
          <p:nvPr/>
        </p:nvSpPr>
        <p:spPr>
          <a:xfrm>
            <a:off x="889000" y="4368802"/>
            <a:ext cx="1371600" cy="7747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fr-FR" sz="1400" dirty="0" err="1">
                <a:solidFill>
                  <a:sysClr val="windowText" lastClr="000000"/>
                </a:solidFill>
              </a:rPr>
              <a:t>Thanos</a:t>
            </a:r>
            <a:endParaRPr lang="fr-FR" sz="1400" dirty="0">
              <a:solidFill>
                <a:sysClr val="windowText" lastClr="000000"/>
              </a:solidFill>
            </a:endParaRPr>
          </a:p>
          <a:p>
            <a:pPr algn="ctr"/>
            <a:r>
              <a:rPr lang="fr-FR" sz="1400" dirty="0">
                <a:solidFill>
                  <a:sysClr val="windowText" lastClr="000000"/>
                </a:solidFill>
              </a:rPr>
              <a:t>4</a:t>
            </a:r>
          </a:p>
        </p:txBody>
      </p:sp>
      <p:sp>
        <p:nvSpPr>
          <p:cNvPr id="39" name="Ellipse 38">
            <a:extLst>
              <a:ext uri="{FF2B5EF4-FFF2-40B4-BE49-F238E27FC236}">
                <a16:creationId xmlns:a16="http://schemas.microsoft.com/office/drawing/2014/main" id="{3C017998-4AFF-62A1-C7AC-0046B16C837D}"/>
              </a:ext>
            </a:extLst>
          </p:cNvPr>
          <p:cNvSpPr/>
          <p:nvPr/>
        </p:nvSpPr>
        <p:spPr>
          <a:xfrm>
            <a:off x="2260600" y="4940300"/>
            <a:ext cx="1371600" cy="7747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fr-FR" sz="1400" dirty="0">
                <a:solidFill>
                  <a:sysClr val="windowText" lastClr="000000"/>
                </a:solidFill>
              </a:rPr>
              <a:t>Cultistes</a:t>
            </a:r>
          </a:p>
          <a:p>
            <a:pPr algn="ctr"/>
            <a:r>
              <a:rPr lang="fr-FR" sz="1400" dirty="0">
                <a:solidFill>
                  <a:sysClr val="windowText" lastClr="000000"/>
                </a:solidFill>
              </a:rPr>
              <a:t>6</a:t>
            </a:r>
          </a:p>
        </p:txBody>
      </p:sp>
      <p:sp>
        <p:nvSpPr>
          <p:cNvPr id="40" name="Ellipse 39">
            <a:extLst>
              <a:ext uri="{FF2B5EF4-FFF2-40B4-BE49-F238E27FC236}">
                <a16:creationId xmlns:a16="http://schemas.microsoft.com/office/drawing/2014/main" id="{5851E40C-47AA-2939-097B-5CE7A3310463}"/>
              </a:ext>
            </a:extLst>
          </p:cNvPr>
          <p:cNvSpPr/>
          <p:nvPr/>
        </p:nvSpPr>
        <p:spPr>
          <a:xfrm>
            <a:off x="3810000" y="5588000"/>
            <a:ext cx="1371600" cy="7747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fr-FR" sz="1400" dirty="0">
                <a:solidFill>
                  <a:sysClr val="windowText" lastClr="000000"/>
                </a:solidFill>
              </a:rPr>
              <a:t>Alchimistes</a:t>
            </a:r>
          </a:p>
          <a:p>
            <a:pPr algn="ctr"/>
            <a:r>
              <a:rPr lang="fr-FR" sz="1400" dirty="0">
                <a:solidFill>
                  <a:sysClr val="windowText" lastClr="000000"/>
                </a:solidFill>
              </a:rPr>
              <a:t>6</a:t>
            </a:r>
          </a:p>
        </p:txBody>
      </p:sp>
      <p:sp>
        <p:nvSpPr>
          <p:cNvPr id="41" name="Ellipse 40">
            <a:extLst>
              <a:ext uri="{FF2B5EF4-FFF2-40B4-BE49-F238E27FC236}">
                <a16:creationId xmlns:a16="http://schemas.microsoft.com/office/drawing/2014/main" id="{101F7FE6-2356-9241-2DDA-177753423C5E}"/>
              </a:ext>
            </a:extLst>
          </p:cNvPr>
          <p:cNvSpPr/>
          <p:nvPr/>
        </p:nvSpPr>
        <p:spPr>
          <a:xfrm>
            <a:off x="5537200" y="5867400"/>
            <a:ext cx="1371600" cy="7747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fr-FR" sz="1400" dirty="0">
                <a:solidFill>
                  <a:sysClr val="windowText" lastClr="000000"/>
                </a:solidFill>
              </a:rPr>
              <a:t>?</a:t>
            </a:r>
          </a:p>
        </p:txBody>
      </p:sp>
      <p:sp>
        <p:nvSpPr>
          <p:cNvPr id="42" name="Ellipse 41">
            <a:extLst>
              <a:ext uri="{FF2B5EF4-FFF2-40B4-BE49-F238E27FC236}">
                <a16:creationId xmlns:a16="http://schemas.microsoft.com/office/drawing/2014/main" id="{750C18F5-C98F-0F12-E5C8-FFFE23CAD512}"/>
              </a:ext>
            </a:extLst>
          </p:cNvPr>
          <p:cNvSpPr/>
          <p:nvPr/>
        </p:nvSpPr>
        <p:spPr>
          <a:xfrm>
            <a:off x="7302502" y="5588000"/>
            <a:ext cx="1371600" cy="7747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fr-FR" sz="1400" dirty="0">
                <a:solidFill>
                  <a:sysClr val="windowText" lastClr="000000"/>
                </a:solidFill>
              </a:rPr>
              <a:t>Dockers</a:t>
            </a:r>
          </a:p>
          <a:p>
            <a:pPr algn="ctr"/>
            <a:r>
              <a:rPr lang="fr-FR" sz="1400" dirty="0">
                <a:solidFill>
                  <a:sysClr val="windowText" lastClr="000000"/>
                </a:solidFill>
              </a:rPr>
              <a:t>8</a:t>
            </a:r>
          </a:p>
        </p:txBody>
      </p:sp>
      <p:sp>
        <p:nvSpPr>
          <p:cNvPr id="43" name="Ellipse 42">
            <a:extLst>
              <a:ext uri="{FF2B5EF4-FFF2-40B4-BE49-F238E27FC236}">
                <a16:creationId xmlns:a16="http://schemas.microsoft.com/office/drawing/2014/main" id="{A8EDD7FA-04ED-FC0D-151D-8F02D97A274A}"/>
              </a:ext>
            </a:extLst>
          </p:cNvPr>
          <p:cNvSpPr/>
          <p:nvPr/>
        </p:nvSpPr>
        <p:spPr>
          <a:xfrm>
            <a:off x="8851902" y="4940300"/>
            <a:ext cx="1371600" cy="7747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fr-FR" sz="1400" dirty="0">
                <a:solidFill>
                  <a:sysClr val="windowText" lastClr="000000"/>
                </a:solidFill>
              </a:rPr>
              <a:t>Casino</a:t>
            </a:r>
          </a:p>
          <a:p>
            <a:pPr algn="ctr"/>
            <a:r>
              <a:rPr lang="fr-FR" sz="1400" dirty="0">
                <a:solidFill>
                  <a:sysClr val="windowText" lastClr="000000"/>
                </a:solidFill>
              </a:rPr>
              <a:t>6</a:t>
            </a:r>
          </a:p>
        </p:txBody>
      </p:sp>
      <p:sp>
        <p:nvSpPr>
          <p:cNvPr id="44" name="Ellipse 43">
            <a:extLst>
              <a:ext uri="{FF2B5EF4-FFF2-40B4-BE49-F238E27FC236}">
                <a16:creationId xmlns:a16="http://schemas.microsoft.com/office/drawing/2014/main" id="{44794A16-A872-E9EE-B33F-B0DD102AD3F9}"/>
              </a:ext>
            </a:extLst>
          </p:cNvPr>
          <p:cNvSpPr/>
          <p:nvPr/>
        </p:nvSpPr>
        <p:spPr>
          <a:xfrm>
            <a:off x="10223502" y="4368802"/>
            <a:ext cx="1371600" cy="7747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fr-FR" sz="1400" dirty="0">
                <a:solidFill>
                  <a:sysClr val="windowText" lastClr="000000"/>
                </a:solidFill>
              </a:rPr>
              <a:t>Mafia</a:t>
            </a:r>
          </a:p>
          <a:p>
            <a:pPr algn="ctr"/>
            <a:r>
              <a:rPr lang="fr-FR" sz="1400" dirty="0">
                <a:solidFill>
                  <a:sysClr val="windowText" lastClr="000000"/>
                </a:solidFill>
              </a:rPr>
              <a:t>6</a:t>
            </a:r>
          </a:p>
        </p:txBody>
      </p:sp>
      <p:sp>
        <p:nvSpPr>
          <p:cNvPr id="47" name="Ellipse 46">
            <a:extLst>
              <a:ext uri="{FF2B5EF4-FFF2-40B4-BE49-F238E27FC236}">
                <a16:creationId xmlns:a16="http://schemas.microsoft.com/office/drawing/2014/main" id="{17277E87-474B-4ECE-FE22-E64096356B97}"/>
              </a:ext>
            </a:extLst>
          </p:cNvPr>
          <p:cNvSpPr/>
          <p:nvPr/>
        </p:nvSpPr>
        <p:spPr>
          <a:xfrm>
            <a:off x="7143752" y="3727450"/>
            <a:ext cx="1689100" cy="1212850"/>
          </a:xfrm>
          <a:prstGeom prst="ellipse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Régate</a:t>
            </a:r>
          </a:p>
        </p:txBody>
      </p:sp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7F4070D7-E2F6-B19B-F9C1-6CBA4AE130D0}"/>
              </a:ext>
            </a:extLst>
          </p:cNvPr>
          <p:cNvCxnSpPr>
            <a:cxnSpLocks/>
            <a:stCxn id="47" idx="0"/>
            <a:endCxn id="33" idx="5"/>
          </p:cNvCxnSpPr>
          <p:nvPr/>
        </p:nvCxnSpPr>
        <p:spPr>
          <a:xfrm flipV="1">
            <a:off x="7988302" y="1124798"/>
            <a:ext cx="484934" cy="260265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BB61D022-F04E-7505-580B-723DE1D06039}"/>
              </a:ext>
            </a:extLst>
          </p:cNvPr>
          <p:cNvCxnSpPr>
            <a:cxnSpLocks/>
            <a:stCxn id="47" idx="6"/>
            <a:endCxn id="44" idx="2"/>
          </p:cNvCxnSpPr>
          <p:nvPr/>
        </p:nvCxnSpPr>
        <p:spPr>
          <a:xfrm>
            <a:off x="8832852" y="4333875"/>
            <a:ext cx="1390650" cy="42227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61755230-C8DE-20C4-F644-306E0A560058}"/>
              </a:ext>
            </a:extLst>
          </p:cNvPr>
          <p:cNvCxnSpPr>
            <a:cxnSpLocks/>
            <a:stCxn id="47" idx="4"/>
            <a:endCxn id="42" idx="0"/>
          </p:cNvCxnSpPr>
          <p:nvPr/>
        </p:nvCxnSpPr>
        <p:spPr>
          <a:xfrm>
            <a:off x="7988302" y="4940300"/>
            <a:ext cx="0" cy="6477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D1981F64-F031-EA3B-16F5-A74E8C723A5D}"/>
              </a:ext>
            </a:extLst>
          </p:cNvPr>
          <p:cNvCxnSpPr>
            <a:cxnSpLocks/>
            <a:stCxn id="47" idx="3"/>
            <a:endCxn id="40" idx="7"/>
          </p:cNvCxnSpPr>
          <p:nvPr/>
        </p:nvCxnSpPr>
        <p:spPr>
          <a:xfrm flipH="1">
            <a:off x="4980734" y="4762682"/>
            <a:ext cx="2410381" cy="9387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45C9411E-8618-9D85-7FA0-53B51A4986A5}"/>
              </a:ext>
            </a:extLst>
          </p:cNvPr>
          <p:cNvCxnSpPr>
            <a:cxnSpLocks/>
            <a:stCxn id="47" idx="2"/>
            <a:endCxn id="39" idx="6"/>
          </p:cNvCxnSpPr>
          <p:nvPr/>
        </p:nvCxnSpPr>
        <p:spPr>
          <a:xfrm flipH="1">
            <a:off x="3632200" y="4333875"/>
            <a:ext cx="3511552" cy="9937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8FD9CA82-4862-77E0-8611-787F2002D0C2}"/>
              </a:ext>
            </a:extLst>
          </p:cNvPr>
          <p:cNvCxnSpPr>
            <a:cxnSpLocks/>
            <a:stCxn id="47" idx="2"/>
            <a:endCxn id="37" idx="6"/>
          </p:cNvCxnSpPr>
          <p:nvPr/>
        </p:nvCxnSpPr>
        <p:spPr>
          <a:xfrm flipH="1" flipV="1">
            <a:off x="1739900" y="3613151"/>
            <a:ext cx="5403852" cy="72072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19">
            <a:extLst>
              <a:ext uri="{FF2B5EF4-FFF2-40B4-BE49-F238E27FC236}">
                <a16:creationId xmlns:a16="http://schemas.microsoft.com/office/drawing/2014/main" id="{50DED979-247F-F425-8CF5-B3A944A8B2DC}"/>
              </a:ext>
            </a:extLst>
          </p:cNvPr>
          <p:cNvCxnSpPr>
            <a:cxnSpLocks/>
            <a:stCxn id="47" idx="1"/>
            <a:endCxn id="32" idx="5"/>
          </p:cNvCxnSpPr>
          <p:nvPr/>
        </p:nvCxnSpPr>
        <p:spPr>
          <a:xfrm flipH="1" flipV="1">
            <a:off x="2059734" y="2744048"/>
            <a:ext cx="5331381" cy="11610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41A57964-028C-A6F0-46F3-BA5E923302FC}"/>
              </a:ext>
            </a:extLst>
          </p:cNvPr>
          <p:cNvCxnSpPr>
            <a:cxnSpLocks/>
            <a:stCxn id="47" idx="1"/>
            <a:endCxn id="31" idx="6"/>
          </p:cNvCxnSpPr>
          <p:nvPr/>
        </p:nvCxnSpPr>
        <p:spPr>
          <a:xfrm flipH="1" flipV="1">
            <a:off x="3632200" y="1530350"/>
            <a:ext cx="3758915" cy="237471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eur droit 25">
            <a:extLst>
              <a:ext uri="{FF2B5EF4-FFF2-40B4-BE49-F238E27FC236}">
                <a16:creationId xmlns:a16="http://schemas.microsoft.com/office/drawing/2014/main" id="{8F9B528C-1A21-8473-4748-AA6F4DA4B118}"/>
              </a:ext>
            </a:extLst>
          </p:cNvPr>
          <p:cNvCxnSpPr>
            <a:cxnSpLocks/>
            <a:stCxn id="47" idx="1"/>
            <a:endCxn id="29" idx="5"/>
          </p:cNvCxnSpPr>
          <p:nvPr/>
        </p:nvCxnSpPr>
        <p:spPr>
          <a:xfrm flipH="1" flipV="1">
            <a:off x="4980734" y="1156548"/>
            <a:ext cx="2410381" cy="27485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eur droit 48">
            <a:extLst>
              <a:ext uri="{FF2B5EF4-FFF2-40B4-BE49-F238E27FC236}">
                <a16:creationId xmlns:a16="http://schemas.microsoft.com/office/drawing/2014/main" id="{1503E006-9441-2035-5E15-A31C761F6972}"/>
              </a:ext>
            </a:extLst>
          </p:cNvPr>
          <p:cNvCxnSpPr>
            <a:cxnSpLocks/>
            <a:stCxn id="47" idx="0"/>
            <a:endCxn id="30" idx="4"/>
          </p:cNvCxnSpPr>
          <p:nvPr/>
        </p:nvCxnSpPr>
        <p:spPr>
          <a:xfrm flipH="1" flipV="1">
            <a:off x="6223000" y="990600"/>
            <a:ext cx="1765302" cy="27368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73737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E7F355-9CC6-6EFC-8199-064BA580F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Ellipse 28">
            <a:extLst>
              <a:ext uri="{FF2B5EF4-FFF2-40B4-BE49-F238E27FC236}">
                <a16:creationId xmlns:a16="http://schemas.microsoft.com/office/drawing/2014/main" id="{9F55FF05-36FF-9ABC-4DBA-F3125FDE43DA}"/>
              </a:ext>
            </a:extLst>
          </p:cNvPr>
          <p:cNvSpPr/>
          <p:nvPr/>
        </p:nvSpPr>
        <p:spPr>
          <a:xfrm>
            <a:off x="3810000" y="495300"/>
            <a:ext cx="1371600" cy="7747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fr-FR" sz="1400" dirty="0" err="1">
                <a:solidFill>
                  <a:sysClr val="windowText" lastClr="000000"/>
                </a:solidFill>
              </a:rPr>
              <a:t>Palyr</a:t>
            </a:r>
            <a:endParaRPr lang="fr-FR" sz="1400" dirty="0">
              <a:solidFill>
                <a:sysClr val="windowText" lastClr="000000"/>
              </a:solidFill>
            </a:endParaRPr>
          </a:p>
          <a:p>
            <a:pPr algn="ctr"/>
            <a:r>
              <a:rPr lang="fr-FR" sz="1400" dirty="0">
                <a:solidFill>
                  <a:sysClr val="windowText" lastClr="000000"/>
                </a:solidFill>
              </a:rPr>
              <a:t>8</a:t>
            </a:r>
          </a:p>
        </p:txBody>
      </p:sp>
      <p:sp>
        <p:nvSpPr>
          <p:cNvPr id="30" name="Ellipse 29">
            <a:extLst>
              <a:ext uri="{FF2B5EF4-FFF2-40B4-BE49-F238E27FC236}">
                <a16:creationId xmlns:a16="http://schemas.microsoft.com/office/drawing/2014/main" id="{E4CE58FE-5614-4F58-D680-292B28B98D9C}"/>
              </a:ext>
            </a:extLst>
          </p:cNvPr>
          <p:cNvSpPr/>
          <p:nvPr/>
        </p:nvSpPr>
        <p:spPr>
          <a:xfrm>
            <a:off x="5537200" y="215900"/>
            <a:ext cx="1371600" cy="7747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fr-FR" sz="1400" dirty="0" err="1">
                <a:solidFill>
                  <a:sysClr val="windowText" lastClr="000000"/>
                </a:solidFill>
              </a:rPr>
              <a:t>Sfaal</a:t>
            </a:r>
            <a:endParaRPr lang="fr-FR" sz="1400" dirty="0">
              <a:solidFill>
                <a:sysClr val="windowText" lastClr="000000"/>
              </a:solidFill>
            </a:endParaRPr>
          </a:p>
          <a:p>
            <a:pPr algn="ctr"/>
            <a:r>
              <a:rPr lang="fr-FR" sz="1400" dirty="0">
                <a:solidFill>
                  <a:sysClr val="windowText" lastClr="000000"/>
                </a:solidFill>
              </a:rPr>
              <a:t>8</a:t>
            </a:r>
          </a:p>
        </p:txBody>
      </p:sp>
      <p:sp>
        <p:nvSpPr>
          <p:cNvPr id="31" name="Ellipse 30">
            <a:extLst>
              <a:ext uri="{FF2B5EF4-FFF2-40B4-BE49-F238E27FC236}">
                <a16:creationId xmlns:a16="http://schemas.microsoft.com/office/drawing/2014/main" id="{B9B3928B-BC31-E63D-A98F-7BF2BA4517D4}"/>
              </a:ext>
            </a:extLst>
          </p:cNvPr>
          <p:cNvSpPr/>
          <p:nvPr/>
        </p:nvSpPr>
        <p:spPr>
          <a:xfrm>
            <a:off x="2260600" y="1143000"/>
            <a:ext cx="1371600" cy="7747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fr-FR" sz="1400" dirty="0">
                <a:solidFill>
                  <a:sysClr val="windowText" lastClr="000000"/>
                </a:solidFill>
              </a:rPr>
              <a:t>Il-</a:t>
            </a:r>
            <a:r>
              <a:rPr lang="fr-FR" sz="1400" dirty="0" err="1">
                <a:solidFill>
                  <a:sysClr val="windowText" lastClr="000000"/>
                </a:solidFill>
              </a:rPr>
              <a:t>Irion</a:t>
            </a:r>
            <a:endParaRPr lang="fr-FR" sz="1400" dirty="0">
              <a:solidFill>
                <a:sysClr val="windowText" lastClr="000000"/>
              </a:solidFill>
            </a:endParaRPr>
          </a:p>
          <a:p>
            <a:pPr algn="ctr"/>
            <a:r>
              <a:rPr lang="fr-FR" sz="1400" dirty="0">
                <a:solidFill>
                  <a:sysClr val="windowText" lastClr="000000"/>
                </a:solidFill>
              </a:rPr>
              <a:t>8</a:t>
            </a:r>
          </a:p>
        </p:txBody>
      </p:sp>
      <p:sp>
        <p:nvSpPr>
          <p:cNvPr id="32" name="Ellipse 31">
            <a:extLst>
              <a:ext uri="{FF2B5EF4-FFF2-40B4-BE49-F238E27FC236}">
                <a16:creationId xmlns:a16="http://schemas.microsoft.com/office/drawing/2014/main" id="{3DDB1A5E-C582-9373-547F-401591B7300D}"/>
              </a:ext>
            </a:extLst>
          </p:cNvPr>
          <p:cNvSpPr/>
          <p:nvPr/>
        </p:nvSpPr>
        <p:spPr>
          <a:xfrm>
            <a:off x="889000" y="2082800"/>
            <a:ext cx="1371600" cy="7747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fr-FR" sz="1400" dirty="0" err="1">
                <a:solidFill>
                  <a:sysClr val="windowText" lastClr="000000"/>
                </a:solidFill>
              </a:rPr>
              <a:t>Arthas</a:t>
            </a:r>
            <a:endParaRPr lang="fr-FR" sz="1400" dirty="0">
              <a:solidFill>
                <a:sysClr val="windowText" lastClr="000000"/>
              </a:solidFill>
            </a:endParaRPr>
          </a:p>
          <a:p>
            <a:pPr algn="ctr"/>
            <a:r>
              <a:rPr lang="fr-FR" sz="1400" dirty="0">
                <a:solidFill>
                  <a:sysClr val="windowText" lastClr="000000"/>
                </a:solidFill>
              </a:rPr>
              <a:t>8</a:t>
            </a:r>
          </a:p>
        </p:txBody>
      </p:sp>
      <p:sp>
        <p:nvSpPr>
          <p:cNvPr id="33" name="Ellipse 32">
            <a:extLst>
              <a:ext uri="{FF2B5EF4-FFF2-40B4-BE49-F238E27FC236}">
                <a16:creationId xmlns:a16="http://schemas.microsoft.com/office/drawing/2014/main" id="{CB5C2AD7-A6DC-5D62-371A-FCF2F024EA38}"/>
              </a:ext>
            </a:extLst>
          </p:cNvPr>
          <p:cNvSpPr/>
          <p:nvPr/>
        </p:nvSpPr>
        <p:spPr>
          <a:xfrm>
            <a:off x="7302502" y="463550"/>
            <a:ext cx="1371600" cy="7747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fr-FR" sz="1400" dirty="0">
                <a:solidFill>
                  <a:sysClr val="windowText" lastClr="000000"/>
                </a:solidFill>
              </a:rPr>
              <a:t>Banquiers</a:t>
            </a:r>
          </a:p>
          <a:p>
            <a:pPr algn="ctr"/>
            <a:r>
              <a:rPr lang="fr-FR" sz="1400" dirty="0">
                <a:solidFill>
                  <a:sysClr val="windowText" lastClr="000000"/>
                </a:solidFill>
              </a:rPr>
              <a:t>6</a:t>
            </a:r>
          </a:p>
        </p:txBody>
      </p:sp>
      <p:sp>
        <p:nvSpPr>
          <p:cNvPr id="34" name="Ellipse 33">
            <a:extLst>
              <a:ext uri="{FF2B5EF4-FFF2-40B4-BE49-F238E27FC236}">
                <a16:creationId xmlns:a16="http://schemas.microsoft.com/office/drawing/2014/main" id="{B2124E9F-1269-D7E6-2A68-97AA16D555DB}"/>
              </a:ext>
            </a:extLst>
          </p:cNvPr>
          <p:cNvSpPr/>
          <p:nvPr/>
        </p:nvSpPr>
        <p:spPr>
          <a:xfrm>
            <a:off x="10223502" y="2082800"/>
            <a:ext cx="1371600" cy="7747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fr-FR" sz="1400" dirty="0">
                <a:solidFill>
                  <a:sysClr val="windowText" lastClr="000000"/>
                </a:solidFill>
              </a:rPr>
              <a:t>Casseurs 1</a:t>
            </a:r>
          </a:p>
          <a:p>
            <a:pPr algn="ctr"/>
            <a:r>
              <a:rPr lang="fr-FR" sz="1400" dirty="0">
                <a:solidFill>
                  <a:sysClr val="windowText" lastClr="000000"/>
                </a:solidFill>
              </a:rPr>
              <a:t>6</a:t>
            </a:r>
          </a:p>
        </p:txBody>
      </p:sp>
      <p:sp>
        <p:nvSpPr>
          <p:cNvPr id="35" name="Ellipse 34">
            <a:extLst>
              <a:ext uri="{FF2B5EF4-FFF2-40B4-BE49-F238E27FC236}">
                <a16:creationId xmlns:a16="http://schemas.microsoft.com/office/drawing/2014/main" id="{905F87C9-F0CB-ABEC-FFEB-93B309D46C1D}"/>
              </a:ext>
            </a:extLst>
          </p:cNvPr>
          <p:cNvSpPr/>
          <p:nvPr/>
        </p:nvSpPr>
        <p:spPr>
          <a:xfrm>
            <a:off x="8851902" y="1143000"/>
            <a:ext cx="1371600" cy="7747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fr-FR" sz="1400" dirty="0">
                <a:solidFill>
                  <a:sysClr val="windowText" lastClr="000000"/>
                </a:solidFill>
              </a:rPr>
              <a:t>Gardiens Coffre/Fort</a:t>
            </a:r>
          </a:p>
          <a:p>
            <a:pPr algn="ctr"/>
            <a:r>
              <a:rPr lang="fr-FR" sz="1400" dirty="0">
                <a:solidFill>
                  <a:sysClr val="windowText" lastClr="000000"/>
                </a:solidFill>
              </a:rPr>
              <a:t>8</a:t>
            </a:r>
          </a:p>
        </p:txBody>
      </p:sp>
      <p:sp>
        <p:nvSpPr>
          <p:cNvPr id="36" name="Ellipse 35">
            <a:extLst>
              <a:ext uri="{FF2B5EF4-FFF2-40B4-BE49-F238E27FC236}">
                <a16:creationId xmlns:a16="http://schemas.microsoft.com/office/drawing/2014/main" id="{56414768-3D23-163D-A25F-118AFFD26F38}"/>
              </a:ext>
            </a:extLst>
          </p:cNvPr>
          <p:cNvSpPr/>
          <p:nvPr/>
        </p:nvSpPr>
        <p:spPr>
          <a:xfrm>
            <a:off x="10744200" y="3225801"/>
            <a:ext cx="1371600" cy="7747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fr-FR" sz="1400" dirty="0">
                <a:solidFill>
                  <a:sysClr val="windowText" lastClr="000000"/>
                </a:solidFill>
              </a:rPr>
              <a:t>Casseurs 2</a:t>
            </a:r>
          </a:p>
          <a:p>
            <a:pPr algn="ctr"/>
            <a:r>
              <a:rPr lang="fr-FR" sz="1400" dirty="0">
                <a:solidFill>
                  <a:sysClr val="windowText" lastClr="000000"/>
                </a:solidFill>
              </a:rPr>
              <a:t>6</a:t>
            </a:r>
          </a:p>
        </p:txBody>
      </p:sp>
      <p:sp>
        <p:nvSpPr>
          <p:cNvPr id="37" name="Ellipse 36">
            <a:extLst>
              <a:ext uri="{FF2B5EF4-FFF2-40B4-BE49-F238E27FC236}">
                <a16:creationId xmlns:a16="http://schemas.microsoft.com/office/drawing/2014/main" id="{27322170-8402-21E6-0CEA-56A96139018F}"/>
              </a:ext>
            </a:extLst>
          </p:cNvPr>
          <p:cNvSpPr/>
          <p:nvPr/>
        </p:nvSpPr>
        <p:spPr>
          <a:xfrm>
            <a:off x="368300" y="3225801"/>
            <a:ext cx="1371600" cy="7747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fr-FR" sz="1400" dirty="0">
                <a:solidFill>
                  <a:sysClr val="windowText" lastClr="000000"/>
                </a:solidFill>
              </a:rPr>
              <a:t>Ter Félis</a:t>
            </a:r>
          </a:p>
          <a:p>
            <a:pPr algn="ctr"/>
            <a:r>
              <a:rPr lang="fr-FR" sz="1400" dirty="0">
                <a:solidFill>
                  <a:sysClr val="windowText" lastClr="000000"/>
                </a:solidFill>
              </a:rPr>
              <a:t>8</a:t>
            </a:r>
          </a:p>
        </p:txBody>
      </p:sp>
      <p:sp>
        <p:nvSpPr>
          <p:cNvPr id="38" name="Ellipse 37">
            <a:extLst>
              <a:ext uri="{FF2B5EF4-FFF2-40B4-BE49-F238E27FC236}">
                <a16:creationId xmlns:a16="http://schemas.microsoft.com/office/drawing/2014/main" id="{6793EFA5-A9E1-CFB6-0B4F-F747B213A6AA}"/>
              </a:ext>
            </a:extLst>
          </p:cNvPr>
          <p:cNvSpPr/>
          <p:nvPr/>
        </p:nvSpPr>
        <p:spPr>
          <a:xfrm>
            <a:off x="889000" y="4368802"/>
            <a:ext cx="1371600" cy="7747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fr-FR" sz="1400" dirty="0" err="1">
                <a:solidFill>
                  <a:sysClr val="windowText" lastClr="000000"/>
                </a:solidFill>
              </a:rPr>
              <a:t>Thanos</a:t>
            </a:r>
            <a:endParaRPr lang="fr-FR" sz="1400" dirty="0">
              <a:solidFill>
                <a:sysClr val="windowText" lastClr="000000"/>
              </a:solidFill>
            </a:endParaRPr>
          </a:p>
          <a:p>
            <a:pPr algn="ctr"/>
            <a:r>
              <a:rPr lang="fr-FR" sz="1400" dirty="0">
                <a:solidFill>
                  <a:sysClr val="windowText" lastClr="000000"/>
                </a:solidFill>
              </a:rPr>
              <a:t>4</a:t>
            </a:r>
          </a:p>
        </p:txBody>
      </p:sp>
      <p:sp>
        <p:nvSpPr>
          <p:cNvPr id="39" name="Ellipse 38">
            <a:extLst>
              <a:ext uri="{FF2B5EF4-FFF2-40B4-BE49-F238E27FC236}">
                <a16:creationId xmlns:a16="http://schemas.microsoft.com/office/drawing/2014/main" id="{8E4729F6-C283-FB81-033C-55EF6E805DCA}"/>
              </a:ext>
            </a:extLst>
          </p:cNvPr>
          <p:cNvSpPr/>
          <p:nvPr/>
        </p:nvSpPr>
        <p:spPr>
          <a:xfrm>
            <a:off x="2260600" y="4940300"/>
            <a:ext cx="1371600" cy="7747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fr-FR" sz="1400" dirty="0">
                <a:solidFill>
                  <a:sysClr val="windowText" lastClr="000000"/>
                </a:solidFill>
              </a:rPr>
              <a:t>Cultistes</a:t>
            </a:r>
          </a:p>
          <a:p>
            <a:pPr algn="ctr"/>
            <a:r>
              <a:rPr lang="fr-FR" sz="1400" dirty="0">
                <a:solidFill>
                  <a:sysClr val="windowText" lastClr="000000"/>
                </a:solidFill>
              </a:rPr>
              <a:t>6</a:t>
            </a:r>
          </a:p>
        </p:txBody>
      </p:sp>
      <p:sp>
        <p:nvSpPr>
          <p:cNvPr id="40" name="Ellipse 39">
            <a:extLst>
              <a:ext uri="{FF2B5EF4-FFF2-40B4-BE49-F238E27FC236}">
                <a16:creationId xmlns:a16="http://schemas.microsoft.com/office/drawing/2014/main" id="{621D0815-81E5-2B5C-3859-91A0F9F8CE76}"/>
              </a:ext>
            </a:extLst>
          </p:cNvPr>
          <p:cNvSpPr/>
          <p:nvPr/>
        </p:nvSpPr>
        <p:spPr>
          <a:xfrm>
            <a:off x="3810000" y="5588000"/>
            <a:ext cx="1371600" cy="7747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fr-FR" sz="1400" dirty="0">
                <a:solidFill>
                  <a:sysClr val="windowText" lastClr="000000"/>
                </a:solidFill>
              </a:rPr>
              <a:t>Alchimistes</a:t>
            </a:r>
          </a:p>
          <a:p>
            <a:pPr algn="ctr"/>
            <a:r>
              <a:rPr lang="fr-FR" sz="1400" dirty="0">
                <a:solidFill>
                  <a:sysClr val="windowText" lastClr="000000"/>
                </a:solidFill>
              </a:rPr>
              <a:t>6</a:t>
            </a:r>
          </a:p>
        </p:txBody>
      </p:sp>
      <p:sp>
        <p:nvSpPr>
          <p:cNvPr id="41" name="Ellipse 40">
            <a:extLst>
              <a:ext uri="{FF2B5EF4-FFF2-40B4-BE49-F238E27FC236}">
                <a16:creationId xmlns:a16="http://schemas.microsoft.com/office/drawing/2014/main" id="{0C8A9C7E-026F-80CC-221D-ED52AC59192B}"/>
              </a:ext>
            </a:extLst>
          </p:cNvPr>
          <p:cNvSpPr/>
          <p:nvPr/>
        </p:nvSpPr>
        <p:spPr>
          <a:xfrm>
            <a:off x="5537200" y="5867400"/>
            <a:ext cx="1371600" cy="7747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fr-FR" sz="1400" dirty="0">
                <a:solidFill>
                  <a:sysClr val="windowText" lastClr="000000"/>
                </a:solidFill>
              </a:rPr>
              <a:t>?</a:t>
            </a:r>
          </a:p>
        </p:txBody>
      </p:sp>
      <p:sp>
        <p:nvSpPr>
          <p:cNvPr id="42" name="Ellipse 41">
            <a:extLst>
              <a:ext uri="{FF2B5EF4-FFF2-40B4-BE49-F238E27FC236}">
                <a16:creationId xmlns:a16="http://schemas.microsoft.com/office/drawing/2014/main" id="{574FD517-30EE-C0B4-E39A-8B22B8582B1C}"/>
              </a:ext>
            </a:extLst>
          </p:cNvPr>
          <p:cNvSpPr/>
          <p:nvPr/>
        </p:nvSpPr>
        <p:spPr>
          <a:xfrm>
            <a:off x="7302502" y="5588000"/>
            <a:ext cx="1371600" cy="7747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fr-FR" sz="1400" dirty="0">
                <a:solidFill>
                  <a:sysClr val="windowText" lastClr="000000"/>
                </a:solidFill>
              </a:rPr>
              <a:t>Dockers</a:t>
            </a:r>
          </a:p>
          <a:p>
            <a:pPr algn="ctr"/>
            <a:r>
              <a:rPr lang="fr-FR" sz="1400" dirty="0">
                <a:solidFill>
                  <a:sysClr val="windowText" lastClr="000000"/>
                </a:solidFill>
              </a:rPr>
              <a:t>8</a:t>
            </a:r>
          </a:p>
        </p:txBody>
      </p:sp>
      <p:sp>
        <p:nvSpPr>
          <p:cNvPr id="43" name="Ellipse 42">
            <a:extLst>
              <a:ext uri="{FF2B5EF4-FFF2-40B4-BE49-F238E27FC236}">
                <a16:creationId xmlns:a16="http://schemas.microsoft.com/office/drawing/2014/main" id="{44123A1F-D1B7-0823-1EBF-A4405D623C20}"/>
              </a:ext>
            </a:extLst>
          </p:cNvPr>
          <p:cNvSpPr/>
          <p:nvPr/>
        </p:nvSpPr>
        <p:spPr>
          <a:xfrm>
            <a:off x="8851902" y="4940300"/>
            <a:ext cx="1371600" cy="7747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fr-FR" sz="1400" dirty="0">
                <a:solidFill>
                  <a:sysClr val="windowText" lastClr="000000"/>
                </a:solidFill>
              </a:rPr>
              <a:t>Casino</a:t>
            </a:r>
          </a:p>
          <a:p>
            <a:pPr algn="ctr"/>
            <a:r>
              <a:rPr lang="fr-FR" sz="1400" dirty="0">
                <a:solidFill>
                  <a:sysClr val="windowText" lastClr="000000"/>
                </a:solidFill>
              </a:rPr>
              <a:t>6</a:t>
            </a:r>
          </a:p>
        </p:txBody>
      </p:sp>
      <p:sp>
        <p:nvSpPr>
          <p:cNvPr id="44" name="Ellipse 43">
            <a:extLst>
              <a:ext uri="{FF2B5EF4-FFF2-40B4-BE49-F238E27FC236}">
                <a16:creationId xmlns:a16="http://schemas.microsoft.com/office/drawing/2014/main" id="{8C7B5E09-CF65-2DC2-6739-BDEBA0E15F09}"/>
              </a:ext>
            </a:extLst>
          </p:cNvPr>
          <p:cNvSpPr/>
          <p:nvPr/>
        </p:nvSpPr>
        <p:spPr>
          <a:xfrm>
            <a:off x="10223502" y="4368802"/>
            <a:ext cx="1371600" cy="7747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fr-FR" sz="1400" dirty="0">
                <a:solidFill>
                  <a:sysClr val="windowText" lastClr="000000"/>
                </a:solidFill>
              </a:rPr>
              <a:t>Mafia</a:t>
            </a:r>
          </a:p>
          <a:p>
            <a:pPr algn="ctr"/>
            <a:r>
              <a:rPr lang="fr-FR" sz="1400" dirty="0">
                <a:solidFill>
                  <a:sysClr val="windowText" lastClr="000000"/>
                </a:solidFill>
              </a:rPr>
              <a:t>6</a:t>
            </a:r>
          </a:p>
        </p:txBody>
      </p:sp>
      <p:sp>
        <p:nvSpPr>
          <p:cNvPr id="46" name="Ellipse 45">
            <a:extLst>
              <a:ext uri="{FF2B5EF4-FFF2-40B4-BE49-F238E27FC236}">
                <a16:creationId xmlns:a16="http://schemas.microsoft.com/office/drawing/2014/main" id="{A7ED7A1B-7370-1D74-9D76-5DA763DAEDB4}"/>
              </a:ext>
            </a:extLst>
          </p:cNvPr>
          <p:cNvSpPr/>
          <p:nvPr/>
        </p:nvSpPr>
        <p:spPr>
          <a:xfrm>
            <a:off x="3651250" y="3727450"/>
            <a:ext cx="1689100" cy="121285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Créature</a:t>
            </a:r>
          </a:p>
        </p:txBody>
      </p:sp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0D7FA2FE-EFBA-A884-1082-1CAF07631AFD}"/>
              </a:ext>
            </a:extLst>
          </p:cNvPr>
          <p:cNvCxnSpPr>
            <a:stCxn id="39" idx="7"/>
            <a:endCxn id="46" idx="3"/>
          </p:cNvCxnSpPr>
          <p:nvPr/>
        </p:nvCxnSpPr>
        <p:spPr>
          <a:xfrm flipV="1">
            <a:off x="3431334" y="4762682"/>
            <a:ext cx="467279" cy="29107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996DD24B-ED8F-143F-E753-D88D421905FC}"/>
              </a:ext>
            </a:extLst>
          </p:cNvPr>
          <p:cNvCxnSpPr>
            <a:cxnSpLocks/>
            <a:stCxn id="46" idx="5"/>
            <a:endCxn id="42" idx="1"/>
          </p:cNvCxnSpPr>
          <p:nvPr/>
        </p:nvCxnSpPr>
        <p:spPr>
          <a:xfrm>
            <a:off x="5092987" y="4762682"/>
            <a:ext cx="2410381" cy="93877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FBD131AE-1D22-0642-917F-A3D320E9040C}"/>
              </a:ext>
            </a:extLst>
          </p:cNvPr>
          <p:cNvCxnSpPr>
            <a:cxnSpLocks/>
            <a:stCxn id="46" idx="4"/>
            <a:endCxn id="40" idx="0"/>
          </p:cNvCxnSpPr>
          <p:nvPr/>
        </p:nvCxnSpPr>
        <p:spPr>
          <a:xfrm>
            <a:off x="4495800" y="4940300"/>
            <a:ext cx="0" cy="64770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DCBBF8CF-1785-F880-B8CF-B4689CAE41B4}"/>
              </a:ext>
            </a:extLst>
          </p:cNvPr>
          <p:cNvCxnSpPr>
            <a:cxnSpLocks/>
            <a:stCxn id="46" idx="2"/>
            <a:endCxn id="38" idx="6"/>
          </p:cNvCxnSpPr>
          <p:nvPr/>
        </p:nvCxnSpPr>
        <p:spPr>
          <a:xfrm flipH="1">
            <a:off x="2260600" y="4333875"/>
            <a:ext cx="1390650" cy="422277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ACEC45B1-11EB-E1C8-AC06-B6CD5D79C04E}"/>
              </a:ext>
            </a:extLst>
          </p:cNvPr>
          <p:cNvCxnSpPr>
            <a:cxnSpLocks/>
            <a:stCxn id="46" idx="6"/>
            <a:endCxn id="34" idx="3"/>
          </p:cNvCxnSpPr>
          <p:nvPr/>
        </p:nvCxnSpPr>
        <p:spPr>
          <a:xfrm flipV="1">
            <a:off x="5340350" y="2744048"/>
            <a:ext cx="5084018" cy="1589827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8911B081-3DB1-B14E-780D-CE12EE90F667}"/>
              </a:ext>
            </a:extLst>
          </p:cNvPr>
          <p:cNvCxnSpPr>
            <a:cxnSpLocks/>
            <a:stCxn id="46" idx="6"/>
            <a:endCxn id="36" idx="2"/>
          </p:cNvCxnSpPr>
          <p:nvPr/>
        </p:nvCxnSpPr>
        <p:spPr>
          <a:xfrm flipV="1">
            <a:off x="5340350" y="3613151"/>
            <a:ext cx="5403850" cy="720724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10B2B189-0A39-E74C-2236-D4B6A827BC92}"/>
              </a:ext>
            </a:extLst>
          </p:cNvPr>
          <p:cNvCxnSpPr>
            <a:cxnSpLocks/>
            <a:stCxn id="33" idx="4"/>
            <a:endCxn id="46" idx="7"/>
          </p:cNvCxnSpPr>
          <p:nvPr/>
        </p:nvCxnSpPr>
        <p:spPr>
          <a:xfrm flipH="1">
            <a:off x="5092987" y="1238250"/>
            <a:ext cx="2895315" cy="2666818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A87B8F52-1047-51F4-DDBF-6AEBA983A804}"/>
              </a:ext>
            </a:extLst>
          </p:cNvPr>
          <p:cNvCxnSpPr>
            <a:cxnSpLocks/>
            <a:stCxn id="30" idx="4"/>
            <a:endCxn id="46" idx="7"/>
          </p:cNvCxnSpPr>
          <p:nvPr/>
        </p:nvCxnSpPr>
        <p:spPr>
          <a:xfrm flipH="1">
            <a:off x="5092987" y="990600"/>
            <a:ext cx="1130013" cy="2914468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D43997DA-0110-52AB-4509-76F6821BBFBB}"/>
              </a:ext>
            </a:extLst>
          </p:cNvPr>
          <p:cNvCxnSpPr>
            <a:cxnSpLocks/>
            <a:stCxn id="29" idx="5"/>
            <a:endCxn id="46" idx="0"/>
          </p:cNvCxnSpPr>
          <p:nvPr/>
        </p:nvCxnSpPr>
        <p:spPr>
          <a:xfrm flipH="1">
            <a:off x="4495800" y="1156548"/>
            <a:ext cx="484934" cy="2570902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eur droit 50">
            <a:extLst>
              <a:ext uri="{FF2B5EF4-FFF2-40B4-BE49-F238E27FC236}">
                <a16:creationId xmlns:a16="http://schemas.microsoft.com/office/drawing/2014/main" id="{25C52042-DC79-9B3F-6FB8-78A42768B701}"/>
              </a:ext>
            </a:extLst>
          </p:cNvPr>
          <p:cNvCxnSpPr>
            <a:cxnSpLocks/>
            <a:stCxn id="31" idx="4"/>
            <a:endCxn id="46" idx="1"/>
          </p:cNvCxnSpPr>
          <p:nvPr/>
        </p:nvCxnSpPr>
        <p:spPr>
          <a:xfrm>
            <a:off x="2946400" y="1917700"/>
            <a:ext cx="952213" cy="1987368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eur droit 56">
            <a:extLst>
              <a:ext uri="{FF2B5EF4-FFF2-40B4-BE49-F238E27FC236}">
                <a16:creationId xmlns:a16="http://schemas.microsoft.com/office/drawing/2014/main" id="{E1C7CFBE-83DA-F1BD-809E-5B5C8A62BF48}"/>
              </a:ext>
            </a:extLst>
          </p:cNvPr>
          <p:cNvCxnSpPr>
            <a:cxnSpLocks/>
            <a:stCxn id="32" idx="5"/>
            <a:endCxn id="46" idx="1"/>
          </p:cNvCxnSpPr>
          <p:nvPr/>
        </p:nvCxnSpPr>
        <p:spPr>
          <a:xfrm>
            <a:off x="2059734" y="2744048"/>
            <a:ext cx="1838879" cy="116102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eur droit 60">
            <a:extLst>
              <a:ext uri="{FF2B5EF4-FFF2-40B4-BE49-F238E27FC236}">
                <a16:creationId xmlns:a16="http://schemas.microsoft.com/office/drawing/2014/main" id="{B8CDC381-9760-015D-5AA2-A031DE77C83F}"/>
              </a:ext>
            </a:extLst>
          </p:cNvPr>
          <p:cNvCxnSpPr>
            <a:cxnSpLocks/>
            <a:stCxn id="37" idx="6"/>
            <a:endCxn id="46" idx="2"/>
          </p:cNvCxnSpPr>
          <p:nvPr/>
        </p:nvCxnSpPr>
        <p:spPr>
          <a:xfrm>
            <a:off x="1739900" y="3613151"/>
            <a:ext cx="1911350" cy="720724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eur droit 65">
            <a:extLst>
              <a:ext uri="{FF2B5EF4-FFF2-40B4-BE49-F238E27FC236}">
                <a16:creationId xmlns:a16="http://schemas.microsoft.com/office/drawing/2014/main" id="{ACFA4CEC-6519-F981-8853-0ABFA62DE529}"/>
              </a:ext>
            </a:extLst>
          </p:cNvPr>
          <p:cNvCxnSpPr>
            <a:cxnSpLocks/>
            <a:stCxn id="35" idx="3"/>
            <a:endCxn id="46" idx="7"/>
          </p:cNvCxnSpPr>
          <p:nvPr/>
        </p:nvCxnSpPr>
        <p:spPr>
          <a:xfrm flipH="1">
            <a:off x="5092987" y="1804248"/>
            <a:ext cx="3959781" cy="210082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557882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193</Words>
  <Application>Microsoft Office PowerPoint</Application>
  <PresentationFormat>Grand écran</PresentationFormat>
  <Paragraphs>163</Paragraphs>
  <Slides>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Eric JUMEL</dc:creator>
  <cp:lastModifiedBy>Eric JUMEL</cp:lastModifiedBy>
  <cp:revision>1</cp:revision>
  <dcterms:created xsi:type="dcterms:W3CDTF">2025-01-14T17:02:48Z</dcterms:created>
  <dcterms:modified xsi:type="dcterms:W3CDTF">2025-01-14T18:04:19Z</dcterms:modified>
</cp:coreProperties>
</file>